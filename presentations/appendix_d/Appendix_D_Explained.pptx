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 Service-Constrained Joint Sensing and Robust Transmission</a:t>
            </a:r>
          </a:p>
          <a:p/>
          <a:p>
            <a:r>
              <a:t>Opening: The main paper tells us where to suppress interference. Appendix D asks the next question: when should a base station pay the cost of sensing, and how should it transmit until the next useful observation? The aim is to maximize delivered terrestrial service while controlling deadline failures and non-terrestrial interference exposure. This presentation follows the five parts of the appendix, then adds explicitly labeled results from our current implementation. The theory is conditional on its observation and protection models. Current fresh ray tracing validates the spatial component, not the complete physical dynamic controller. Suggested duration: 25–30 minutes for slides 1–25; slides 26–30 are backups.</a:t>
            </a:r>
          </a:p>
          <a:p/>
          <a:p>
            <a:r>
              <a:t>Source: Paper: Appendix D · direction.tex | 22 September 2026</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 A better estimate is useful only if it earns back its cost</a:t>
            </a:r>
          </a:p>
          <a:p/>
          <a:p>
            <a:r>
              <a:t>Explain the three competing actions. Listening is not free: reusing the front end removes scheduled downlink and uplink opportunities. Continuing service uses old, potentially less informative protection sets. Silence controls this base station’s interference contribution but sacrifices downlink bits. A received estimate is also already aged by the time processing finishes. The desired optimization compares the complete service and risk consequences of all three choices. This is why a static INR curve, or a smaller direction-estimation error, is not sufficient evidence for the joint controller.</a:t>
            </a:r>
          </a:p>
          <a:p/>
          <a:p>
            <a:r>
              <a:t>Source: Appendix D</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3: One controlled sector, two networks, partial information</a:t>
            </a:r>
          </a:p>
          <a:p/>
          <a:p>
            <a:r>
              <a:t>TN means terrestrial network; NTN means non-terrestrial network. The controlled object is one TN sector with one scheduled stream per resource. Its downlink can interfere with an NTN downlink receiver. The base station listens to an NTN uplink band, which can differ from the protected downlink frequency. An uplink-silent terminal can still be receiving its satellite downlink and therefore require protection. The controller has its own current TN channel in the declared model, but it does not receive the true victim channel or the future physical state. Other interference is fixed or separately budgeted in the exact core.</a:t>
            </a:r>
          </a:p>
          <a:p/>
          <a:p>
            <a:r>
              <a:t>Source: Appendix D.A–B · eq:joint_exposure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4: The appendix connects sensing to service through two optimizers</a:t>
            </a:r>
          </a:p>
          <a:p/>
          <a:p>
            <a:r>
              <a:t>Walk left to right. Released sensing information is mapped to a catalog of uncertainty sets and conditional coverage-risk bounds. For each usable state, a robust second-order cone program computes the best desired-channel amplitude and the corresponding power. The outer linear program uses those service values, sensing outcomes and deadline events to choose a randomized causal policy. Observation quality, delay and unsuccessful sensing enter the transition model. These are layers of one design, not three unrelated algorithms. This slide is the roadmap: timing, sets, service and risk, SOCP, then LP.</a:t>
            </a:r>
          </a:p>
          <a:p/>
          <a:p>
            <a:r>
              <a:t>Source: Appendix D</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5: A new estimate is unavailable until its release time</a:t>
            </a:r>
          </a:p>
          <a:p/>
          <a:p>
            <a:r>
              <a:t>Use the example rather than starting with symbols. Entry takes one time unit, collection two, return one, and processing three. Samples are referenced to time one, not time seven. The front end is unavailable until time four. With nonblocking processing, the base station can resume calendar-permitted service at time four, but it must use the old record until time seven. Acceptance at time seven gives a record aged six units. Rejection preserves the old reference time. This is an illustrative appendix timeline, not the shorter guard values in the current 12-tick simulator. Blocking processing would extend unavailability through release.</a:t>
            </a:r>
          </a:p>
          <a:p/>
          <a:p>
            <a:r>
              <a:t>Source: Appendix D.A · eq:joint_timing · illustrative 1/2/1/3 time units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6: Longer listening trades accuracy against usable service time</a:t>
            </a:r>
          </a:p>
          <a:p/>
          <a:p>
            <a:r>
              <a:t>This plot is deliberately schematic. It visualizes uncertainty growing while the previous record is used; after an accepted observation, the reference changes to the start of that listening window, not to its release time. A refreshed record can therefore start with substantial age. Better observation quality can reduce an estimation component, while age, calibration error and missing multipath remain. The appendix does not assume a universal inverse-square-root law in listening duration. For a fixed ground BS-to-VSAT link, satellite orbital speed must not be substituted for ground-link direction change.</a:t>
            </a:r>
          </a:p>
          <a:p/>
          <a:p>
            <a:r>
              <a:t>Source: Appendix D.A–B · schematic, not fitted experimental data</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7: Protect a set of complete channels, not individual peaks</a:t>
            </a:r>
          </a:p>
          <a:p/>
          <a:p>
            <a:r>
              <a:t>Explain A, C and rho separately. Columns of A are downlink array responses reconstructed from observed directions. The complex coefficient vector permits arbitrary coherent relative phases within its norm bound. The residual ball covers unmodeled or nontransferable paths and other errors. A group does not require identification of a specific receiver. A complete victim channel must belong to at least one imposed group; independently protecting individual peaks is insufficient when their coherent sum is the actual channel. The two-dimensional figure is a conceptual projection of a complex high-dimensional set, not an exact physical channel plot.</a:t>
            </a:r>
          </a:p>
          <a:p/>
          <a:p>
            <a:r>
              <a:t>Source: Appendix D.B · eq:joint_multipath_set</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8: The worst-case leakage has an exact closed form</a:t>
            </a:r>
          </a:p>
          <a:p/>
          <a:p>
            <a:r>
              <a:t>The upper bound comes from Cauchy–Schwarz and the triangle inequality. It is attainable: choose the coefficient vector aligned with A Hermitian v and the residual aligned with v, with phases that add rather than cancel. That is why the support expression is exact for this uncertainty set. The two terms explain the engineering tradeoff. Steering away from the estimated subspace reduces the first term, but a residual ball generally leaves a term proportional to total beam norm. The INR threshold Gamma is a power ratio; therefore the amplitude constraint uses square root Gamma.</a:t>
            </a:r>
          </a:p>
          <a:p/>
          <a:p>
            <a:r>
              <a:t>Source: Appendix D.B · Proposition: exact set-wise protection</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9: A silent receiver can still force power backoff</a:t>
            </a:r>
          </a:p>
          <a:p/>
          <a:p>
            <a:r>
              <a:t>The normalized channel f includes receiver noise, spectral coupling and the power limit. The vector v combines beam shape and power fraction: physical power is Pmax times p. A background norm ball can be represented either with A equal to the identity and coefficient bound beta, or as a pure residual ball of radius beta; both give beta times beam norm. A receiver with no observable uplink requires prior coverage, a valid arrival/activity model, or side information. The method cannot infer an unknown downlink antenna gain from a MUSIC weight alone. Zero downlink transmission protects the controlled contribution, but not unrelated external interference.</a:t>
            </a:r>
          </a:p>
          <a:p/>
          <a:p>
            <a:r>
              <a:t>Source: Appendix D.B–C · eq:joint_exposure · background catalog</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10: Service reliability and interference exposure use different metrics</a:t>
            </a:r>
          </a:p>
          <a:p/>
          <a:p>
            <a:r>
              <a:t>The TN constraint is a chance constraint on deadline service, independently for each applicable user, direction and window. The reference and demand cannot be recalculated after seeing a favorable Gamma or future channel. The NTN metric is the expected exceeding active duration divided by expected active duration. In measurements, estimate it by total exceeding duration divided by total active duration across complete independent episodes, not an unweighted average of episode ratios with varying denominators. BS silence makes the controlled interference zero but does not erase the receiver’s active time. Gamma controls interference magnitude; delta NTN controls the allowable active-time fraction.</a:t>
            </a:r>
          </a:p>
          <a:p/>
          <a:p>
            <a:r>
              <a:t>Source: Appendix D.C · eq:joint_service_target · eq:joint_activity_outage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11: Coverage risk bridges robust constraints and actual outage</a:t>
            </a:r>
          </a:p>
          <a:p/>
          <a:p>
            <a:r>
              <a:t>On valid catalog coverage, the robust beam constraint makes the exceedance event impossible for the controlled contribution. Exceedance can therefore occur only through a coverage or bound failure. Use component upper bounds under the same history, action and receiver-activity conditioning; their union bound does not require independence. Multiplying a valid throughout-segment conditional probability bound by expected active duration yields a risk-duration coefficient. Overall average calibration coverage does not automatically remain valid after a policy selects particular histories. Sparse histories require conservative fallback bounds or a narrower model. Statistical confidence in an estimated bound is separate from the physical outage budget.</a:t>
            </a:r>
          </a:p>
          <a:p/>
          <a:p>
            <a:r>
              <a:t>Source: Appendix D.C/E · eq:joint_risk_union · eq:joint_risk_cost</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12: The joint problem maximizes net service under explicit budgets</a:t>
            </a:r>
          </a:p>
          <a:p/>
          <a:p>
            <a:r>
              <a:t>The decision variable is a causal policy, not just a beam vector. It chooses legal sensing starts, listening durations and templates, plus transmission or silence. C is a computable upper bound on expected exceeding active duration; D is expected active duration. For valid positive activity, C less than delta times D is sufficient for the actual outage target. The objective directly rewards bits delivered after overhead, so a common arbitrary penalty lambda is unnecessary in this core. Infeasibility is a legitimate result: do not relax the TN requirement silently just to draw a curve.</a:t>
            </a:r>
          </a:p>
          <a:p/>
          <a:p>
            <a:r>
              <a:t>Source: Appendix D.C · eq:joint_policy_problem</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13: At one state, a convex program selects beam and power</a:t>
            </a:r>
          </a:p>
          <a:p/>
          <a:p>
            <a:r>
              <a:t>With fixed current TN channel and protection catalog, all constraints depend on phase-invariant magnitudes. Rotate the beam so the desired inner product is real and nonnegative, then maximize its real part. This gives an SOCP. The optimum can use full power, partial nulling, or power backoff. When the solution is nonzero, p is its squared norm and w is the unit-normalized direction. Its rate is B log2(1 + Pmax V squared divided by noise plus external interference). The feasible beam set always contains zero; positive service feasibility is the real issue. Age expansion of fixed-center uncertainty sets can only shrink the feasible set.</a:t>
            </a:r>
          </a:p>
          <a:p/>
          <a:p>
            <a:r>
              <a:t>Source: Appendix D.D · eq:joint_value_socp</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14: Why the outer controller does not search every beam</a:t>
            </a:r>
          </a:p>
          <a:p/>
          <a:p>
            <a:r>
              <a:t>This is the key reduction linking continuous beam design to a finite policy problem. Consider a virtual copy of any original policy with its original service counters. On the same exogenous trajectory and random seed, keep the sensing and mute choices, but use the SOCP maximizing beam whenever transmitting. Actual service only increases, while the certified risks and future observation laws remain unchanged under the stated assumptions. Minimum-service failures cannot become worse. A virtual copy is needed because later decisions may depend on the original service counters. This theorem does not cover beam-dependent actual outage costs, intertemporal energy, coupled network SINR, or uncertain current TN CSI without further analysis.</a:t>
            </a:r>
          </a:p>
          <a:p/>
          <a:p>
            <a:r>
              <a:t>Source: Appendix D.D · Proposition: lossless beam elimination</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15: A causal state contains what is known—not the hidden channel</a:t>
            </a:r>
          </a:p>
          <a:p/>
          <a:p>
            <a:r>
              <a:t>The complete observable history supports a belief over hidden physical states without revealing them to the controller. The state also carries timing, pending-release metadata, delivered service and timestamps, because those affect legal actions and deadline events. The graph branches on observations actually released. Rejection and no detection remain explicit branches; pruning them and renormalizing changes the declared model. Time increases along each edge, so the graph is acyclic. It can nevertheless grow exponentially with horizon and observation alphabet, which is why the exact solver is a small-instance benchmark rather than an automatic solution to arbitrary large deployments.</a:t>
            </a:r>
          </a:p>
          <a:p/>
          <a:p>
            <a:r>
              <a:t>Source: Appendix D.E · eq:joint_history_state · eq:joint_belief_update</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16: Occupation measures turn policy optimization into an LP</a:t>
            </a:r>
          </a:p>
          <a:p/>
          <a:p>
            <a:r>
              <a:t>Read the four lines as reward, probability flow, TN deadline failures and NTN risk-duration budgets. The LP variables are probabilities of state-action visits. Flow conservation ensures they correspond to a causal policy. The coefficient g-bar is a deadline-failure event cost, charged once after crediting the just-completed resource. Coefficients c and d are expected exceeding-duration bounds and activity durations under the declared model. All SOCP values and coefficients are fixed before solving the LP. At positive-mass states, divide each action mass by the sum over actions to get action probabilities. Terminal states absorb mass and have no outgoing actions.</a:t>
            </a:r>
          </a:p>
          <a:p/>
          <a:p>
            <a:r>
              <a:t>Source: Appendix D.E · eq:joint_occupancy_objective through eq:joint_policy_extraction</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17: Randomization is sometimes required, not merely convenient</a:t>
            </a:r>
          </a:p>
          <a:p/>
          <a:p>
            <a:r>
              <a:t>The top example uses deliberately simple illustrative numbers, not measured results. Treat the NTN cost as a normalized risk cost with a common fixed active denominator. Policy A is safe but has excessive TN failures; policy B has better service reliability but excessive NTN risk. The equal mixture is feasible in both coordinates. A deterministic choice of either whole policy fails a requirement. In the actual E6 finite test, all 128 deterministic policies are infeasible for the randomization-required configuration, but their randomized mixture and the occupation LP achieve the same feasible objective 1.125. The extracted probabilities must be executed as probabilities; taking an argmax is not an equivalent implementation.</a:t>
            </a:r>
          </a:p>
          <a:p/>
          <a:p>
            <a:r>
              <a:t>Source: Appendix D.E + E6/E6_validation.csv · illustrative mixture below</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18: There are three distinct levels of guarantee</a:t>
            </a:r>
          </a:p>
          <a:p/>
          <a:p>
            <a:r>
              <a:t>Do not merge these claims. The support-function proposition is exact for the declared uncertainty set. The beam-elimination proposition and occupation-measure theorem establish optimality over randomized causal policies in the declared finite certified problem, assuming exact transitions, coefficients and solutions. A physical outage guarantee additionally requires that the implemented model and conditional certificates remain valid for the physical system. A favorable static CDF alone does not establish that final condition. Similarly, approximate history compression or numerical solutions require their approximation and residual errors to be addressed. State these distinctions explicitly during the talk.</a:t>
            </a:r>
          </a:p>
          <a:p/>
          <a:p>
            <a:r>
              <a:t>Source: Appendix D.B/D/E · robust support, beam elimination, finite optimality theorem</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19: Most optimization is offline; execution follows released events</a:t>
            </a:r>
          </a:p>
          <a:p/>
          <a:p>
            <a:r>
              <a:t>The algorithm freezes model inputs, expands all reachable histories, builds catalogs and risk bounds, solves or caches state-specific SOCPs, computes transition rewards and costs, and solves the LP. Online operation follows the conditional policy and only updates on events that have actually been released. A beam cache key must include every quantity affecting the solution, including current CSI, sets, radii, interference and Gamma. Deadline boundaries do not justify resetting ages, pending jobs or unfinished requirements. If a zero-probability history is physically reached, that signals model mismatch: a silent fallback controls the BS contribution, but its service loss must still be counted.</a:t>
            </a:r>
          </a:p>
          <a:p/>
          <a:p>
            <a:r>
              <a:t>Source: Appendix D.E · finite-model construction and execution</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20: What the current experiments validate</a:t>
            </a:r>
          </a:p>
          <a:p/>
          <a:p>
            <a:r>
              <a:t>This table prevents a common overclaim. E4 verifies a synthetic whole-scene calibration procedure; it does not supply a physical conditional risk table for arbitrary adaptive histories. E5 and E6 provide solver and reduction checks. E7 is the dynamic finite-model service comparison. E8 includes both optimized-model stress cases and separate fixed-policy mechanism diagnostics. Fresh ray tracing now really redraws user positions and recomputes propagation, but it validates the static spatial component. The 34 regression tests and full notebook execution support implementation consistency, not a universal physical deployment guarantee. The pinned run is September 21 at 23:54:48 local time.</a:t>
            </a:r>
          </a:p>
          <a:p/>
          <a:p>
            <a:r>
              <a:t>Source: Run 20260921_235448_775259 · E4–E8 + fresh_rt_spatial</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21: Finite-model gains are positive, but small</a:t>
            </a:r>
          </a:p>
          <a:p/>
          <a:p>
            <a:r>
              <a:t>All four classes use the same robust transmission subproblem and can serve or mute; fixed baselines are optimized within their declared classes. These are exact model expectations accumulated over 12 ticks, not per-tick throughput or noisy simulation means. At minus 15 dB, J yields 23.0089 bits/Hz versus F at 22.4713, a 2.39% gain. Its advantage over T is only 0.247%. At the other three Gamma values J and T coincide; F and L coincide throughout. Increasing the Monte Carlo sample count will tighten uncertainty but will not separate identical model optima. Sixteen main configurations were feasible. Confidence on actual simulated risk is discussed in a backup slide.</a:t>
            </a:r>
          </a:p>
          <a:p/>
          <a:p>
            <a:r>
              <a:t>Source: E7/strategy_summary.csv · exact model expectations; Monte Carlo: 400 episodes per setting</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22: Fresh ray tracing reveals a substantial service cost</a:t>
            </a:r>
          </a:p>
          <a:p/>
          <a:p>
            <a:r>
              <a:t>Unlike the earlier cache-only path, this run creates six fresh TN/NTN drops and retraces both bands. Each drop contains 12 TN users, 20 NTN receivers and 12 sectors. Two complete drops each are used for training, calibration and test, with all 24 test sectors evaluated. The plotted INR is one controlled sector’s contribution, not the network sum. At Gamma minus 15 dB, only 58.33% of sectors meet the static minus 6 dB TN SNR floor; median power is just 0.032% of Pmax. The broad empirical residual bound strongly limits power. Zero observed exceedances in this small test do not certify a tail probability. This is physical static validation, not physical dynamic E7/E8. Quick RT also uses a coarser search and ray budget than full.</a:t>
            </a:r>
          </a:p>
          <a:p/>
          <a:p>
            <a:r>
              <a:t>Source: fresh_rt_spatial/gamma_summary.csv · 6 drops, 2/2/2 split; 24 test sectors</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23: Unknown arrivals expose the gap before usable information</a:t>
            </a:r>
          </a:p>
          <a:p/>
          <a:p>
            <a:r>
              <a:t>Arrival times are drawn by the evaluator and hidden from the controller. All three comparison policies share arrival trajectories, sensing random numbers and RF costs. The prior-envelope policy protects the newcomer class from the outset. No-response ignores detection. Delayed-discovery starts protection only after detection has completed and its processing delay has elapsed. For an UL-active newcomer, exposure falls from 47.53% with no response to 24.45% with delayed discovery; detection probability is 67.5%. The permanently UL-silent newcomer is never detected and receives no discovery-based benefit. These are mechanism diagnostics using fixed policies, not an optimal random-arrival LP solution. Their TN deadline failures violate the main budget, so they cannot be presented as feasible service improvements.</a:t>
            </a:r>
          </a:p>
          <a:p/>
          <a:p>
            <a:r>
              <a:t>Source: E8/random_arrival/summary.csv · fixed policies, 400 paired episodes per case</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24: Repeated observations now genuinely test temporal correlation</a:t>
            </a:r>
          </a:p>
          <a:p/>
          <a:p>
            <a:r>
              <a:t>The original optimized J policy listened at most once along each reachable trajectory, so making latent observation uniforms correlated did not actually test repeated observations. The new diagnostic fixes two listening occasions before observing any outcomes. Independent and correlated cases use paired physical trajectories and the same observation marginal probability. The first/second acceptance correlation changes from about minus 0.029, with a confidence interval spanning zero, to one. Foreground exposure is about 7.46% versus 7.38%; the paired difference confidence interval spans zero. Do not force a negative result into a robustness claim: the mechanism is now exercised, but these parameters do not show a significant loss. The fixed schedule is explicitly not feasible under the original TN constraints.</a:t>
            </a:r>
          </a:p>
          <a:p/>
          <a:p>
            <a:r>
              <a:t>Source: E8/repeated_observation/summary.json · fixed two-listen policy, 400 paired episodes</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25: The contribution is a causal connection from sensing to service</a:t>
            </a:r>
          </a:p>
          <a:p/>
          <a:p>
            <a:r>
              <a:t>Close with three points. First, complete-channel uncertainty sets unify dominant-path and coherent-multipath protection, including unobserved background. Second, under explicit assumptions, beam elimination lets a finite causal policy combine sensing decisions, power, service and silence. Third, exact finite-model optimality and physical-system protection are different claims. We have verified numerical identities and policy consistency, exercised the previously missing causal mechanisms, and connected fresh physical ray tracing for spatial evaluation. The next research step is an independently calibrated physical dynamic model with repeated observations, user activity and timing, together with less conservative but valid observable-condition protection sets.</a:t>
            </a:r>
          </a:p>
          <a:p/>
          <a:p>
            <a:r>
              <a:t>Source: Appendix D + current implementation scope</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26: How listening quality enters the multipath residual</a:t>
            </a:r>
          </a:p>
          <a:p/>
          <a:p>
            <a:r>
              <a:t>Derive the residual bound by writing the error as delta-A times c plus the missing tail. The spectral norm of delta-A is no larger than its Frobenius norm, which is bounded by the root-sum-square of per-path response errors. Multiplying by C and adding the tail gives a sufficient radius. This is a constructive sufficient bound, not a claim that every path can be resolved. Total channel power cannot in general bound path coefficient norm, because coherent cancellation can hide large coefficients. The illustrative age envelope can be replaced by independently calibrated tables, and its validity must cover the intended service interval.</a:t>
            </a:r>
          </a:p>
          <a:p/>
          <a:p>
            <a:r>
              <a:t>Source: Appendix D.B · eq:joint_error_envelope · eq:joint_multipath_radius</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27: Silence is feasible; positive deadline service may not be</a:t>
            </a:r>
          </a:p>
          <a:p/>
          <a:p>
            <a:r>
              <a:t>For a fixed channel and catalog over remaining usable downlink time, completing d bits is equivalent to the amplitude threshold on the first line. The second pair gives a necessary screening bound using the smallest eigenvalue of the protected subspace Gram matrix and the residual radius. A rank-deficient span can leave a spatial null space, but nonzero residual still caps power. A full span can cap power even when residual is zero. The screening bound is not sufficient, because it ignores alignment of the desired TN channel with the protected subspace. Do not use a current-catalog bound to discard a full sensing plan whose future accepted observation can change that catalog.</a:t>
            </a:r>
          </a:p>
          <a:p/>
          <a:p>
            <a:r>
              <a:t>Source: Appendix D.D · eq:joint_service_feasibility · eq:joint_power_cap</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28: A network extension needs local budgets and an external reserve</a:t>
            </a:r>
          </a:p>
          <a:p/>
          <a:p>
            <a:r>
              <a:t>For independent BS data streams, symbol-averaged interference powers add. Assign local Gamma budgets whose sum is within the network budget and local risk allowances whose sum is within the per-receiver risk target. If every local contribution is below its budget, the total is below the summed budget, so network exceedance requires at least one local exceedance. A union bound works under common receiver-activity conditioning without independent certificate failures. Uncontrolled TN uplink or other sources require a valid reserved external contribution, including failure risk if the reserve is uncertain. Endogenous inter-sector TN SINR coupling is outside the exact separable theorem. A negative remaining budget cannot be fixed by silencing these base stations alone.</a:t>
            </a:r>
          </a:p>
          <a:p/>
          <a:p>
            <a:r>
              <a:t>Source: Appendix D.E · eq:joint_network_allocation · eq:joint_external_budget</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29: A target, an estimate and a confidence bound are different</a:t>
            </a:r>
          </a:p>
          <a:p/>
          <a:p>
            <a:r>
              <a:t>The E4 interval is Clopper–Pearson for independent scene failure indicators. There are 128 independent scenes even though the stratified CSV has many more rows. The E7 interval resamples complete episodes because time samples within an episode are dependent. These are different experiments: E4’s scene marginal coverage does not certify E7’s conditional state risks. A measured value just above a budget is not by itself evidence of a solver or theorem failure when the confidence interval includes the target. Conversely, a mean below budget is not a high-confidence certification if its upper confidence bound exceeds that budget. Formal simultaneous or one-sided risk certification needs an explicitly designed statistical procedure.</a:t>
            </a:r>
          </a:p>
          <a:p/>
          <a:p>
            <a:r>
              <a:t>Source: E4/scene_coverage.csv · E7/strategy_summary.csv</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30: Notation and source map</a:t>
            </a:r>
          </a:p>
          <a:p/>
          <a:p>
            <a:r>
              <a:t>This is a reference slide for questions. Sources are local and pinned to the current paper and the September 21 23:54:48 experiment archive. All chart values are replotted from saved CSV or JSON without re-running or modifying the experiments. Mathematical illustrations are explicitly marked schematic. The deck distinguishes current implementation details from the broader Appendix D theorem. Speaker notes cite the relevant local source and explain qualifications that would overload the visible slides. The source manifest records SHA256 hashes so the deck can be reproduced and checked after future changes.</a:t>
            </a:r>
          </a:p>
          <a:p/>
          <a:p>
            <a:r>
              <a:t>Source: Local paper and pinned result archive; full paths and hashes in sources.json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image" Target="../media/image5.png"/><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image" Target="../media/image7.png"/><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image" Target="../media/image9.png"/><Relationship Id="rId4" Type="http://schemas.openxmlformats.org/officeDocument/2006/relationships/image" Target="../media/image10.png"/><Relationship Id="rId5"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image" Target="../media/image12.png"/><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image" Target="../media/image14.png"/><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 Id="rId3" Type="http://schemas.openxmlformats.org/officeDocument/2006/relationships/image" Target="../media/image16.png"/><Relationship Id="rId4" Type="http://schemas.openxmlformats.org/officeDocument/2006/relationships/image" Target="../media/image17.png"/><Relationship Id="rId5"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png"/><Relationship Id="rId3" Type="http://schemas.openxmlformats.org/officeDocument/2006/relationships/image" Target="../media/image19.png"/><Relationship Id="rId4" Type="http://schemas.openxmlformats.org/officeDocument/2006/relationships/image" Target="../media/image7.png"/><Relationship Id="rId5"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png"/><Relationship Id="rId3" Type="http://schemas.openxmlformats.org/officeDocument/2006/relationships/image" Target="../media/image21.png"/><Relationship Id="rId4" Type="http://schemas.openxmlformats.org/officeDocument/2006/relationships/image" Target="../media/image22.png"/><Relationship Id="rId5" Type="http://schemas.openxmlformats.org/officeDocument/2006/relationships/image" Target="../media/image23.png"/><Relationship Id="rId6" Type="http://schemas.openxmlformats.org/officeDocument/2006/relationships/image" Target="../media/image24.png"/><Relationship Id="rId7"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5.png"/><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6.png"/><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7.png"/><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8.png"/><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9.png"/><Relationship Id="rId3" Type="http://schemas.openxmlformats.org/officeDocument/2006/relationships/image" Target="../media/image30.png"/><Relationship Id="rId4" Type="http://schemas.openxmlformats.org/officeDocument/2006/relationships/image" Target="../media/image31.png"/><Relationship Id="rId5"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5.png"/><Relationship Id="rId3" Type="http://schemas.openxmlformats.org/officeDocument/2006/relationships/image" Target="../media/image36.png"/><Relationship Id="rId4"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152C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60400" y="571500"/>
            <a:ext cx="10795000" cy="311404"/>
          </a:xfrm>
          <a:prstGeom prst="rect">
            <a:avLst/>
          </a:prstGeom>
          <a:noFill/>
        </p:spPr>
        <p:txBody>
          <a:bodyPr wrap="none" lIns="0" rIns="0" tIns="0" bIns="0">
            <a:spAutoFit/>
          </a:bodyPr>
          <a:lstStyle/>
          <a:p>
            <a:pPr>
              <a:lnSpc>
                <a:spcPts val="1952"/>
              </a:lnSpc>
              <a:spcBef>
                <a:spcPts val="0"/>
              </a:spcBef>
              <a:spcAft>
                <a:spcPts val="0"/>
              </a:spcAft>
              <a:defRPr sz="1600" b="1">
                <a:solidFill>
                  <a:srgbClr val="6ED2CC"/>
                </a:solidFill>
                <a:latin typeface="DejaVu Sans"/>
              </a:defRPr>
            </a:pPr>
            <a:r>
              <a:t>APPENDIX D</a:t>
            </a:r>
          </a:p>
        </p:txBody>
      </p:sp>
      <p:sp>
        <p:nvSpPr>
          <p:cNvPr id="4" name="TextBox 3"/>
          <p:cNvSpPr txBox="1"/>
          <p:nvPr/>
        </p:nvSpPr>
        <p:spPr>
          <a:xfrm>
            <a:off x="660400" y="1282700"/>
            <a:ext cx="10795000" cy="1996694"/>
          </a:xfrm>
          <a:prstGeom prst="rect">
            <a:avLst/>
          </a:prstGeom>
          <a:noFill/>
        </p:spPr>
        <p:txBody>
          <a:bodyPr wrap="none" lIns="0" rIns="0" tIns="0" bIns="0">
            <a:spAutoFit/>
          </a:bodyPr>
          <a:lstStyle/>
          <a:p>
            <a:pPr>
              <a:lnSpc>
                <a:spcPts val="5073"/>
              </a:lnSpc>
              <a:spcBef>
                <a:spcPts val="0"/>
              </a:spcBef>
              <a:spcAft>
                <a:spcPts val="0"/>
              </a:spcAft>
              <a:defRPr sz="4300" b="1">
                <a:solidFill>
                  <a:srgbClr val="FFFFFF"/>
                </a:solidFill>
                <a:latin typeface="DejaVu Sans"/>
              </a:defRPr>
            </a:pPr>
            <a:r>
              <a:t>When to listen.</a:t>
            </a:r>
          </a:p>
          <a:p>
            <a:pPr>
              <a:lnSpc>
                <a:spcPts val="5073"/>
              </a:lnSpc>
              <a:spcBef>
                <a:spcPts val="0"/>
              </a:spcBef>
              <a:spcAft>
                <a:spcPts val="0"/>
              </a:spcAft>
              <a:defRPr sz="4300" b="1">
                <a:solidFill>
                  <a:srgbClr val="FFFFFF"/>
                </a:solidFill>
                <a:latin typeface="DejaVu Sans"/>
              </a:defRPr>
            </a:pPr>
            <a:r>
              <a:t>How to transmit.</a:t>
            </a:r>
          </a:p>
          <a:p>
            <a:pPr>
              <a:lnSpc>
                <a:spcPts val="5073"/>
              </a:lnSpc>
              <a:spcBef>
                <a:spcPts val="0"/>
              </a:spcBef>
              <a:spcAft>
                <a:spcPts val="0"/>
              </a:spcAft>
              <a:defRPr sz="4300" b="1">
                <a:solidFill>
                  <a:srgbClr val="FFFFFF"/>
                </a:solidFill>
                <a:latin typeface="DejaVu Sans"/>
              </a:defRPr>
            </a:pPr>
            <a:r>
              <a:t>How to keep service.</a:t>
            </a:r>
          </a:p>
        </p:txBody>
      </p:sp>
      <p:sp>
        <p:nvSpPr>
          <p:cNvPr id="5" name="TextBox 4"/>
          <p:cNvSpPr txBox="1"/>
          <p:nvPr/>
        </p:nvSpPr>
        <p:spPr>
          <a:xfrm>
            <a:off x="698500" y="3695700"/>
            <a:ext cx="10541000" cy="776224"/>
          </a:xfrm>
          <a:prstGeom prst="rect">
            <a:avLst/>
          </a:prstGeom>
          <a:noFill/>
        </p:spPr>
        <p:txBody>
          <a:bodyPr wrap="none" lIns="0" rIns="0" tIns="0" bIns="0">
            <a:spAutoFit/>
          </a:bodyPr>
          <a:lstStyle/>
          <a:p>
            <a:pPr>
              <a:lnSpc>
                <a:spcPts val="2806"/>
              </a:lnSpc>
              <a:spcBef>
                <a:spcPts val="0"/>
              </a:spcBef>
              <a:spcAft>
                <a:spcPts val="0"/>
              </a:spcAft>
              <a:defRPr sz="2300" b="0">
                <a:solidFill>
                  <a:srgbClr val="D7E4ED"/>
                </a:solidFill>
                <a:latin typeface="DejaVu Sans"/>
              </a:defRPr>
            </a:pPr>
            <a:r>
              <a:t>Joint sensing, robust beamforming and causal scheduling</a:t>
            </a:r>
          </a:p>
          <a:p>
            <a:pPr>
              <a:lnSpc>
                <a:spcPts val="2806"/>
              </a:lnSpc>
              <a:spcBef>
                <a:spcPts val="0"/>
              </a:spcBef>
              <a:spcAft>
                <a:spcPts val="0"/>
              </a:spcAft>
              <a:defRPr sz="2300" b="0">
                <a:solidFill>
                  <a:srgbClr val="D7E4ED"/>
                </a:solidFill>
                <a:latin typeface="DejaVu Sans"/>
              </a:defRPr>
            </a:pPr>
            <a:r>
              <a:t>for terrestrial / non-terrestrial coexistence</a:t>
            </a:r>
          </a:p>
        </p:txBody>
      </p:sp>
      <p:sp>
        <p:nvSpPr>
          <p:cNvPr id="6" name="Rounded Rectangle 5"/>
          <p:cNvSpPr/>
          <p:nvPr/>
        </p:nvSpPr>
        <p:spPr>
          <a:xfrm>
            <a:off x="698500" y="4991100"/>
            <a:ext cx="3136900" cy="685800"/>
          </a:xfrm>
          <a:prstGeom prst="roundRect">
            <a:avLst>
              <a:gd name="adj" fmla="val 8000"/>
            </a:avLst>
          </a:prstGeom>
          <a:solidFill>
            <a:srgbClr val="2442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89000" y="5207000"/>
            <a:ext cx="2755900" cy="373380"/>
          </a:xfrm>
          <a:prstGeom prst="rect">
            <a:avLst/>
          </a:prstGeom>
          <a:noFill/>
        </p:spPr>
        <p:txBody>
          <a:bodyPr wrap="none" lIns="0" rIns="0" tIns="0" bIns="0">
            <a:spAutoFit/>
          </a:bodyPr>
          <a:lstStyle/>
          <a:p>
            <a:pPr algn="ctr">
              <a:lnSpc>
                <a:spcPts val="2440"/>
              </a:lnSpc>
              <a:spcBef>
                <a:spcPts val="0"/>
              </a:spcBef>
              <a:spcAft>
                <a:spcPts val="0"/>
              </a:spcAft>
              <a:defRPr sz="2000" b="1">
                <a:solidFill>
                  <a:srgbClr val="FFFFFF"/>
                </a:solidFill>
                <a:latin typeface="DejaVu Sans"/>
              </a:defRPr>
            </a:pPr>
            <a:r>
              <a:t>Information</a:t>
            </a:r>
          </a:p>
        </p:txBody>
      </p:sp>
      <p:sp>
        <p:nvSpPr>
          <p:cNvPr id="8" name="Rounded Rectangle 7"/>
          <p:cNvSpPr/>
          <p:nvPr/>
        </p:nvSpPr>
        <p:spPr>
          <a:xfrm>
            <a:off x="4152900" y="4991100"/>
            <a:ext cx="3136900" cy="685800"/>
          </a:xfrm>
          <a:prstGeom prst="roundRect">
            <a:avLst>
              <a:gd name="adj" fmla="val 8000"/>
            </a:avLst>
          </a:prstGeom>
          <a:solidFill>
            <a:srgbClr val="2442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343400" y="5207000"/>
            <a:ext cx="2755900" cy="373380"/>
          </a:xfrm>
          <a:prstGeom prst="rect">
            <a:avLst/>
          </a:prstGeom>
          <a:noFill/>
        </p:spPr>
        <p:txBody>
          <a:bodyPr wrap="none" lIns="0" rIns="0" tIns="0" bIns="0">
            <a:spAutoFit/>
          </a:bodyPr>
          <a:lstStyle/>
          <a:p>
            <a:pPr algn="ctr">
              <a:lnSpc>
                <a:spcPts val="2440"/>
              </a:lnSpc>
              <a:spcBef>
                <a:spcPts val="0"/>
              </a:spcBef>
              <a:spcAft>
                <a:spcPts val="0"/>
              </a:spcAft>
              <a:defRPr sz="2000" b="1">
                <a:solidFill>
                  <a:srgbClr val="FFFFFF"/>
                </a:solidFill>
                <a:latin typeface="DejaVu Sans"/>
              </a:defRPr>
            </a:pPr>
            <a:r>
              <a:t>Protection</a:t>
            </a:r>
          </a:p>
        </p:txBody>
      </p:sp>
      <p:sp>
        <p:nvSpPr>
          <p:cNvPr id="10" name="Rounded Rectangle 9"/>
          <p:cNvSpPr/>
          <p:nvPr/>
        </p:nvSpPr>
        <p:spPr>
          <a:xfrm>
            <a:off x="7607300" y="4991100"/>
            <a:ext cx="3136900" cy="685800"/>
          </a:xfrm>
          <a:prstGeom prst="roundRect">
            <a:avLst>
              <a:gd name="adj" fmla="val 8000"/>
            </a:avLst>
          </a:prstGeom>
          <a:solidFill>
            <a:srgbClr val="2442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97800" y="5207000"/>
            <a:ext cx="2755900" cy="373380"/>
          </a:xfrm>
          <a:prstGeom prst="rect">
            <a:avLst/>
          </a:prstGeom>
          <a:noFill/>
        </p:spPr>
        <p:txBody>
          <a:bodyPr wrap="none" lIns="0" rIns="0" tIns="0" bIns="0">
            <a:spAutoFit/>
          </a:bodyPr>
          <a:lstStyle/>
          <a:p>
            <a:pPr algn="ctr">
              <a:lnSpc>
                <a:spcPts val="2440"/>
              </a:lnSpc>
              <a:spcBef>
                <a:spcPts val="0"/>
              </a:spcBef>
              <a:spcAft>
                <a:spcPts val="0"/>
              </a:spcAft>
              <a:defRPr sz="2000" b="1">
                <a:solidFill>
                  <a:srgbClr val="FFFFFF"/>
                </a:solidFill>
                <a:latin typeface="DejaVu Sans"/>
              </a:defRPr>
            </a:pPr>
            <a:r>
              <a:t>Service</a:t>
            </a:r>
          </a:p>
        </p:txBody>
      </p:sp>
      <p:sp>
        <p:nvSpPr>
          <p:cNvPr id="12" name="TextBox 11"/>
          <p:cNvSpPr txBox="1"/>
          <p:nvPr/>
        </p:nvSpPr>
        <p:spPr>
          <a:xfrm>
            <a:off x="698500" y="5969000"/>
            <a:ext cx="10795000" cy="295910"/>
          </a:xfrm>
          <a:prstGeom prst="rect">
            <a:avLst/>
          </a:prstGeom>
          <a:noFill/>
        </p:spPr>
        <p:txBody>
          <a:bodyPr wrap="none" lIns="0" rIns="0" tIns="0" bIns="0">
            <a:spAutoFit/>
          </a:bodyPr>
          <a:lstStyle/>
          <a:p>
            <a:pPr>
              <a:lnSpc>
                <a:spcPts val="1830"/>
              </a:lnSpc>
              <a:spcBef>
                <a:spcPts val="0"/>
              </a:spcBef>
              <a:spcAft>
                <a:spcPts val="0"/>
              </a:spcAft>
              <a:defRPr sz="1500" b="0">
                <a:solidFill>
                  <a:srgbClr val="BCD0DD"/>
                </a:solidFill>
                <a:latin typeface="DejaVu Sans"/>
              </a:defRPr>
            </a:pPr>
            <a:r>
              <a:t>Theory + reproducible finite-model and fresh ray-tracing evidence</a:t>
            </a:r>
          </a:p>
        </p:txBody>
      </p:sp>
      <p:sp>
        <p:nvSpPr>
          <p:cNvPr id="13" name="TextBox 12"/>
          <p:cNvSpPr txBox="1"/>
          <p:nvPr/>
        </p:nvSpPr>
        <p:spPr>
          <a:xfrm>
            <a:off x="558800" y="6553200"/>
            <a:ext cx="10604500" cy="215900"/>
          </a:xfrm>
          <a:prstGeom prst="rect">
            <a:avLst/>
          </a:prstGeom>
          <a:noFill/>
        </p:spPr>
        <p:txBody>
          <a:bodyPr wrap="none" lIns="0" tIns="0">
            <a:spAutoFit/>
          </a:bodyPr>
          <a:lstStyle/>
          <a:p>
            <a:pPr>
              <a:defRPr sz="900">
                <a:solidFill>
                  <a:srgbClr val="BCD0DD"/>
                </a:solidFill>
                <a:latin typeface="DejaVu Sans"/>
              </a:defRPr>
            </a:pPr>
            <a:r>
              <a:t>Paper: Appendix D · direction.tex | 22 September 2026</a:t>
            </a:r>
          </a:p>
        </p:txBody>
      </p:sp>
      <p:sp>
        <p:nvSpPr>
          <p:cNvPr id="14" name="TextBox 13"/>
          <p:cNvSpPr txBox="1"/>
          <p:nvPr/>
        </p:nvSpPr>
        <p:spPr>
          <a:xfrm>
            <a:off x="11239500" y="6553200"/>
            <a:ext cx="825500" cy="215900"/>
          </a:xfrm>
          <a:prstGeom prst="rect">
            <a:avLst/>
          </a:prstGeom>
          <a:noFill/>
        </p:spPr>
        <p:txBody>
          <a:bodyPr wrap="none" lIns="0" tIns="0">
            <a:spAutoFit/>
          </a:bodyPr>
          <a:lstStyle/>
          <a:p>
            <a:pPr>
              <a:defRPr sz="900">
                <a:solidFill>
                  <a:srgbClr val="BCD0DD"/>
                </a:solidFill>
                <a:latin typeface="DejaVu Sans"/>
              </a:defRPr>
            </a:pPr>
            <a:r>
              <a:t>01 / 30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58800" y="304800"/>
            <a:ext cx="10795000" cy="264922"/>
          </a:xfrm>
          <a:prstGeom prst="rect">
            <a:avLst/>
          </a:prstGeom>
          <a:noFill/>
        </p:spPr>
        <p:txBody>
          <a:bodyPr wrap="none" lIns="0" rIns="0" tIns="0" bIns="0">
            <a:spAutoFit/>
          </a:bodyPr>
          <a:lstStyle/>
          <a:p>
            <a:pPr>
              <a:lnSpc>
                <a:spcPts val="1586"/>
              </a:lnSpc>
              <a:spcBef>
                <a:spcPts val="0"/>
              </a:spcBef>
              <a:spcAft>
                <a:spcPts val="0"/>
              </a:spcAft>
              <a:defRPr sz="1300" b="1">
                <a:solidFill>
                  <a:srgbClr val="087F8C"/>
                </a:solidFill>
                <a:latin typeface="DejaVu Sans"/>
              </a:defRPr>
            </a:pPr>
            <a:r>
              <a:t>MOTIVATION</a:t>
            </a:r>
          </a:p>
        </p:txBody>
      </p:sp>
      <p:sp>
        <p:nvSpPr>
          <p:cNvPr id="4" name="TextBox 3"/>
          <p:cNvSpPr txBox="1"/>
          <p:nvPr/>
        </p:nvSpPr>
        <p:spPr>
          <a:xfrm>
            <a:off x="558800" y="673100"/>
            <a:ext cx="11150600" cy="483849"/>
          </a:xfrm>
          <a:prstGeom prst="rect">
            <a:avLst/>
          </a:prstGeom>
          <a:noFill/>
        </p:spPr>
        <p:txBody>
          <a:bodyPr wrap="none" lIns="0" rIns="0" tIns="0" bIns="0">
            <a:spAutoFit/>
          </a:bodyPr>
          <a:lstStyle/>
          <a:p>
            <a:pPr>
              <a:lnSpc>
                <a:spcPts val="3309"/>
              </a:lnSpc>
              <a:spcBef>
                <a:spcPts val="0"/>
              </a:spcBef>
              <a:spcAft>
                <a:spcPts val="0"/>
              </a:spcAft>
              <a:defRPr sz="2712" b="1">
                <a:solidFill>
                  <a:srgbClr val="152C46"/>
                </a:solidFill>
                <a:latin typeface="DejaVu Sans"/>
              </a:defRPr>
            </a:pPr>
            <a:r>
              <a:t>A better estimate is useful only if it earns back its cost</a:t>
            </a:r>
          </a:p>
        </p:txBody>
      </p:sp>
      <p:sp>
        <p:nvSpPr>
          <p:cNvPr id="5" name="Rectangle 4"/>
          <p:cNvSpPr/>
          <p:nvPr/>
        </p:nvSpPr>
        <p:spPr>
          <a:xfrm>
            <a:off x="558800" y="1320800"/>
            <a:ext cx="698500" cy="50800"/>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58800" y="5765800"/>
            <a:ext cx="11074400" cy="584200"/>
          </a:xfrm>
          <a:prstGeom prst="roundRect">
            <a:avLst>
              <a:gd name="adj" fmla="val 8000"/>
            </a:avLst>
          </a:prstGeom>
          <a:solidFill>
            <a:srgbClr val="E5F3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62000" y="5905500"/>
            <a:ext cx="10693400" cy="590296"/>
          </a:xfrm>
          <a:prstGeom prst="rect">
            <a:avLst/>
          </a:prstGeom>
          <a:noFill/>
        </p:spPr>
        <p:txBody>
          <a:bodyPr wrap="none" lIns="0" rIns="0" tIns="0" bIns="0">
            <a:spAutoFit/>
          </a:bodyPr>
          <a:lstStyle/>
          <a:p>
            <a:pPr>
              <a:lnSpc>
                <a:spcPts val="2074"/>
              </a:lnSpc>
              <a:spcBef>
                <a:spcPts val="0"/>
              </a:spcBef>
              <a:spcAft>
                <a:spcPts val="0"/>
              </a:spcAft>
              <a:defRPr sz="1700" b="1">
                <a:solidFill>
                  <a:srgbClr val="152C46"/>
                </a:solidFill>
                <a:latin typeface="DejaVu Sans"/>
              </a:defRPr>
            </a:pPr>
            <a:r>
              <a:t>The objective is delivered service after sensing overhead—not estimation accuracy</a:t>
            </a:r>
          </a:p>
          <a:p>
            <a:pPr>
              <a:lnSpc>
                <a:spcPts val="2074"/>
              </a:lnSpc>
              <a:spcBef>
                <a:spcPts val="0"/>
              </a:spcBef>
              <a:spcAft>
                <a:spcPts val="0"/>
              </a:spcAft>
              <a:defRPr sz="1700" b="1">
                <a:solidFill>
                  <a:srgbClr val="152C46"/>
                </a:solidFill>
                <a:latin typeface="DejaVu Sans"/>
              </a:defRPr>
            </a:pPr>
            <a:r>
              <a:t>alone.</a:t>
            </a:r>
          </a:p>
        </p:txBody>
      </p:sp>
      <p:sp>
        <p:nvSpPr>
          <p:cNvPr id="8" name="Rounded Rectangle 7"/>
          <p:cNvSpPr/>
          <p:nvPr/>
        </p:nvSpPr>
        <p:spPr>
          <a:xfrm>
            <a:off x="558800" y="1803400"/>
            <a:ext cx="3429000" cy="3276600"/>
          </a:xfrm>
          <a:prstGeom prst="roundRect">
            <a:avLst>
              <a:gd name="adj" fmla="val 8000"/>
            </a:avLst>
          </a:prstGeom>
          <a:solidFill>
            <a:srgbClr val="E5F3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87400" y="2019300"/>
            <a:ext cx="2971800" cy="388874"/>
          </a:xfrm>
          <a:prstGeom prst="rect">
            <a:avLst/>
          </a:prstGeom>
          <a:noFill/>
        </p:spPr>
        <p:txBody>
          <a:bodyPr wrap="none" lIns="0" rIns="0" tIns="0" bIns="0">
            <a:spAutoFit/>
          </a:bodyPr>
          <a:lstStyle/>
          <a:p>
            <a:pPr>
              <a:lnSpc>
                <a:spcPts val="2562"/>
              </a:lnSpc>
              <a:spcBef>
                <a:spcPts val="0"/>
              </a:spcBef>
              <a:spcAft>
                <a:spcPts val="0"/>
              </a:spcAft>
              <a:defRPr sz="2100" b="1">
                <a:solidFill>
                  <a:srgbClr val="087F8C"/>
                </a:solidFill>
                <a:latin typeface="DejaVu Sans"/>
              </a:defRPr>
            </a:pPr>
            <a:r>
              <a:t>Listen longer</a:t>
            </a:r>
          </a:p>
        </p:txBody>
      </p:sp>
      <p:sp>
        <p:nvSpPr>
          <p:cNvPr id="10" name="TextBox 9"/>
          <p:cNvSpPr txBox="1"/>
          <p:nvPr/>
        </p:nvSpPr>
        <p:spPr>
          <a:xfrm>
            <a:off x="787400" y="2489200"/>
            <a:ext cx="2971800" cy="2015744"/>
          </a:xfrm>
          <a:prstGeom prst="rect">
            <a:avLst/>
          </a:prstGeom>
          <a:noFill/>
        </p:spPr>
        <p:txBody>
          <a:bodyPr wrap="none" lIns="0" rIns="0" tIns="0" bIns="0">
            <a:spAutoFit/>
          </a:bodyPr>
          <a:lstStyle/>
          <a:p>
            <a:pPr>
              <a:lnSpc>
                <a:spcPts val="2196"/>
              </a:lnSpc>
              <a:spcBef>
                <a:spcPts val="0"/>
              </a:spcBef>
              <a:spcAft>
                <a:spcPts val="0"/>
              </a:spcAft>
              <a:defRPr sz="1800" b="0">
                <a:solidFill>
                  <a:srgbClr val="263A50"/>
                </a:solidFill>
                <a:latin typeface="DejaVu Sans"/>
              </a:defRPr>
            </a:pPr>
            <a:r>
              <a:t>Potentially better</a:t>
            </a:r>
          </a:p>
          <a:p>
            <a:pPr>
              <a:lnSpc>
                <a:spcPts val="2196"/>
              </a:lnSpc>
              <a:spcBef>
                <a:spcPts val="0"/>
              </a:spcBef>
              <a:spcAft>
                <a:spcPts val="0"/>
              </a:spcAft>
              <a:defRPr sz="1800" b="0">
                <a:solidFill>
                  <a:srgbClr val="263A50"/>
                </a:solidFill>
                <a:latin typeface="DejaVu Sans"/>
              </a:defRPr>
            </a:pPr>
            <a:r>
              <a:t>information</a:t>
            </a:r>
          </a:p>
          <a:p>
            <a:pPr>
              <a:lnSpc>
                <a:spcPts val="2196"/>
              </a:lnSpc>
              <a:spcBef>
                <a:spcPts val="0"/>
              </a:spcBef>
              <a:spcAft>
                <a:spcPts val="0"/>
              </a:spcAft>
              <a:defRPr sz="1800" b="0">
                <a:solidFill>
                  <a:srgbClr val="263A50"/>
                </a:solidFill>
                <a:latin typeface="DejaVu Sans"/>
              </a:defRPr>
            </a:pPr>
          </a:p>
          <a:p>
            <a:pPr>
              <a:lnSpc>
                <a:spcPts val="2196"/>
              </a:lnSpc>
              <a:spcBef>
                <a:spcPts val="0"/>
              </a:spcBef>
              <a:spcAft>
                <a:spcPts val="0"/>
              </a:spcAft>
              <a:defRPr sz="1800" b="0">
                <a:solidFill>
                  <a:srgbClr val="263A50"/>
                </a:solidFill>
                <a:latin typeface="DejaVu Sans"/>
              </a:defRPr>
            </a:pPr>
            <a:r>
              <a:t>More lost DL/UL</a:t>
            </a:r>
          </a:p>
          <a:p>
            <a:pPr>
              <a:lnSpc>
                <a:spcPts val="2196"/>
              </a:lnSpc>
              <a:spcBef>
                <a:spcPts val="0"/>
              </a:spcBef>
              <a:spcAft>
                <a:spcPts val="0"/>
              </a:spcAft>
              <a:defRPr sz="1800" b="0">
                <a:solidFill>
                  <a:srgbClr val="263A50"/>
                </a:solidFill>
                <a:latin typeface="DejaVu Sans"/>
              </a:defRPr>
            </a:pPr>
            <a:r>
              <a:t>resources</a:t>
            </a:r>
          </a:p>
          <a:p>
            <a:pPr>
              <a:lnSpc>
                <a:spcPts val="2196"/>
              </a:lnSpc>
              <a:spcBef>
                <a:spcPts val="0"/>
              </a:spcBef>
              <a:spcAft>
                <a:spcPts val="0"/>
              </a:spcAft>
              <a:defRPr sz="1800" b="0">
                <a:solidFill>
                  <a:srgbClr val="263A50"/>
                </a:solidFill>
                <a:latin typeface="DejaVu Sans"/>
              </a:defRPr>
            </a:pPr>
          </a:p>
          <a:p>
            <a:pPr>
              <a:lnSpc>
                <a:spcPts val="2196"/>
              </a:lnSpc>
              <a:spcBef>
                <a:spcPts val="0"/>
              </a:spcBef>
              <a:spcAft>
                <a:spcPts val="0"/>
              </a:spcAft>
              <a:defRPr sz="1800" b="0">
                <a:solidFill>
                  <a:srgbClr val="263A50"/>
                </a:solidFill>
                <a:latin typeface="DejaVu Sans"/>
              </a:defRPr>
            </a:pPr>
            <a:r>
              <a:t>The result arrives later</a:t>
            </a:r>
          </a:p>
        </p:txBody>
      </p:sp>
      <p:sp>
        <p:nvSpPr>
          <p:cNvPr id="11" name="Rounded Rectangle 10"/>
          <p:cNvSpPr/>
          <p:nvPr/>
        </p:nvSpPr>
        <p:spPr>
          <a:xfrm>
            <a:off x="4381500" y="1803400"/>
            <a:ext cx="3429000" cy="3276600"/>
          </a:xfrm>
          <a:prstGeom prst="roundRect">
            <a:avLst>
              <a:gd name="adj" fmla="val 8000"/>
            </a:avLst>
          </a:prstGeom>
          <a:solidFill>
            <a:srgbClr val="EF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610100" y="2019300"/>
            <a:ext cx="2971800" cy="388874"/>
          </a:xfrm>
          <a:prstGeom prst="rect">
            <a:avLst/>
          </a:prstGeom>
          <a:noFill/>
        </p:spPr>
        <p:txBody>
          <a:bodyPr wrap="none" lIns="0" rIns="0" tIns="0" bIns="0">
            <a:spAutoFit/>
          </a:bodyPr>
          <a:lstStyle/>
          <a:p>
            <a:pPr>
              <a:lnSpc>
                <a:spcPts val="2562"/>
              </a:lnSpc>
              <a:spcBef>
                <a:spcPts val="0"/>
              </a:spcBef>
              <a:spcAft>
                <a:spcPts val="0"/>
              </a:spcAft>
              <a:defRPr sz="2100" b="1">
                <a:solidFill>
                  <a:srgbClr val="087F8C"/>
                </a:solidFill>
                <a:latin typeface="DejaVu Sans"/>
              </a:defRPr>
            </a:pPr>
            <a:r>
              <a:t>Transmit now</a:t>
            </a:r>
          </a:p>
        </p:txBody>
      </p:sp>
      <p:sp>
        <p:nvSpPr>
          <p:cNvPr id="13" name="TextBox 12"/>
          <p:cNvSpPr txBox="1"/>
          <p:nvPr/>
        </p:nvSpPr>
        <p:spPr>
          <a:xfrm>
            <a:off x="4610100" y="2489200"/>
            <a:ext cx="2971800" cy="1736852"/>
          </a:xfrm>
          <a:prstGeom prst="rect">
            <a:avLst/>
          </a:prstGeom>
          <a:noFill/>
        </p:spPr>
        <p:txBody>
          <a:bodyPr wrap="none" lIns="0" rIns="0" tIns="0" bIns="0">
            <a:spAutoFit/>
          </a:bodyPr>
          <a:lstStyle/>
          <a:p>
            <a:pPr>
              <a:lnSpc>
                <a:spcPts val="2196"/>
              </a:lnSpc>
              <a:spcBef>
                <a:spcPts val="0"/>
              </a:spcBef>
              <a:spcAft>
                <a:spcPts val="0"/>
              </a:spcAft>
              <a:defRPr sz="1800" b="0">
                <a:solidFill>
                  <a:srgbClr val="263A50"/>
                </a:solidFill>
                <a:latin typeface="DejaVu Sans"/>
              </a:defRPr>
            </a:pPr>
            <a:r>
              <a:t>More immediate service</a:t>
            </a:r>
          </a:p>
          <a:p>
            <a:pPr>
              <a:lnSpc>
                <a:spcPts val="2196"/>
              </a:lnSpc>
              <a:spcBef>
                <a:spcPts val="0"/>
              </a:spcBef>
              <a:spcAft>
                <a:spcPts val="0"/>
              </a:spcAft>
              <a:defRPr sz="1800" b="0">
                <a:solidFill>
                  <a:srgbClr val="263A50"/>
                </a:solidFill>
                <a:latin typeface="DejaVu Sans"/>
              </a:defRPr>
            </a:pPr>
          </a:p>
          <a:p>
            <a:pPr>
              <a:lnSpc>
                <a:spcPts val="2196"/>
              </a:lnSpc>
              <a:spcBef>
                <a:spcPts val="0"/>
              </a:spcBef>
              <a:spcAft>
                <a:spcPts val="0"/>
              </a:spcAft>
              <a:defRPr sz="1800" b="0">
                <a:solidFill>
                  <a:srgbClr val="263A50"/>
                </a:solidFill>
                <a:latin typeface="DejaVu Sans"/>
              </a:defRPr>
            </a:pPr>
            <a:r>
              <a:t>Older channel</a:t>
            </a:r>
          </a:p>
          <a:p>
            <a:pPr>
              <a:lnSpc>
                <a:spcPts val="2196"/>
              </a:lnSpc>
              <a:spcBef>
                <a:spcPts val="0"/>
              </a:spcBef>
              <a:spcAft>
                <a:spcPts val="0"/>
              </a:spcAft>
              <a:defRPr sz="1800" b="0">
                <a:solidFill>
                  <a:srgbClr val="263A50"/>
                </a:solidFill>
                <a:latin typeface="DejaVu Sans"/>
              </a:defRPr>
            </a:pPr>
            <a:r>
              <a:t>information</a:t>
            </a:r>
          </a:p>
          <a:p>
            <a:pPr>
              <a:lnSpc>
                <a:spcPts val="2196"/>
              </a:lnSpc>
              <a:spcBef>
                <a:spcPts val="0"/>
              </a:spcBef>
              <a:spcAft>
                <a:spcPts val="0"/>
              </a:spcAft>
              <a:defRPr sz="1800" b="0">
                <a:solidFill>
                  <a:srgbClr val="263A50"/>
                </a:solidFill>
                <a:latin typeface="DejaVu Sans"/>
              </a:defRPr>
            </a:pPr>
          </a:p>
          <a:p>
            <a:pPr>
              <a:lnSpc>
                <a:spcPts val="2196"/>
              </a:lnSpc>
              <a:spcBef>
                <a:spcPts val="0"/>
              </a:spcBef>
              <a:spcAft>
                <a:spcPts val="0"/>
              </a:spcAft>
              <a:defRPr sz="1800" b="0">
                <a:solidFill>
                  <a:srgbClr val="263A50"/>
                </a:solidFill>
                <a:latin typeface="DejaVu Sans"/>
              </a:defRPr>
            </a:pPr>
            <a:r>
              <a:t>Possible power backoff</a:t>
            </a:r>
          </a:p>
        </p:txBody>
      </p:sp>
      <p:sp>
        <p:nvSpPr>
          <p:cNvPr id="14" name="Rounded Rectangle 13"/>
          <p:cNvSpPr/>
          <p:nvPr/>
        </p:nvSpPr>
        <p:spPr>
          <a:xfrm>
            <a:off x="8204200" y="1803400"/>
            <a:ext cx="3429000" cy="3276600"/>
          </a:xfrm>
          <a:prstGeom prst="roundRect">
            <a:avLst>
              <a:gd name="adj" fmla="val 8000"/>
            </a:avLst>
          </a:prstGeom>
          <a:solidFill>
            <a:srgbClr val="FFF3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432800" y="2019300"/>
            <a:ext cx="2971800" cy="388874"/>
          </a:xfrm>
          <a:prstGeom prst="rect">
            <a:avLst/>
          </a:prstGeom>
          <a:noFill/>
        </p:spPr>
        <p:txBody>
          <a:bodyPr wrap="none" lIns="0" rIns="0" tIns="0" bIns="0">
            <a:spAutoFit/>
          </a:bodyPr>
          <a:lstStyle/>
          <a:p>
            <a:pPr>
              <a:lnSpc>
                <a:spcPts val="2562"/>
              </a:lnSpc>
              <a:spcBef>
                <a:spcPts val="0"/>
              </a:spcBef>
              <a:spcAft>
                <a:spcPts val="0"/>
              </a:spcAft>
              <a:defRPr sz="2100" b="1">
                <a:solidFill>
                  <a:srgbClr val="087F8C"/>
                </a:solidFill>
                <a:latin typeface="DejaVu Sans"/>
              </a:defRPr>
            </a:pPr>
            <a:r>
              <a:t>Stay silent</a:t>
            </a:r>
          </a:p>
        </p:txBody>
      </p:sp>
      <p:sp>
        <p:nvSpPr>
          <p:cNvPr id="16" name="TextBox 15"/>
          <p:cNvSpPr txBox="1"/>
          <p:nvPr/>
        </p:nvSpPr>
        <p:spPr>
          <a:xfrm>
            <a:off x="8432800" y="2489200"/>
            <a:ext cx="2971800" cy="1736852"/>
          </a:xfrm>
          <a:prstGeom prst="rect">
            <a:avLst/>
          </a:prstGeom>
          <a:noFill/>
        </p:spPr>
        <p:txBody>
          <a:bodyPr wrap="none" lIns="0" rIns="0" tIns="0" bIns="0">
            <a:spAutoFit/>
          </a:bodyPr>
          <a:lstStyle/>
          <a:p>
            <a:pPr>
              <a:lnSpc>
                <a:spcPts val="2196"/>
              </a:lnSpc>
              <a:spcBef>
                <a:spcPts val="0"/>
              </a:spcBef>
              <a:spcAft>
                <a:spcPts val="0"/>
              </a:spcAft>
              <a:defRPr sz="1800" b="0">
                <a:solidFill>
                  <a:srgbClr val="263A50"/>
                </a:solidFill>
                <a:latin typeface="DejaVu Sans"/>
              </a:defRPr>
            </a:pPr>
            <a:r>
              <a:t>Zero controlled-BS</a:t>
            </a:r>
          </a:p>
          <a:p>
            <a:pPr>
              <a:lnSpc>
                <a:spcPts val="2196"/>
              </a:lnSpc>
              <a:spcBef>
                <a:spcPts val="0"/>
              </a:spcBef>
              <a:spcAft>
                <a:spcPts val="0"/>
              </a:spcAft>
              <a:defRPr sz="1800" b="0">
                <a:solidFill>
                  <a:srgbClr val="263A50"/>
                </a:solidFill>
                <a:latin typeface="DejaVu Sans"/>
              </a:defRPr>
            </a:pPr>
            <a:r>
              <a:t>leakage</a:t>
            </a:r>
          </a:p>
          <a:p>
            <a:pPr>
              <a:lnSpc>
                <a:spcPts val="2196"/>
              </a:lnSpc>
              <a:spcBef>
                <a:spcPts val="0"/>
              </a:spcBef>
              <a:spcAft>
                <a:spcPts val="0"/>
              </a:spcAft>
              <a:defRPr sz="1800" b="0">
                <a:solidFill>
                  <a:srgbClr val="263A50"/>
                </a:solidFill>
                <a:latin typeface="DejaVu Sans"/>
              </a:defRPr>
            </a:pPr>
          </a:p>
          <a:p>
            <a:pPr>
              <a:lnSpc>
                <a:spcPts val="2196"/>
              </a:lnSpc>
              <a:spcBef>
                <a:spcPts val="0"/>
              </a:spcBef>
              <a:spcAft>
                <a:spcPts val="0"/>
              </a:spcAft>
              <a:defRPr sz="1800" b="0">
                <a:solidFill>
                  <a:srgbClr val="263A50"/>
                </a:solidFill>
                <a:latin typeface="DejaVu Sans"/>
              </a:defRPr>
            </a:pPr>
            <a:r>
              <a:t>No TN downlink service</a:t>
            </a:r>
          </a:p>
          <a:p>
            <a:pPr>
              <a:lnSpc>
                <a:spcPts val="2196"/>
              </a:lnSpc>
              <a:spcBef>
                <a:spcPts val="0"/>
              </a:spcBef>
              <a:spcAft>
                <a:spcPts val="0"/>
              </a:spcAft>
              <a:defRPr sz="1800" b="0">
                <a:solidFill>
                  <a:srgbClr val="263A50"/>
                </a:solidFill>
                <a:latin typeface="DejaVu Sans"/>
              </a:defRPr>
            </a:pPr>
          </a:p>
          <a:p>
            <a:pPr>
              <a:lnSpc>
                <a:spcPts val="2196"/>
              </a:lnSpc>
              <a:spcBef>
                <a:spcPts val="0"/>
              </a:spcBef>
              <a:spcAft>
                <a:spcPts val="0"/>
              </a:spcAft>
              <a:defRPr sz="1800" b="0">
                <a:solidFill>
                  <a:srgbClr val="263A50"/>
                </a:solidFill>
                <a:latin typeface="DejaVu Sans"/>
              </a:defRPr>
            </a:pPr>
            <a:r>
              <a:t>TN uplink may continue</a:t>
            </a:r>
          </a:p>
        </p:txBody>
      </p:sp>
      <p:sp>
        <p:nvSpPr>
          <p:cNvPr id="17" name="TextBox 16"/>
          <p:cNvSpPr txBox="1"/>
          <p:nvPr/>
        </p:nvSpPr>
        <p:spPr>
          <a:xfrm>
            <a:off x="558800" y="6553200"/>
            <a:ext cx="10604500" cy="215900"/>
          </a:xfrm>
          <a:prstGeom prst="rect">
            <a:avLst/>
          </a:prstGeom>
          <a:noFill/>
        </p:spPr>
        <p:txBody>
          <a:bodyPr wrap="none" lIns="0" tIns="0">
            <a:spAutoFit/>
          </a:bodyPr>
          <a:lstStyle/>
          <a:p>
            <a:pPr>
              <a:defRPr sz="900">
                <a:solidFill>
                  <a:srgbClr val="617487"/>
                </a:solidFill>
                <a:latin typeface="DejaVu Sans"/>
              </a:defRPr>
            </a:pPr>
            <a:r>
              <a:t>Appendix D</a:t>
            </a:r>
          </a:p>
        </p:txBody>
      </p:sp>
      <p:sp>
        <p:nvSpPr>
          <p:cNvPr id="18" name="TextBox 17"/>
          <p:cNvSpPr txBox="1"/>
          <p:nvPr/>
        </p:nvSpPr>
        <p:spPr>
          <a:xfrm>
            <a:off x="11239500" y="6553200"/>
            <a:ext cx="825500" cy="215900"/>
          </a:xfrm>
          <a:prstGeom prst="rect">
            <a:avLst/>
          </a:prstGeom>
          <a:noFill/>
        </p:spPr>
        <p:txBody>
          <a:bodyPr wrap="none" lIns="0" tIns="0">
            <a:spAutoFit/>
          </a:bodyPr>
          <a:lstStyle/>
          <a:p>
            <a:pPr>
              <a:defRPr sz="900">
                <a:solidFill>
                  <a:srgbClr val="617487"/>
                </a:solidFill>
                <a:latin typeface="DejaVu Sans"/>
              </a:defRPr>
            </a:pPr>
            <a:r>
              <a:t>02 / 30</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58800" y="304800"/>
            <a:ext cx="10795000" cy="264922"/>
          </a:xfrm>
          <a:prstGeom prst="rect">
            <a:avLst/>
          </a:prstGeom>
          <a:noFill/>
        </p:spPr>
        <p:txBody>
          <a:bodyPr wrap="none" lIns="0" rIns="0" tIns="0" bIns="0">
            <a:spAutoFit/>
          </a:bodyPr>
          <a:lstStyle/>
          <a:p>
            <a:pPr>
              <a:lnSpc>
                <a:spcPts val="1586"/>
              </a:lnSpc>
              <a:spcBef>
                <a:spcPts val="0"/>
              </a:spcBef>
              <a:spcAft>
                <a:spcPts val="0"/>
              </a:spcAft>
              <a:defRPr sz="1300" b="1">
                <a:solidFill>
                  <a:srgbClr val="087F8C"/>
                </a:solidFill>
                <a:latin typeface="DejaVu Sans"/>
              </a:defRPr>
            </a:pPr>
            <a:r>
              <a:t>SYSTEM</a:t>
            </a:r>
          </a:p>
        </p:txBody>
      </p:sp>
      <p:sp>
        <p:nvSpPr>
          <p:cNvPr id="4" name="TextBox 3"/>
          <p:cNvSpPr txBox="1"/>
          <p:nvPr/>
        </p:nvSpPr>
        <p:spPr>
          <a:xfrm>
            <a:off x="558800" y="673100"/>
            <a:ext cx="11150600" cy="471705"/>
          </a:xfrm>
          <a:prstGeom prst="rect">
            <a:avLst/>
          </a:prstGeom>
          <a:noFill/>
        </p:spPr>
        <p:txBody>
          <a:bodyPr wrap="none" lIns="0" rIns="0" tIns="0" bIns="0">
            <a:spAutoFit/>
          </a:bodyPr>
          <a:lstStyle/>
          <a:p>
            <a:pPr>
              <a:lnSpc>
                <a:spcPts val="3214"/>
              </a:lnSpc>
              <a:spcBef>
                <a:spcPts val="0"/>
              </a:spcBef>
              <a:spcAft>
                <a:spcPts val="0"/>
              </a:spcAft>
              <a:defRPr sz="2634" b="1">
                <a:solidFill>
                  <a:srgbClr val="152C46"/>
                </a:solidFill>
                <a:latin typeface="DejaVu Sans"/>
              </a:defRPr>
            </a:pPr>
            <a:r>
              <a:t>One controlled sector, two networks, partial information</a:t>
            </a:r>
          </a:p>
        </p:txBody>
      </p:sp>
      <p:sp>
        <p:nvSpPr>
          <p:cNvPr id="5" name="Rectangle 4"/>
          <p:cNvSpPr/>
          <p:nvPr/>
        </p:nvSpPr>
        <p:spPr>
          <a:xfrm>
            <a:off x="558800" y="1320800"/>
            <a:ext cx="698500" cy="50800"/>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4445000" y="2324100"/>
            <a:ext cx="3175000" cy="1397000"/>
          </a:xfrm>
          <a:prstGeom prst="roundRect">
            <a:avLst>
              <a:gd name="adj" fmla="val 8000"/>
            </a:avLst>
          </a:prstGeom>
          <a:solidFill>
            <a:srgbClr val="E5F3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673600" y="2540000"/>
            <a:ext cx="2717800" cy="388874"/>
          </a:xfrm>
          <a:prstGeom prst="rect">
            <a:avLst/>
          </a:prstGeom>
          <a:noFill/>
        </p:spPr>
        <p:txBody>
          <a:bodyPr wrap="none" lIns="0" rIns="0" tIns="0" bIns="0">
            <a:spAutoFit/>
          </a:bodyPr>
          <a:lstStyle/>
          <a:p>
            <a:pPr>
              <a:lnSpc>
                <a:spcPts val="2562"/>
              </a:lnSpc>
              <a:spcBef>
                <a:spcPts val="0"/>
              </a:spcBef>
              <a:spcAft>
                <a:spcPts val="0"/>
              </a:spcAft>
              <a:defRPr sz="2100" b="1">
                <a:solidFill>
                  <a:srgbClr val="087F8C"/>
                </a:solidFill>
                <a:latin typeface="DejaVu Sans"/>
              </a:defRPr>
            </a:pPr>
            <a:r>
              <a:t>TN base station</a:t>
            </a:r>
          </a:p>
        </p:txBody>
      </p:sp>
      <p:sp>
        <p:nvSpPr>
          <p:cNvPr id="8" name="TextBox 7"/>
          <p:cNvSpPr txBox="1"/>
          <p:nvPr/>
        </p:nvSpPr>
        <p:spPr>
          <a:xfrm>
            <a:off x="4673600" y="3009900"/>
            <a:ext cx="2717800" cy="621284"/>
          </a:xfrm>
          <a:prstGeom prst="rect">
            <a:avLst/>
          </a:prstGeom>
          <a:noFill/>
        </p:spPr>
        <p:txBody>
          <a:bodyPr wrap="none" lIns="0" rIns="0" tIns="0" bIns="0">
            <a:spAutoFit/>
          </a:bodyPr>
          <a:lstStyle/>
          <a:p>
            <a:pPr>
              <a:lnSpc>
                <a:spcPts val="2196"/>
              </a:lnSpc>
              <a:spcBef>
                <a:spcPts val="0"/>
              </a:spcBef>
              <a:spcAft>
                <a:spcPts val="0"/>
              </a:spcAft>
              <a:defRPr sz="1800" b="0">
                <a:solidFill>
                  <a:srgbClr val="263A50"/>
                </a:solidFill>
                <a:latin typeface="DejaVu Sans"/>
              </a:defRPr>
            </a:pPr>
            <a:r>
              <a:t>Shared array and front</a:t>
            </a:r>
          </a:p>
          <a:p>
            <a:pPr>
              <a:lnSpc>
                <a:spcPts val="2196"/>
              </a:lnSpc>
              <a:spcBef>
                <a:spcPts val="0"/>
              </a:spcBef>
              <a:spcAft>
                <a:spcPts val="0"/>
              </a:spcAft>
              <a:defRPr sz="1800" b="0">
                <a:solidFill>
                  <a:srgbClr val="263A50"/>
                </a:solidFill>
                <a:latin typeface="DejaVu Sans"/>
              </a:defRPr>
            </a:pPr>
            <a:r>
              <a:t>end</a:t>
            </a:r>
          </a:p>
        </p:txBody>
      </p:sp>
      <p:sp>
        <p:nvSpPr>
          <p:cNvPr id="9" name="Rounded Rectangle 8"/>
          <p:cNvSpPr/>
          <p:nvPr/>
        </p:nvSpPr>
        <p:spPr>
          <a:xfrm>
            <a:off x="584200" y="1917700"/>
            <a:ext cx="2984500" cy="1498600"/>
          </a:xfrm>
          <a:prstGeom prst="roundRect">
            <a:avLst>
              <a:gd name="adj" fmla="val 8000"/>
            </a:avLst>
          </a:prstGeom>
          <a:solidFill>
            <a:srgbClr val="EF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12800" y="2133600"/>
            <a:ext cx="2527300" cy="388874"/>
          </a:xfrm>
          <a:prstGeom prst="rect">
            <a:avLst/>
          </a:prstGeom>
          <a:noFill/>
        </p:spPr>
        <p:txBody>
          <a:bodyPr wrap="none" lIns="0" rIns="0" tIns="0" bIns="0">
            <a:spAutoFit/>
          </a:bodyPr>
          <a:lstStyle/>
          <a:p>
            <a:pPr>
              <a:lnSpc>
                <a:spcPts val="2562"/>
              </a:lnSpc>
              <a:spcBef>
                <a:spcPts val="0"/>
              </a:spcBef>
              <a:spcAft>
                <a:spcPts val="0"/>
              </a:spcAft>
              <a:defRPr sz="2100" b="1">
                <a:solidFill>
                  <a:srgbClr val="087F8C"/>
                </a:solidFill>
                <a:latin typeface="DejaVu Sans"/>
              </a:defRPr>
            </a:pPr>
            <a:r>
              <a:t>TN user</a:t>
            </a:r>
          </a:p>
        </p:txBody>
      </p:sp>
      <p:sp>
        <p:nvSpPr>
          <p:cNvPr id="11" name="TextBox 10"/>
          <p:cNvSpPr txBox="1"/>
          <p:nvPr/>
        </p:nvSpPr>
        <p:spPr>
          <a:xfrm>
            <a:off x="812800" y="2603500"/>
            <a:ext cx="2527300" cy="621284"/>
          </a:xfrm>
          <a:prstGeom prst="rect">
            <a:avLst/>
          </a:prstGeom>
          <a:noFill/>
        </p:spPr>
        <p:txBody>
          <a:bodyPr wrap="none" lIns="0" rIns="0" tIns="0" bIns="0">
            <a:spAutoFit/>
          </a:bodyPr>
          <a:lstStyle/>
          <a:p>
            <a:pPr>
              <a:lnSpc>
                <a:spcPts val="2196"/>
              </a:lnSpc>
              <a:spcBef>
                <a:spcPts val="0"/>
              </a:spcBef>
              <a:spcAft>
                <a:spcPts val="0"/>
              </a:spcAft>
              <a:defRPr sz="1800" b="0">
                <a:solidFill>
                  <a:srgbClr val="263A50"/>
                </a:solidFill>
                <a:latin typeface="DejaVu Sans"/>
              </a:defRPr>
            </a:pPr>
            <a:r>
              <a:t>Desired DL service</a:t>
            </a:r>
          </a:p>
          <a:p>
            <a:pPr>
              <a:lnSpc>
                <a:spcPts val="2196"/>
              </a:lnSpc>
              <a:spcBef>
                <a:spcPts val="0"/>
              </a:spcBef>
              <a:spcAft>
                <a:spcPts val="0"/>
              </a:spcAft>
              <a:defRPr sz="1800" b="0">
                <a:solidFill>
                  <a:srgbClr val="263A50"/>
                </a:solidFill>
                <a:latin typeface="DejaVu Sans"/>
              </a:defRPr>
            </a:pPr>
            <a:r>
              <a:t>Fixed DL/UL calendar</a:t>
            </a:r>
          </a:p>
        </p:txBody>
      </p:sp>
      <p:sp>
        <p:nvSpPr>
          <p:cNvPr id="12" name="Rounded Rectangle 11"/>
          <p:cNvSpPr/>
          <p:nvPr/>
        </p:nvSpPr>
        <p:spPr>
          <a:xfrm>
            <a:off x="8509000" y="1752600"/>
            <a:ext cx="3098800" cy="1587500"/>
          </a:xfrm>
          <a:prstGeom prst="roundRect">
            <a:avLst>
              <a:gd name="adj" fmla="val 8000"/>
            </a:avLst>
          </a:prstGeom>
          <a:solidFill>
            <a:srgbClr val="FFF3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737600" y="1968500"/>
            <a:ext cx="2641600" cy="388874"/>
          </a:xfrm>
          <a:prstGeom prst="rect">
            <a:avLst/>
          </a:prstGeom>
          <a:noFill/>
        </p:spPr>
        <p:txBody>
          <a:bodyPr wrap="none" lIns="0" rIns="0" tIns="0" bIns="0">
            <a:spAutoFit/>
          </a:bodyPr>
          <a:lstStyle/>
          <a:p>
            <a:pPr>
              <a:lnSpc>
                <a:spcPts val="2562"/>
              </a:lnSpc>
              <a:spcBef>
                <a:spcPts val="0"/>
              </a:spcBef>
              <a:spcAft>
                <a:spcPts val="0"/>
              </a:spcAft>
              <a:defRPr sz="2100" b="1">
                <a:solidFill>
                  <a:srgbClr val="087F8C"/>
                </a:solidFill>
                <a:latin typeface="DejaVu Sans"/>
              </a:defRPr>
            </a:pPr>
            <a:r>
              <a:t>NTN receiver</a:t>
            </a:r>
          </a:p>
        </p:txBody>
      </p:sp>
      <p:sp>
        <p:nvSpPr>
          <p:cNvPr id="14" name="TextBox 13"/>
          <p:cNvSpPr txBox="1"/>
          <p:nvPr/>
        </p:nvSpPr>
        <p:spPr>
          <a:xfrm>
            <a:off x="8737600" y="2438400"/>
            <a:ext cx="2641600" cy="900176"/>
          </a:xfrm>
          <a:prstGeom prst="rect">
            <a:avLst/>
          </a:prstGeom>
          <a:noFill/>
        </p:spPr>
        <p:txBody>
          <a:bodyPr wrap="none" lIns="0" rIns="0" tIns="0" bIns="0">
            <a:spAutoFit/>
          </a:bodyPr>
          <a:lstStyle/>
          <a:p>
            <a:pPr>
              <a:lnSpc>
                <a:spcPts val="2196"/>
              </a:lnSpc>
              <a:spcBef>
                <a:spcPts val="0"/>
              </a:spcBef>
              <a:spcAft>
                <a:spcPts val="0"/>
              </a:spcAft>
              <a:defRPr sz="1800" b="0">
                <a:solidFill>
                  <a:srgbClr val="263A50"/>
                </a:solidFill>
                <a:latin typeface="DejaVu Sans"/>
              </a:defRPr>
            </a:pPr>
            <a:r>
              <a:t>Protected DL reception</a:t>
            </a:r>
          </a:p>
          <a:p>
            <a:pPr>
              <a:lnSpc>
                <a:spcPts val="2196"/>
              </a:lnSpc>
              <a:spcBef>
                <a:spcPts val="0"/>
              </a:spcBef>
              <a:spcAft>
                <a:spcPts val="0"/>
              </a:spcAft>
              <a:defRPr sz="1800" b="0">
                <a:solidFill>
                  <a:srgbClr val="263A50"/>
                </a:solidFill>
                <a:latin typeface="DejaVu Sans"/>
              </a:defRPr>
            </a:pPr>
            <a:r>
              <a:t>May emit observable</a:t>
            </a:r>
          </a:p>
          <a:p>
            <a:pPr>
              <a:lnSpc>
                <a:spcPts val="2196"/>
              </a:lnSpc>
              <a:spcBef>
                <a:spcPts val="0"/>
              </a:spcBef>
              <a:spcAft>
                <a:spcPts val="0"/>
              </a:spcAft>
              <a:defRPr sz="1800" b="0">
                <a:solidFill>
                  <a:srgbClr val="263A50"/>
                </a:solidFill>
                <a:latin typeface="DejaVu Sans"/>
              </a:defRPr>
            </a:pPr>
            <a:r>
              <a:t>UL</a:t>
            </a:r>
          </a:p>
        </p:txBody>
      </p:sp>
      <p:sp>
        <p:nvSpPr>
          <p:cNvPr id="15" name="Rounded Rectangle 14"/>
          <p:cNvSpPr/>
          <p:nvPr/>
        </p:nvSpPr>
        <p:spPr>
          <a:xfrm>
            <a:off x="8509000" y="4064000"/>
            <a:ext cx="3098800" cy="1270000"/>
          </a:xfrm>
          <a:prstGeom prst="roundRect">
            <a:avLst>
              <a:gd name="adj" fmla="val 8000"/>
            </a:avLst>
          </a:prstGeom>
          <a:solidFill>
            <a:srgbClr val="FFF3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737600" y="4279900"/>
            <a:ext cx="2641600" cy="388874"/>
          </a:xfrm>
          <a:prstGeom prst="rect">
            <a:avLst/>
          </a:prstGeom>
          <a:noFill/>
        </p:spPr>
        <p:txBody>
          <a:bodyPr wrap="none" lIns="0" rIns="0" tIns="0" bIns="0">
            <a:spAutoFit/>
          </a:bodyPr>
          <a:lstStyle/>
          <a:p>
            <a:pPr>
              <a:lnSpc>
                <a:spcPts val="2562"/>
              </a:lnSpc>
              <a:spcBef>
                <a:spcPts val="0"/>
              </a:spcBef>
              <a:spcAft>
                <a:spcPts val="0"/>
              </a:spcAft>
              <a:defRPr sz="2100" b="1">
                <a:solidFill>
                  <a:srgbClr val="087F8C"/>
                </a:solidFill>
                <a:latin typeface="DejaVu Sans"/>
              </a:defRPr>
            </a:pPr>
            <a:r>
              <a:t>UL-silent NTN</a:t>
            </a:r>
          </a:p>
        </p:txBody>
      </p:sp>
      <p:sp>
        <p:nvSpPr>
          <p:cNvPr id="17" name="TextBox 16"/>
          <p:cNvSpPr txBox="1"/>
          <p:nvPr/>
        </p:nvSpPr>
        <p:spPr>
          <a:xfrm>
            <a:off x="8737600" y="4749800"/>
            <a:ext cx="2641600" cy="342392"/>
          </a:xfrm>
          <a:prstGeom prst="rect">
            <a:avLst/>
          </a:prstGeom>
          <a:noFill/>
        </p:spPr>
        <p:txBody>
          <a:bodyPr wrap="none" lIns="0" rIns="0" tIns="0" bIns="0">
            <a:spAutoFit/>
          </a:bodyPr>
          <a:lstStyle/>
          <a:p>
            <a:pPr>
              <a:lnSpc>
                <a:spcPts val="2196"/>
              </a:lnSpc>
              <a:spcBef>
                <a:spcPts val="0"/>
              </a:spcBef>
              <a:spcAft>
                <a:spcPts val="0"/>
              </a:spcAft>
              <a:defRPr sz="1800" b="0">
                <a:solidFill>
                  <a:srgbClr val="263A50"/>
                </a:solidFill>
                <a:latin typeface="DejaVu Sans"/>
              </a:defRPr>
            </a:pPr>
            <a:r>
              <a:t>DL-active, no UL signal</a:t>
            </a:r>
          </a:p>
        </p:txBody>
      </p:sp>
      <p:cxnSp>
        <p:nvCxnSpPr>
          <p:cNvPr id="18" name="Connector 17"/>
          <p:cNvCxnSpPr/>
          <p:nvPr/>
        </p:nvCxnSpPr>
        <p:spPr>
          <a:xfrm flipH="1" flipV="1">
            <a:off x="3568700" y="2667000"/>
            <a:ext cx="876300" cy="165100"/>
          </a:xfrm>
          <a:prstGeom prst="line">
            <a:avLst/>
          </a:prstGeom>
          <a:ln w="25400">
            <a:solidFill>
              <a:srgbClr val="326DD1"/>
            </a:solidFill>
          </a:ln>
        </p:spPr>
        <p:style>
          <a:lnRef idx="2">
            <a:schemeClr val="accent1"/>
          </a:lnRef>
          <a:fillRef idx="0">
            <a:schemeClr val="accent1"/>
          </a:fillRef>
          <a:effectRef idx="1">
            <a:schemeClr val="accent1"/>
          </a:effectRef>
          <a:fontRef idx="minor">
            <a:schemeClr val="tx1"/>
          </a:fontRef>
        </p:style>
      </p:cxnSp>
      <p:sp>
        <p:nvSpPr>
          <p:cNvPr id="19" name="Freeform 18"/>
          <p:cNvSpPr/>
          <p:nvPr/>
        </p:nvSpPr>
        <p:spPr>
          <a:xfrm>
            <a:off x="3568700" y="2635640"/>
            <a:ext cx="96639" cy="95735"/>
          </a:xfrm>
          <a:custGeom>
            <a:avLst/>
            <a:gdLst/>
            <a:ahLst/>
            <a:cxnLst/>
            <a:rect l="l" t="t" r="r" b="b"/>
            <a:pathLst>
              <a:path w="96639" h="95735">
                <a:moveTo>
                  <a:pt x="0" y="31360"/>
                </a:moveTo>
                <a:lnTo>
                  <a:pt x="96639" y="0"/>
                </a:lnTo>
                <a:lnTo>
                  <a:pt x="78602" y="95735"/>
                </a:lnTo>
                <a:close/>
              </a:path>
            </a:pathLst>
          </a:custGeom>
          <a:solidFill>
            <a:srgbClr val="326D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695700" y="2235200"/>
            <a:ext cx="889000" cy="264922"/>
          </a:xfrm>
          <a:prstGeom prst="rect">
            <a:avLst/>
          </a:prstGeom>
          <a:noFill/>
        </p:spPr>
        <p:txBody>
          <a:bodyPr wrap="none" lIns="0" rIns="0" tIns="0" bIns="0">
            <a:spAutoFit/>
          </a:bodyPr>
          <a:lstStyle/>
          <a:p>
            <a:pPr>
              <a:lnSpc>
                <a:spcPts val="1586"/>
              </a:lnSpc>
              <a:spcBef>
                <a:spcPts val="0"/>
              </a:spcBef>
              <a:spcAft>
                <a:spcPts val="0"/>
              </a:spcAft>
              <a:defRPr sz="1300" b="0">
                <a:solidFill>
                  <a:srgbClr val="326DD1"/>
                </a:solidFill>
                <a:latin typeface="DejaVu Sans"/>
              </a:defRPr>
            </a:pPr>
            <a:r>
              <a:t>service</a:t>
            </a:r>
          </a:p>
        </p:txBody>
      </p:sp>
      <p:cxnSp>
        <p:nvCxnSpPr>
          <p:cNvPr id="21" name="Connector 20"/>
          <p:cNvCxnSpPr/>
          <p:nvPr/>
        </p:nvCxnSpPr>
        <p:spPr>
          <a:xfrm flipV="1">
            <a:off x="7620000" y="2489200"/>
            <a:ext cx="889000" cy="215900"/>
          </a:xfrm>
          <a:prstGeom prst="line">
            <a:avLst/>
          </a:prstGeom>
          <a:ln w="25400">
            <a:solidFill>
              <a:srgbClr val="BC4B51"/>
            </a:solidFill>
          </a:ln>
        </p:spPr>
        <p:style>
          <a:lnRef idx="2">
            <a:schemeClr val="accent1"/>
          </a:lnRef>
          <a:fillRef idx="0">
            <a:schemeClr val="accent1"/>
          </a:fillRef>
          <a:effectRef idx="1">
            <a:schemeClr val="accent1"/>
          </a:effectRef>
          <a:fontRef idx="minor">
            <a:schemeClr val="tx1"/>
          </a:fontRef>
        </p:style>
      </p:cxnSp>
      <p:sp>
        <p:nvSpPr>
          <p:cNvPr id="22" name="Freeform 21"/>
          <p:cNvSpPr/>
          <p:nvPr/>
        </p:nvSpPr>
        <p:spPr>
          <a:xfrm>
            <a:off x="8410860" y="2462908"/>
            <a:ext cx="98140" cy="94667"/>
          </a:xfrm>
          <a:custGeom>
            <a:avLst/>
            <a:gdLst/>
            <a:ahLst/>
            <a:cxnLst/>
            <a:rect l="l" t="t" r="r" b="b"/>
            <a:pathLst>
              <a:path w="98140" h="94667">
                <a:moveTo>
                  <a:pt x="98140" y="26292"/>
                </a:moveTo>
                <a:lnTo>
                  <a:pt x="22991" y="94667"/>
                </a:lnTo>
                <a:lnTo>
                  <a:pt x="0" y="0"/>
                </a:lnTo>
                <a:close/>
              </a:path>
            </a:pathLst>
          </a:custGeom>
          <a:solidFill>
            <a:srgbClr val="BC4B5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454900" y="1993900"/>
            <a:ext cx="1168400" cy="249428"/>
          </a:xfrm>
          <a:prstGeom prst="rect">
            <a:avLst/>
          </a:prstGeom>
          <a:noFill/>
        </p:spPr>
        <p:txBody>
          <a:bodyPr wrap="none" lIns="0" rIns="0" tIns="0" bIns="0">
            <a:spAutoFit/>
          </a:bodyPr>
          <a:lstStyle/>
          <a:p>
            <a:pPr>
              <a:lnSpc>
                <a:spcPts val="1464"/>
              </a:lnSpc>
              <a:spcBef>
                <a:spcPts val="0"/>
              </a:spcBef>
              <a:spcAft>
                <a:spcPts val="0"/>
              </a:spcAft>
              <a:defRPr sz="1200" b="0">
                <a:solidFill>
                  <a:srgbClr val="BC4B51"/>
                </a:solidFill>
                <a:latin typeface="DejaVu Sans"/>
              </a:defRPr>
            </a:pPr>
            <a:r>
              <a:t>interference</a:t>
            </a:r>
          </a:p>
        </p:txBody>
      </p:sp>
      <p:cxnSp>
        <p:nvCxnSpPr>
          <p:cNvPr id="24" name="Connector 23"/>
          <p:cNvCxnSpPr/>
          <p:nvPr/>
        </p:nvCxnSpPr>
        <p:spPr>
          <a:xfrm flipH="1">
            <a:off x="7620000" y="3124200"/>
            <a:ext cx="914400" cy="152400"/>
          </a:xfrm>
          <a:prstGeom prst="line">
            <a:avLst/>
          </a:prstGeom>
          <a:ln w="25400">
            <a:solidFill>
              <a:srgbClr val="087F8C"/>
            </a:solidFill>
          </a:ln>
        </p:spPr>
        <p:style>
          <a:lnRef idx="2">
            <a:schemeClr val="accent1"/>
          </a:lnRef>
          <a:fillRef idx="0">
            <a:schemeClr val="accent1"/>
          </a:fillRef>
          <a:effectRef idx="1">
            <a:schemeClr val="accent1"/>
          </a:effectRef>
          <a:fontRef idx="minor">
            <a:schemeClr val="tx1"/>
          </a:fontRef>
        </p:style>
      </p:cxnSp>
      <p:sp>
        <p:nvSpPr>
          <p:cNvPr id="25" name="Freeform 24"/>
          <p:cNvSpPr/>
          <p:nvPr/>
        </p:nvSpPr>
        <p:spPr>
          <a:xfrm>
            <a:off x="7620000" y="3213894"/>
            <a:ext cx="95957" cy="96094"/>
          </a:xfrm>
          <a:custGeom>
            <a:avLst/>
            <a:gdLst/>
            <a:ahLst/>
            <a:cxnLst/>
            <a:rect l="l" t="t" r="r" b="b"/>
            <a:pathLst>
              <a:path w="95957" h="96094">
                <a:moveTo>
                  <a:pt x="0" y="62706"/>
                </a:moveTo>
                <a:lnTo>
                  <a:pt x="79941" y="0"/>
                </a:lnTo>
                <a:lnTo>
                  <a:pt x="95957" y="96094"/>
                </a:lnTo>
                <a:close/>
              </a:path>
            </a:pathLst>
          </a:cu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78700" y="3467100"/>
            <a:ext cx="1257300" cy="249428"/>
          </a:xfrm>
          <a:prstGeom prst="rect">
            <a:avLst/>
          </a:prstGeom>
          <a:noFill/>
        </p:spPr>
        <p:txBody>
          <a:bodyPr wrap="none" lIns="0" rIns="0" tIns="0" bIns="0">
            <a:spAutoFit/>
          </a:bodyPr>
          <a:lstStyle/>
          <a:p>
            <a:pPr>
              <a:lnSpc>
                <a:spcPts val="1464"/>
              </a:lnSpc>
              <a:spcBef>
                <a:spcPts val="0"/>
              </a:spcBef>
              <a:spcAft>
                <a:spcPts val="0"/>
              </a:spcAft>
              <a:defRPr sz="1200" b="0">
                <a:solidFill>
                  <a:srgbClr val="087F8C"/>
                </a:solidFill>
                <a:latin typeface="DejaVu Sans"/>
              </a:defRPr>
            </a:pPr>
            <a:r>
              <a:t>UL sensing</a:t>
            </a:r>
          </a:p>
        </p:txBody>
      </p:sp>
      <p:cxnSp>
        <p:nvCxnSpPr>
          <p:cNvPr id="27" name="Connector 26"/>
          <p:cNvCxnSpPr/>
          <p:nvPr/>
        </p:nvCxnSpPr>
        <p:spPr>
          <a:xfrm>
            <a:off x="7620000" y="3429000"/>
            <a:ext cx="889000" cy="1079500"/>
          </a:xfrm>
          <a:prstGeom prst="line">
            <a:avLst/>
          </a:prstGeom>
          <a:ln w="25400">
            <a:solidFill>
              <a:srgbClr val="BC4B51"/>
            </a:solidFill>
          </a:ln>
        </p:spPr>
        <p:style>
          <a:lnRef idx="2">
            <a:schemeClr val="accent1"/>
          </a:lnRef>
          <a:fillRef idx="0">
            <a:schemeClr val="accent1"/>
          </a:fillRef>
          <a:effectRef idx="1">
            <a:schemeClr val="accent1"/>
          </a:effectRef>
          <a:fontRef idx="minor">
            <a:schemeClr val="tx1"/>
          </a:fontRef>
        </p:style>
      </p:cxnSp>
      <p:sp>
        <p:nvSpPr>
          <p:cNvPr id="28" name="Freeform 27"/>
          <p:cNvSpPr/>
          <p:nvPr/>
        </p:nvSpPr>
        <p:spPr>
          <a:xfrm>
            <a:off x="8414718" y="4408707"/>
            <a:ext cx="94282" cy="99793"/>
          </a:xfrm>
          <a:custGeom>
            <a:avLst/>
            <a:gdLst/>
            <a:ahLst/>
            <a:cxnLst/>
            <a:rect l="l" t="t" r="r" b="b"/>
            <a:pathLst>
              <a:path w="94282" h="99793">
                <a:moveTo>
                  <a:pt x="94282" y="99793"/>
                </a:moveTo>
                <a:lnTo>
                  <a:pt x="0" y="61930"/>
                </a:lnTo>
                <a:lnTo>
                  <a:pt x="75201" y="0"/>
                </a:lnTo>
                <a:close/>
              </a:path>
            </a:pathLst>
          </a:custGeom>
          <a:solidFill>
            <a:srgbClr val="BC4B5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584200" y="4508500"/>
            <a:ext cx="7239000" cy="1117092"/>
          </a:xfrm>
          <a:prstGeom prst="rect">
            <a:avLst/>
          </a:prstGeom>
          <a:noFill/>
        </p:spPr>
        <p:txBody>
          <a:bodyPr wrap="none" lIns="0" rIns="0" tIns="0" bIns="0">
            <a:spAutoFit/>
          </a:bodyPr>
          <a:lstStyle/>
          <a:p>
            <a:pPr>
              <a:lnSpc>
                <a:spcPts val="2074"/>
              </a:lnSpc>
              <a:spcBef>
                <a:spcPts val="0"/>
              </a:spcBef>
              <a:spcAft>
                <a:spcPts val="0"/>
              </a:spcAft>
              <a:defRPr sz="1700" b="0">
                <a:solidFill>
                  <a:srgbClr val="263A50"/>
                </a:solidFill>
                <a:latin typeface="DejaVu Sans"/>
              </a:defRPr>
            </a:pPr>
            <a:r>
              <a:t>Known online: current TN CSI, released observations, actions and</a:t>
            </a:r>
          </a:p>
          <a:p>
            <a:pPr>
              <a:lnSpc>
                <a:spcPts val="2074"/>
              </a:lnSpc>
              <a:spcBef>
                <a:spcPts val="0"/>
              </a:spcBef>
              <a:spcAft>
                <a:spcPts val="0"/>
              </a:spcAft>
              <a:defRPr sz="1700" b="0">
                <a:solidFill>
                  <a:srgbClr val="263A50"/>
                </a:solidFill>
                <a:latin typeface="DejaVu Sans"/>
              </a:defRPr>
            </a:pPr>
            <a:r>
              <a:t>service history.</a:t>
            </a:r>
          </a:p>
          <a:p>
            <a:pPr>
              <a:lnSpc>
                <a:spcPts val="2074"/>
              </a:lnSpc>
              <a:spcBef>
                <a:spcPts val="0"/>
              </a:spcBef>
              <a:spcAft>
                <a:spcPts val="0"/>
              </a:spcAft>
              <a:defRPr sz="1700" b="0">
                <a:solidFill>
                  <a:srgbClr val="263A50"/>
                </a:solidFill>
                <a:latin typeface="DejaVu Sans"/>
              </a:defRPr>
            </a:pPr>
            <a:r>
              <a:t>Hidden: true NTN DL channels, identities, future activity and</a:t>
            </a:r>
          </a:p>
          <a:p>
            <a:pPr>
              <a:lnSpc>
                <a:spcPts val="2074"/>
              </a:lnSpc>
              <a:spcBef>
                <a:spcPts val="0"/>
              </a:spcBef>
              <a:spcAft>
                <a:spcPts val="0"/>
              </a:spcAft>
              <a:defRPr sz="1700" b="0">
                <a:solidFill>
                  <a:srgbClr val="263A50"/>
                </a:solidFill>
                <a:latin typeface="DejaVu Sans"/>
              </a:defRPr>
            </a:pPr>
            <a:r>
              <a:t>future observations.</a:t>
            </a:r>
          </a:p>
        </p:txBody>
      </p:sp>
      <p:sp>
        <p:nvSpPr>
          <p:cNvPr id="30" name="TextBox 29"/>
          <p:cNvSpPr txBox="1"/>
          <p:nvPr/>
        </p:nvSpPr>
        <p:spPr>
          <a:xfrm>
            <a:off x="558800" y="6553200"/>
            <a:ext cx="10604500" cy="215900"/>
          </a:xfrm>
          <a:prstGeom prst="rect">
            <a:avLst/>
          </a:prstGeom>
          <a:noFill/>
        </p:spPr>
        <p:txBody>
          <a:bodyPr wrap="none" lIns="0" tIns="0">
            <a:spAutoFit/>
          </a:bodyPr>
          <a:lstStyle/>
          <a:p>
            <a:pPr>
              <a:defRPr sz="900">
                <a:solidFill>
                  <a:srgbClr val="617487"/>
                </a:solidFill>
                <a:latin typeface="DejaVu Sans"/>
              </a:defRPr>
            </a:pPr>
            <a:r>
              <a:t>Appendix D.A–B · eq:joint_exposure</a:t>
            </a:r>
          </a:p>
        </p:txBody>
      </p:sp>
      <p:sp>
        <p:nvSpPr>
          <p:cNvPr id="31" name="TextBox 30"/>
          <p:cNvSpPr txBox="1"/>
          <p:nvPr/>
        </p:nvSpPr>
        <p:spPr>
          <a:xfrm>
            <a:off x="11239500" y="6553200"/>
            <a:ext cx="825500" cy="215900"/>
          </a:xfrm>
          <a:prstGeom prst="rect">
            <a:avLst/>
          </a:prstGeom>
          <a:noFill/>
        </p:spPr>
        <p:txBody>
          <a:bodyPr wrap="none" lIns="0" tIns="0">
            <a:spAutoFit/>
          </a:bodyPr>
          <a:lstStyle/>
          <a:p>
            <a:pPr>
              <a:defRPr sz="900">
                <a:solidFill>
                  <a:srgbClr val="617487"/>
                </a:solidFill>
                <a:latin typeface="DejaVu Sans"/>
              </a:defRPr>
            </a:pPr>
            <a:r>
              <a:t>03 / 30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58800" y="304800"/>
            <a:ext cx="10795000" cy="264922"/>
          </a:xfrm>
          <a:prstGeom prst="rect">
            <a:avLst/>
          </a:prstGeom>
          <a:noFill/>
        </p:spPr>
        <p:txBody>
          <a:bodyPr wrap="none" lIns="0" rIns="0" tIns="0" bIns="0">
            <a:spAutoFit/>
          </a:bodyPr>
          <a:lstStyle/>
          <a:p>
            <a:pPr>
              <a:lnSpc>
                <a:spcPts val="1586"/>
              </a:lnSpc>
              <a:spcBef>
                <a:spcPts val="0"/>
              </a:spcBef>
              <a:spcAft>
                <a:spcPts val="0"/>
              </a:spcAft>
              <a:defRPr sz="1300" b="1">
                <a:solidFill>
                  <a:srgbClr val="087F8C"/>
                </a:solidFill>
                <a:latin typeface="DejaVu Sans"/>
              </a:defRPr>
            </a:pPr>
            <a:r>
              <a:t>ARCHITECTURE</a:t>
            </a:r>
          </a:p>
        </p:txBody>
      </p:sp>
      <p:sp>
        <p:nvSpPr>
          <p:cNvPr id="4" name="TextBox 3"/>
          <p:cNvSpPr txBox="1"/>
          <p:nvPr/>
        </p:nvSpPr>
        <p:spPr>
          <a:xfrm>
            <a:off x="558800" y="673100"/>
            <a:ext cx="11150600" cy="414474"/>
          </a:xfrm>
          <a:prstGeom prst="rect">
            <a:avLst/>
          </a:prstGeom>
          <a:noFill/>
        </p:spPr>
        <p:txBody>
          <a:bodyPr wrap="none" lIns="0" rIns="0" tIns="0" bIns="0">
            <a:spAutoFit/>
          </a:bodyPr>
          <a:lstStyle/>
          <a:p>
            <a:pPr>
              <a:lnSpc>
                <a:spcPts val="2763"/>
              </a:lnSpc>
              <a:spcBef>
                <a:spcPts val="0"/>
              </a:spcBef>
              <a:spcAft>
                <a:spcPts val="0"/>
              </a:spcAft>
              <a:defRPr sz="2265" b="1">
                <a:solidFill>
                  <a:srgbClr val="152C46"/>
                </a:solidFill>
                <a:latin typeface="DejaVu Sans"/>
              </a:defRPr>
            </a:pPr>
            <a:r>
              <a:t>The appendix connects sensing to service through two optimizers</a:t>
            </a:r>
          </a:p>
        </p:txBody>
      </p:sp>
      <p:sp>
        <p:nvSpPr>
          <p:cNvPr id="5" name="Rectangle 4"/>
          <p:cNvSpPr/>
          <p:nvPr/>
        </p:nvSpPr>
        <p:spPr>
          <a:xfrm>
            <a:off x="558800" y="1320800"/>
            <a:ext cx="698500" cy="50800"/>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58800" y="5765800"/>
            <a:ext cx="11074400" cy="584200"/>
          </a:xfrm>
          <a:prstGeom prst="roundRect">
            <a:avLst>
              <a:gd name="adj" fmla="val 8000"/>
            </a:avLst>
          </a:prstGeom>
          <a:solidFill>
            <a:srgbClr val="E5F3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62000" y="5905500"/>
            <a:ext cx="10693400" cy="326898"/>
          </a:xfrm>
          <a:prstGeom prst="rect">
            <a:avLst/>
          </a:prstGeom>
          <a:noFill/>
        </p:spPr>
        <p:txBody>
          <a:bodyPr wrap="none" lIns="0" rIns="0" tIns="0" bIns="0">
            <a:spAutoFit/>
          </a:bodyPr>
          <a:lstStyle/>
          <a:p>
            <a:pPr>
              <a:lnSpc>
                <a:spcPts val="2074"/>
              </a:lnSpc>
              <a:spcBef>
                <a:spcPts val="0"/>
              </a:spcBef>
              <a:spcAft>
                <a:spcPts val="0"/>
              </a:spcAft>
              <a:defRPr sz="1700" b="1">
                <a:solidFill>
                  <a:srgbClr val="152C46"/>
                </a:solidFill>
                <a:latin typeface="DejaVu Sans"/>
              </a:defRPr>
            </a:pPr>
            <a:r>
              <a:t>SOCP chooses the best protected transmission; LP decides when it is worth using.</a:t>
            </a:r>
          </a:p>
        </p:txBody>
      </p:sp>
      <p:sp>
        <p:nvSpPr>
          <p:cNvPr id="8" name="Rounded Rectangle 7"/>
          <p:cNvSpPr/>
          <p:nvPr/>
        </p:nvSpPr>
        <p:spPr>
          <a:xfrm>
            <a:off x="558800" y="1778000"/>
            <a:ext cx="3479800" cy="1651000"/>
          </a:xfrm>
          <a:prstGeom prst="roundRect">
            <a:avLst>
              <a:gd name="adj" fmla="val 8000"/>
            </a:avLst>
          </a:prstGeom>
          <a:solidFill>
            <a:srgbClr val="EF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87400" y="1993900"/>
            <a:ext cx="3022600" cy="388874"/>
          </a:xfrm>
          <a:prstGeom prst="rect">
            <a:avLst/>
          </a:prstGeom>
          <a:noFill/>
        </p:spPr>
        <p:txBody>
          <a:bodyPr wrap="none" lIns="0" rIns="0" tIns="0" bIns="0">
            <a:spAutoFit/>
          </a:bodyPr>
          <a:lstStyle/>
          <a:p>
            <a:pPr>
              <a:lnSpc>
                <a:spcPts val="2562"/>
              </a:lnSpc>
              <a:spcBef>
                <a:spcPts val="0"/>
              </a:spcBef>
              <a:spcAft>
                <a:spcPts val="0"/>
              </a:spcAft>
              <a:defRPr sz="2100" b="1">
                <a:solidFill>
                  <a:srgbClr val="087F8C"/>
                </a:solidFill>
                <a:latin typeface="DejaVu Sans"/>
              </a:defRPr>
            </a:pPr>
            <a:r>
              <a:t>Available history</a:t>
            </a:r>
          </a:p>
        </p:txBody>
      </p:sp>
      <p:sp>
        <p:nvSpPr>
          <p:cNvPr id="10" name="TextBox 9"/>
          <p:cNvSpPr txBox="1"/>
          <p:nvPr/>
        </p:nvSpPr>
        <p:spPr>
          <a:xfrm>
            <a:off x="787400" y="2463800"/>
            <a:ext cx="3022600" cy="621284"/>
          </a:xfrm>
          <a:prstGeom prst="rect">
            <a:avLst/>
          </a:prstGeom>
          <a:noFill/>
        </p:spPr>
        <p:txBody>
          <a:bodyPr wrap="none" lIns="0" rIns="0" tIns="0" bIns="0">
            <a:spAutoFit/>
          </a:bodyPr>
          <a:lstStyle/>
          <a:p>
            <a:pPr>
              <a:lnSpc>
                <a:spcPts val="2196"/>
              </a:lnSpc>
              <a:spcBef>
                <a:spcPts val="0"/>
              </a:spcBef>
              <a:spcAft>
                <a:spcPts val="0"/>
              </a:spcAft>
              <a:defRPr sz="1800" b="0">
                <a:solidFill>
                  <a:srgbClr val="263A50"/>
                </a:solidFill>
                <a:latin typeface="DejaVu Sans"/>
              </a:defRPr>
            </a:pPr>
            <a:r>
              <a:t>Released estimates</a:t>
            </a:r>
          </a:p>
          <a:p>
            <a:pPr>
              <a:lnSpc>
                <a:spcPts val="2196"/>
              </a:lnSpc>
              <a:spcBef>
                <a:spcPts val="0"/>
              </a:spcBef>
              <a:spcAft>
                <a:spcPts val="0"/>
              </a:spcAft>
              <a:defRPr sz="1800" b="0">
                <a:solidFill>
                  <a:srgbClr val="263A50"/>
                </a:solidFill>
                <a:latin typeface="DejaVu Sans"/>
              </a:defRPr>
            </a:pPr>
            <a:r>
              <a:t>Quality and age</a:t>
            </a:r>
          </a:p>
        </p:txBody>
      </p:sp>
      <p:cxnSp>
        <p:nvCxnSpPr>
          <p:cNvPr id="11" name="Connector 10"/>
          <p:cNvCxnSpPr/>
          <p:nvPr/>
        </p:nvCxnSpPr>
        <p:spPr>
          <a:xfrm>
            <a:off x="4076700" y="2616200"/>
            <a:ext cx="215900" cy="0"/>
          </a:xfrm>
          <a:prstGeom prst="line">
            <a:avLst/>
          </a:prstGeom>
          <a:ln w="25400">
            <a:solidFill>
              <a:srgbClr val="087F8C"/>
            </a:solidFill>
          </a:ln>
        </p:spPr>
        <p:style>
          <a:lnRef idx="2">
            <a:schemeClr val="accent1"/>
          </a:lnRef>
          <a:fillRef idx="0">
            <a:schemeClr val="accent1"/>
          </a:fillRef>
          <a:effectRef idx="1">
            <a:schemeClr val="accent1"/>
          </a:effectRef>
          <a:fontRef idx="minor">
            <a:schemeClr val="tx1"/>
          </a:fontRef>
        </p:style>
      </p:cxnSp>
      <p:sp>
        <p:nvSpPr>
          <p:cNvPr id="12" name="Freeform 11"/>
          <p:cNvSpPr/>
          <p:nvPr/>
        </p:nvSpPr>
        <p:spPr>
          <a:xfrm>
            <a:off x="4203437" y="2567490"/>
            <a:ext cx="89163" cy="97419"/>
          </a:xfrm>
          <a:custGeom>
            <a:avLst/>
            <a:gdLst/>
            <a:ahLst/>
            <a:cxnLst/>
            <a:rect l="l" t="t" r="r" b="b"/>
            <a:pathLst>
              <a:path w="89163" h="97419">
                <a:moveTo>
                  <a:pt x="89163" y="48710"/>
                </a:moveTo>
                <a:lnTo>
                  <a:pt x="0" y="97419"/>
                </a:lnTo>
                <a:lnTo>
                  <a:pt x="0" y="0"/>
                </a:lnTo>
                <a:close/>
              </a:path>
            </a:pathLst>
          </a:cu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4356100" y="1778000"/>
            <a:ext cx="3479800" cy="1651000"/>
          </a:xfrm>
          <a:prstGeom prst="roundRect">
            <a:avLst>
              <a:gd name="adj" fmla="val 8000"/>
            </a:avLst>
          </a:prstGeom>
          <a:solidFill>
            <a:srgbClr val="EF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84700" y="1993900"/>
            <a:ext cx="3022600" cy="388874"/>
          </a:xfrm>
          <a:prstGeom prst="rect">
            <a:avLst/>
          </a:prstGeom>
          <a:noFill/>
        </p:spPr>
        <p:txBody>
          <a:bodyPr wrap="none" lIns="0" rIns="0" tIns="0" bIns="0">
            <a:spAutoFit/>
          </a:bodyPr>
          <a:lstStyle/>
          <a:p>
            <a:pPr>
              <a:lnSpc>
                <a:spcPts val="2562"/>
              </a:lnSpc>
              <a:spcBef>
                <a:spcPts val="0"/>
              </a:spcBef>
              <a:spcAft>
                <a:spcPts val="0"/>
              </a:spcAft>
              <a:defRPr sz="2100" b="1">
                <a:solidFill>
                  <a:srgbClr val="087F8C"/>
                </a:solidFill>
                <a:latin typeface="DejaVu Sans"/>
              </a:defRPr>
            </a:pPr>
            <a:r>
              <a:t>Protection catalog</a:t>
            </a:r>
          </a:p>
        </p:txBody>
      </p:sp>
      <p:sp>
        <p:nvSpPr>
          <p:cNvPr id="15" name="TextBox 14"/>
          <p:cNvSpPr txBox="1"/>
          <p:nvPr/>
        </p:nvSpPr>
        <p:spPr>
          <a:xfrm>
            <a:off x="4584700" y="2463800"/>
            <a:ext cx="3022600" cy="621284"/>
          </a:xfrm>
          <a:prstGeom prst="rect">
            <a:avLst/>
          </a:prstGeom>
          <a:noFill/>
        </p:spPr>
        <p:txBody>
          <a:bodyPr wrap="none" lIns="0" rIns="0" tIns="0" bIns="0">
            <a:spAutoFit/>
          </a:bodyPr>
          <a:lstStyle/>
          <a:p>
            <a:pPr>
              <a:lnSpc>
                <a:spcPts val="2196"/>
              </a:lnSpc>
              <a:spcBef>
                <a:spcPts val="0"/>
              </a:spcBef>
              <a:spcAft>
                <a:spcPts val="0"/>
              </a:spcAft>
              <a:defRPr sz="1800" b="0">
                <a:solidFill>
                  <a:srgbClr val="263A50"/>
                </a:solidFill>
                <a:latin typeface="DejaVu Sans"/>
              </a:defRPr>
            </a:pPr>
            <a:r>
              <a:t>Anonymous path groups</a:t>
            </a:r>
          </a:p>
          <a:p>
            <a:pPr>
              <a:lnSpc>
                <a:spcPts val="2196"/>
              </a:lnSpc>
              <a:spcBef>
                <a:spcPts val="0"/>
              </a:spcBef>
              <a:spcAft>
                <a:spcPts val="0"/>
              </a:spcAft>
              <a:defRPr sz="1800" b="0">
                <a:solidFill>
                  <a:srgbClr val="263A50"/>
                </a:solidFill>
                <a:latin typeface="DejaVu Sans"/>
              </a:defRPr>
            </a:pPr>
            <a:r>
              <a:t>Residual and gain bounds</a:t>
            </a:r>
          </a:p>
        </p:txBody>
      </p:sp>
      <p:cxnSp>
        <p:nvCxnSpPr>
          <p:cNvPr id="16" name="Connector 15"/>
          <p:cNvCxnSpPr/>
          <p:nvPr/>
        </p:nvCxnSpPr>
        <p:spPr>
          <a:xfrm>
            <a:off x="7874000" y="2616200"/>
            <a:ext cx="215900" cy="0"/>
          </a:xfrm>
          <a:prstGeom prst="line">
            <a:avLst/>
          </a:prstGeom>
          <a:ln w="25400">
            <a:solidFill>
              <a:srgbClr val="087F8C"/>
            </a:solidFill>
          </a:ln>
        </p:spPr>
        <p:style>
          <a:lnRef idx="2">
            <a:schemeClr val="accent1"/>
          </a:lnRef>
          <a:fillRef idx="0">
            <a:schemeClr val="accent1"/>
          </a:fillRef>
          <a:effectRef idx="1">
            <a:schemeClr val="accent1"/>
          </a:effectRef>
          <a:fontRef idx="minor">
            <a:schemeClr val="tx1"/>
          </a:fontRef>
        </p:style>
      </p:cxnSp>
      <p:sp>
        <p:nvSpPr>
          <p:cNvPr id="17" name="Freeform 16"/>
          <p:cNvSpPr/>
          <p:nvPr/>
        </p:nvSpPr>
        <p:spPr>
          <a:xfrm>
            <a:off x="8000737" y="2567490"/>
            <a:ext cx="89163" cy="97419"/>
          </a:xfrm>
          <a:custGeom>
            <a:avLst/>
            <a:gdLst/>
            <a:ahLst/>
            <a:cxnLst/>
            <a:rect l="l" t="t" r="r" b="b"/>
            <a:pathLst>
              <a:path w="89163" h="97419">
                <a:moveTo>
                  <a:pt x="89163" y="48710"/>
                </a:moveTo>
                <a:lnTo>
                  <a:pt x="0" y="97419"/>
                </a:lnTo>
                <a:lnTo>
                  <a:pt x="0" y="0"/>
                </a:lnTo>
                <a:close/>
              </a:path>
            </a:pathLst>
          </a:cu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8153400" y="1778000"/>
            <a:ext cx="3479800" cy="1651000"/>
          </a:xfrm>
          <a:prstGeom prst="roundRect">
            <a:avLst>
              <a:gd name="adj" fmla="val 8000"/>
            </a:avLst>
          </a:prstGeom>
          <a:solidFill>
            <a:srgbClr val="E5F3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382000" y="1993900"/>
            <a:ext cx="3022600" cy="388874"/>
          </a:xfrm>
          <a:prstGeom prst="rect">
            <a:avLst/>
          </a:prstGeom>
          <a:noFill/>
        </p:spPr>
        <p:txBody>
          <a:bodyPr wrap="none" lIns="0" rIns="0" tIns="0" bIns="0">
            <a:spAutoFit/>
          </a:bodyPr>
          <a:lstStyle/>
          <a:p>
            <a:pPr>
              <a:lnSpc>
                <a:spcPts val="2562"/>
              </a:lnSpc>
              <a:spcBef>
                <a:spcPts val="0"/>
              </a:spcBef>
              <a:spcAft>
                <a:spcPts val="0"/>
              </a:spcAft>
              <a:defRPr sz="2100" b="1">
                <a:solidFill>
                  <a:srgbClr val="087F8C"/>
                </a:solidFill>
                <a:latin typeface="DejaVu Sans"/>
              </a:defRPr>
            </a:pPr>
            <a:r>
              <a:t>Robust SOCP</a:t>
            </a:r>
          </a:p>
        </p:txBody>
      </p:sp>
      <p:sp>
        <p:nvSpPr>
          <p:cNvPr id="20" name="TextBox 19"/>
          <p:cNvSpPr txBox="1"/>
          <p:nvPr/>
        </p:nvSpPr>
        <p:spPr>
          <a:xfrm>
            <a:off x="8382000" y="2463800"/>
            <a:ext cx="3022600" cy="621284"/>
          </a:xfrm>
          <a:prstGeom prst="rect">
            <a:avLst/>
          </a:prstGeom>
          <a:noFill/>
        </p:spPr>
        <p:txBody>
          <a:bodyPr wrap="none" lIns="0" rIns="0" tIns="0" bIns="0">
            <a:spAutoFit/>
          </a:bodyPr>
          <a:lstStyle/>
          <a:p>
            <a:pPr>
              <a:lnSpc>
                <a:spcPts val="2196"/>
              </a:lnSpc>
              <a:spcBef>
                <a:spcPts val="0"/>
              </a:spcBef>
              <a:spcAft>
                <a:spcPts val="0"/>
              </a:spcAft>
              <a:defRPr sz="1800" b="0">
                <a:solidFill>
                  <a:srgbClr val="263A50"/>
                </a:solidFill>
                <a:latin typeface="DejaVu Sans"/>
              </a:defRPr>
            </a:pPr>
            <a:r>
              <a:t>Beam + power</a:t>
            </a:r>
          </a:p>
          <a:p>
            <a:pPr>
              <a:lnSpc>
                <a:spcPts val="2196"/>
              </a:lnSpc>
              <a:spcBef>
                <a:spcPts val="0"/>
              </a:spcBef>
              <a:spcAft>
                <a:spcPts val="0"/>
              </a:spcAft>
              <a:defRPr sz="1800" b="0">
                <a:solidFill>
                  <a:srgbClr val="263A50"/>
                </a:solidFill>
                <a:latin typeface="DejaVu Sans"/>
              </a:defRPr>
            </a:pPr>
            <a:r>
              <a:t>Best feasible service</a:t>
            </a:r>
          </a:p>
        </p:txBody>
      </p:sp>
      <p:sp>
        <p:nvSpPr>
          <p:cNvPr id="21" name="Rounded Rectangle 20"/>
          <p:cNvSpPr/>
          <p:nvPr/>
        </p:nvSpPr>
        <p:spPr>
          <a:xfrm>
            <a:off x="2425700" y="4064000"/>
            <a:ext cx="7353300" cy="1282700"/>
          </a:xfrm>
          <a:prstGeom prst="roundRect">
            <a:avLst>
              <a:gd name="adj" fmla="val 8000"/>
            </a:avLst>
          </a:prstGeom>
          <a:solidFill>
            <a:srgbClr val="E5F3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2654300" y="4279900"/>
            <a:ext cx="6896100" cy="388874"/>
          </a:xfrm>
          <a:prstGeom prst="rect">
            <a:avLst/>
          </a:prstGeom>
          <a:noFill/>
        </p:spPr>
        <p:txBody>
          <a:bodyPr wrap="none" lIns="0" rIns="0" tIns="0" bIns="0">
            <a:spAutoFit/>
          </a:bodyPr>
          <a:lstStyle/>
          <a:p>
            <a:pPr>
              <a:lnSpc>
                <a:spcPts val="2562"/>
              </a:lnSpc>
              <a:spcBef>
                <a:spcPts val="0"/>
              </a:spcBef>
              <a:spcAft>
                <a:spcPts val="0"/>
              </a:spcAft>
              <a:defRPr sz="2100" b="1">
                <a:solidFill>
                  <a:srgbClr val="087F8C"/>
                </a:solidFill>
                <a:latin typeface="DejaVu Sans"/>
              </a:defRPr>
            </a:pPr>
            <a:r>
              <a:t>Finite-history occupation-measure LP</a:t>
            </a:r>
          </a:p>
        </p:txBody>
      </p:sp>
      <p:sp>
        <p:nvSpPr>
          <p:cNvPr id="23" name="TextBox 22"/>
          <p:cNvSpPr txBox="1"/>
          <p:nvPr/>
        </p:nvSpPr>
        <p:spPr>
          <a:xfrm>
            <a:off x="2654300" y="4749800"/>
            <a:ext cx="6896100" cy="621284"/>
          </a:xfrm>
          <a:prstGeom prst="rect">
            <a:avLst/>
          </a:prstGeom>
          <a:noFill/>
        </p:spPr>
        <p:txBody>
          <a:bodyPr wrap="none" lIns="0" rIns="0" tIns="0" bIns="0">
            <a:spAutoFit/>
          </a:bodyPr>
          <a:lstStyle/>
          <a:p>
            <a:pPr>
              <a:lnSpc>
                <a:spcPts val="2196"/>
              </a:lnSpc>
              <a:spcBef>
                <a:spcPts val="0"/>
              </a:spcBef>
              <a:spcAft>
                <a:spcPts val="0"/>
              </a:spcAft>
              <a:defRPr sz="1800" b="0">
                <a:solidFill>
                  <a:srgbClr val="263A50"/>
                </a:solidFill>
                <a:latin typeface="DejaVu Sans"/>
              </a:defRPr>
            </a:pPr>
            <a:r>
              <a:t>Choose listening time, duration, template, service and</a:t>
            </a:r>
          </a:p>
          <a:p>
            <a:pPr>
              <a:lnSpc>
                <a:spcPts val="2196"/>
              </a:lnSpc>
              <a:spcBef>
                <a:spcPts val="0"/>
              </a:spcBef>
              <a:spcAft>
                <a:spcPts val="0"/>
              </a:spcAft>
              <a:defRPr sz="1800" b="0">
                <a:solidFill>
                  <a:srgbClr val="263A50"/>
                </a:solidFill>
                <a:latin typeface="DejaVu Sans"/>
              </a:defRPr>
            </a:pPr>
            <a:r>
              <a:t>silence</a:t>
            </a:r>
          </a:p>
        </p:txBody>
      </p:sp>
      <p:cxnSp>
        <p:nvCxnSpPr>
          <p:cNvPr id="24" name="Connector 23"/>
          <p:cNvCxnSpPr/>
          <p:nvPr/>
        </p:nvCxnSpPr>
        <p:spPr>
          <a:xfrm flipH="1">
            <a:off x="9042400" y="3505200"/>
            <a:ext cx="850900" cy="508000"/>
          </a:xfrm>
          <a:prstGeom prst="line">
            <a:avLst/>
          </a:prstGeom>
          <a:ln w="25400">
            <a:solidFill>
              <a:srgbClr val="087F8C"/>
            </a:solidFill>
          </a:ln>
        </p:spPr>
        <p:style>
          <a:lnRef idx="2">
            <a:schemeClr val="accent1"/>
          </a:lnRef>
          <a:fillRef idx="0">
            <a:schemeClr val="accent1"/>
          </a:fillRef>
          <a:effectRef idx="1">
            <a:schemeClr val="accent1"/>
          </a:effectRef>
          <a:fontRef idx="minor">
            <a:schemeClr val="tx1"/>
          </a:fontRef>
        </p:style>
      </p:cxnSp>
      <p:sp>
        <p:nvSpPr>
          <p:cNvPr id="25" name="Freeform 24"/>
          <p:cNvSpPr/>
          <p:nvPr/>
        </p:nvSpPr>
        <p:spPr>
          <a:xfrm>
            <a:off x="9042400" y="3925671"/>
            <a:ext cx="101525" cy="87529"/>
          </a:xfrm>
          <a:custGeom>
            <a:avLst/>
            <a:gdLst/>
            <a:ahLst/>
            <a:cxnLst/>
            <a:rect l="l" t="t" r="r" b="b"/>
            <a:pathLst>
              <a:path w="101525" h="87529">
                <a:moveTo>
                  <a:pt x="0" y="87529"/>
                </a:moveTo>
                <a:lnTo>
                  <a:pt x="51587" y="0"/>
                </a:lnTo>
                <a:lnTo>
                  <a:pt x="101525" y="83646"/>
                </a:lnTo>
                <a:close/>
              </a:path>
            </a:pathLst>
          </a:cu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6" name="Connector 25"/>
          <p:cNvCxnSpPr/>
          <p:nvPr/>
        </p:nvCxnSpPr>
        <p:spPr>
          <a:xfrm flipH="1" flipV="1">
            <a:off x="2209800" y="3505200"/>
            <a:ext cx="381000" cy="520700"/>
          </a:xfrm>
          <a:prstGeom prst="line">
            <a:avLst/>
          </a:prstGeom>
          <a:ln w="25400">
            <a:solidFill>
              <a:srgbClr val="087F8C"/>
            </a:solidFill>
          </a:ln>
        </p:spPr>
        <p:style>
          <a:lnRef idx="2">
            <a:schemeClr val="accent1"/>
          </a:lnRef>
          <a:fillRef idx="0">
            <a:schemeClr val="accent1"/>
          </a:fillRef>
          <a:effectRef idx="1">
            <a:schemeClr val="accent1"/>
          </a:effectRef>
          <a:fontRef idx="minor">
            <a:schemeClr val="tx1"/>
          </a:fontRef>
        </p:style>
      </p:cxnSp>
      <p:sp>
        <p:nvSpPr>
          <p:cNvPr id="27" name="Freeform 26"/>
          <p:cNvSpPr/>
          <p:nvPr/>
        </p:nvSpPr>
        <p:spPr>
          <a:xfrm>
            <a:off x="2209800" y="3505200"/>
            <a:ext cx="91961" cy="100720"/>
          </a:xfrm>
          <a:custGeom>
            <a:avLst/>
            <a:gdLst/>
            <a:ahLst/>
            <a:cxnLst/>
            <a:rect l="l" t="t" r="r" b="b"/>
            <a:pathLst>
              <a:path w="91961" h="100720">
                <a:moveTo>
                  <a:pt x="0" y="0"/>
                </a:moveTo>
                <a:lnTo>
                  <a:pt x="91961" y="43193"/>
                </a:lnTo>
                <a:lnTo>
                  <a:pt x="13341" y="100720"/>
                </a:lnTo>
                <a:close/>
              </a:path>
            </a:pathLst>
          </a:cu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467100" y="3644900"/>
            <a:ext cx="6096000" cy="295910"/>
          </a:xfrm>
          <a:prstGeom prst="rect">
            <a:avLst/>
          </a:prstGeom>
          <a:noFill/>
        </p:spPr>
        <p:txBody>
          <a:bodyPr wrap="none" lIns="0" rIns="0" tIns="0" bIns="0">
            <a:spAutoFit/>
          </a:bodyPr>
          <a:lstStyle/>
          <a:p>
            <a:pPr algn="ctr">
              <a:lnSpc>
                <a:spcPts val="1830"/>
              </a:lnSpc>
              <a:spcBef>
                <a:spcPts val="0"/>
              </a:spcBef>
              <a:spcAft>
                <a:spcPts val="0"/>
              </a:spcAft>
              <a:defRPr sz="1500" b="0">
                <a:solidFill>
                  <a:srgbClr val="617487"/>
                </a:solidFill>
                <a:latin typeface="DejaVu Sans"/>
              </a:defRPr>
            </a:pPr>
            <a:r>
              <a:t>observation transitions + risk + deadline costs</a:t>
            </a:r>
          </a:p>
        </p:txBody>
      </p:sp>
      <p:sp>
        <p:nvSpPr>
          <p:cNvPr id="29" name="TextBox 28"/>
          <p:cNvSpPr txBox="1"/>
          <p:nvPr/>
        </p:nvSpPr>
        <p:spPr>
          <a:xfrm>
            <a:off x="558800" y="6553200"/>
            <a:ext cx="10604500" cy="215900"/>
          </a:xfrm>
          <a:prstGeom prst="rect">
            <a:avLst/>
          </a:prstGeom>
          <a:noFill/>
        </p:spPr>
        <p:txBody>
          <a:bodyPr wrap="none" lIns="0" tIns="0">
            <a:spAutoFit/>
          </a:bodyPr>
          <a:lstStyle/>
          <a:p>
            <a:pPr>
              <a:defRPr sz="900">
                <a:solidFill>
                  <a:srgbClr val="617487"/>
                </a:solidFill>
                <a:latin typeface="DejaVu Sans"/>
              </a:defRPr>
            </a:pPr>
            <a:r>
              <a:t>Appendix D</a:t>
            </a:r>
          </a:p>
        </p:txBody>
      </p:sp>
      <p:sp>
        <p:nvSpPr>
          <p:cNvPr id="30" name="TextBox 29"/>
          <p:cNvSpPr txBox="1"/>
          <p:nvPr/>
        </p:nvSpPr>
        <p:spPr>
          <a:xfrm>
            <a:off x="11239500" y="6553200"/>
            <a:ext cx="825500" cy="215900"/>
          </a:xfrm>
          <a:prstGeom prst="rect">
            <a:avLst/>
          </a:prstGeom>
          <a:noFill/>
        </p:spPr>
        <p:txBody>
          <a:bodyPr wrap="none" lIns="0" tIns="0">
            <a:spAutoFit/>
          </a:bodyPr>
          <a:lstStyle/>
          <a:p>
            <a:pPr>
              <a:defRPr sz="900">
                <a:solidFill>
                  <a:srgbClr val="617487"/>
                </a:solidFill>
                <a:latin typeface="DejaVu Sans"/>
              </a:defRPr>
            </a:pPr>
            <a:r>
              <a:t>04 / 30</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58800" y="304800"/>
            <a:ext cx="10795000" cy="264922"/>
          </a:xfrm>
          <a:prstGeom prst="rect">
            <a:avLst/>
          </a:prstGeom>
          <a:noFill/>
        </p:spPr>
        <p:txBody>
          <a:bodyPr wrap="none" lIns="0" rIns="0" tIns="0" bIns="0">
            <a:spAutoFit/>
          </a:bodyPr>
          <a:lstStyle/>
          <a:p>
            <a:pPr>
              <a:lnSpc>
                <a:spcPts val="1586"/>
              </a:lnSpc>
              <a:spcBef>
                <a:spcPts val="0"/>
              </a:spcBef>
              <a:spcAft>
                <a:spcPts val="0"/>
              </a:spcAft>
              <a:defRPr sz="1300" b="1">
                <a:solidFill>
                  <a:srgbClr val="087F8C"/>
                </a:solidFill>
                <a:latin typeface="DejaVu Sans"/>
              </a:defRPr>
            </a:pPr>
            <a:r>
              <a:t>A · TIMING</a:t>
            </a:r>
          </a:p>
        </p:txBody>
      </p:sp>
      <p:sp>
        <p:nvSpPr>
          <p:cNvPr id="4" name="TextBox 3"/>
          <p:cNvSpPr txBox="1"/>
          <p:nvPr/>
        </p:nvSpPr>
        <p:spPr>
          <a:xfrm>
            <a:off x="558800" y="673100"/>
            <a:ext cx="11150600" cy="514050"/>
          </a:xfrm>
          <a:prstGeom prst="rect">
            <a:avLst/>
          </a:prstGeom>
          <a:noFill/>
        </p:spPr>
        <p:txBody>
          <a:bodyPr wrap="none" lIns="0" rIns="0" tIns="0" bIns="0">
            <a:spAutoFit/>
          </a:bodyPr>
          <a:lstStyle/>
          <a:p>
            <a:pPr>
              <a:lnSpc>
                <a:spcPts val="3547"/>
              </a:lnSpc>
              <a:spcBef>
                <a:spcPts val="0"/>
              </a:spcBef>
              <a:spcAft>
                <a:spcPts val="0"/>
              </a:spcAft>
              <a:defRPr sz="2907" b="1">
                <a:solidFill>
                  <a:srgbClr val="152C46"/>
                </a:solidFill>
                <a:latin typeface="DejaVu Sans"/>
              </a:defRPr>
            </a:pPr>
            <a:r>
              <a:t>A new estimate is unavailable until its release time</a:t>
            </a:r>
          </a:p>
        </p:txBody>
      </p:sp>
      <p:sp>
        <p:nvSpPr>
          <p:cNvPr id="5" name="Rectangle 4"/>
          <p:cNvSpPr/>
          <p:nvPr/>
        </p:nvSpPr>
        <p:spPr>
          <a:xfrm>
            <a:off x="558800" y="1320800"/>
            <a:ext cx="698500" cy="50800"/>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58800" y="5765800"/>
            <a:ext cx="11074400" cy="584200"/>
          </a:xfrm>
          <a:prstGeom prst="roundRect">
            <a:avLst>
              <a:gd name="adj" fmla="val 8000"/>
            </a:avLst>
          </a:prstGeom>
          <a:solidFill>
            <a:srgbClr val="E5F3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62000" y="5905500"/>
            <a:ext cx="10693400" cy="326898"/>
          </a:xfrm>
          <a:prstGeom prst="rect">
            <a:avLst/>
          </a:prstGeom>
          <a:noFill/>
        </p:spPr>
        <p:txBody>
          <a:bodyPr wrap="none" lIns="0" rIns="0" tIns="0" bIns="0">
            <a:spAutoFit/>
          </a:bodyPr>
          <a:lstStyle/>
          <a:p>
            <a:pPr>
              <a:lnSpc>
                <a:spcPts val="2074"/>
              </a:lnSpc>
              <a:spcBef>
                <a:spcPts val="0"/>
              </a:spcBef>
              <a:spcAft>
                <a:spcPts val="0"/>
              </a:spcAft>
              <a:defRPr sz="1700" b="1">
                <a:solidFill>
                  <a:srgbClr val="152C46"/>
                </a:solidFill>
                <a:latin typeface="DejaVu Sans"/>
              </a:defRPr>
            </a:pPr>
            <a:r>
              <a:t>At release: age = 7 − 1 = 6. A rejected observation keeps the previous record.</a:t>
            </a:r>
          </a:p>
        </p:txBody>
      </p:sp>
      <p:sp>
        <p:nvSpPr>
          <p:cNvPr id="8" name="Rounded Rectangle 7"/>
          <p:cNvSpPr/>
          <p:nvPr/>
        </p:nvSpPr>
        <p:spPr>
          <a:xfrm>
            <a:off x="1397000" y="2108200"/>
            <a:ext cx="1117600" cy="800100"/>
          </a:xfrm>
          <a:prstGeom prst="roundRect">
            <a:avLst>
              <a:gd name="adj" fmla="val 8000"/>
            </a:avLst>
          </a:prstGeom>
          <a:solidFill>
            <a:srgbClr val="D89B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435100" y="2362200"/>
            <a:ext cx="1041400" cy="326898"/>
          </a:xfrm>
          <a:prstGeom prst="rect">
            <a:avLst/>
          </a:prstGeom>
          <a:noFill/>
        </p:spPr>
        <p:txBody>
          <a:bodyPr wrap="none" lIns="0" rIns="0" tIns="0" bIns="0">
            <a:spAutoFit/>
          </a:bodyPr>
          <a:lstStyle/>
          <a:p>
            <a:pPr algn="ctr">
              <a:lnSpc>
                <a:spcPts val="2074"/>
              </a:lnSpc>
              <a:spcBef>
                <a:spcPts val="0"/>
              </a:spcBef>
              <a:spcAft>
                <a:spcPts val="0"/>
              </a:spcAft>
              <a:defRPr sz="1700" b="1">
                <a:solidFill>
                  <a:srgbClr val="FFFFFF"/>
                </a:solidFill>
                <a:latin typeface="DejaVu Sans"/>
              </a:defRPr>
            </a:pPr>
            <a:r>
              <a:t>Enter</a:t>
            </a:r>
          </a:p>
        </p:txBody>
      </p:sp>
      <p:sp>
        <p:nvSpPr>
          <p:cNvPr id="10" name="Rounded Rectangle 9"/>
          <p:cNvSpPr/>
          <p:nvPr/>
        </p:nvSpPr>
        <p:spPr>
          <a:xfrm>
            <a:off x="2552700" y="2108200"/>
            <a:ext cx="2273300" cy="800100"/>
          </a:xfrm>
          <a:prstGeom prst="roundRect">
            <a:avLst>
              <a:gd name="adj" fmla="val 8000"/>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590800" y="2362200"/>
            <a:ext cx="2197100" cy="326898"/>
          </a:xfrm>
          <a:prstGeom prst="rect">
            <a:avLst/>
          </a:prstGeom>
          <a:noFill/>
        </p:spPr>
        <p:txBody>
          <a:bodyPr wrap="none" lIns="0" rIns="0" tIns="0" bIns="0">
            <a:spAutoFit/>
          </a:bodyPr>
          <a:lstStyle/>
          <a:p>
            <a:pPr algn="ctr">
              <a:lnSpc>
                <a:spcPts val="2074"/>
              </a:lnSpc>
              <a:spcBef>
                <a:spcPts val="0"/>
              </a:spcBef>
              <a:spcAft>
                <a:spcPts val="0"/>
              </a:spcAft>
              <a:defRPr sz="1700" b="1">
                <a:solidFill>
                  <a:srgbClr val="FFFFFF"/>
                </a:solidFill>
                <a:latin typeface="DejaVu Sans"/>
              </a:defRPr>
            </a:pPr>
            <a:r>
              <a:t>Listen</a:t>
            </a:r>
          </a:p>
        </p:txBody>
      </p:sp>
      <p:sp>
        <p:nvSpPr>
          <p:cNvPr id="12" name="Rounded Rectangle 11"/>
          <p:cNvSpPr/>
          <p:nvPr/>
        </p:nvSpPr>
        <p:spPr>
          <a:xfrm>
            <a:off x="4864100" y="2108200"/>
            <a:ext cx="1117600" cy="800100"/>
          </a:xfrm>
          <a:prstGeom prst="roundRect">
            <a:avLst>
              <a:gd name="adj" fmla="val 8000"/>
            </a:avLst>
          </a:prstGeom>
          <a:solidFill>
            <a:srgbClr val="D89B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902200" y="2362200"/>
            <a:ext cx="1041400" cy="326898"/>
          </a:xfrm>
          <a:prstGeom prst="rect">
            <a:avLst/>
          </a:prstGeom>
          <a:noFill/>
        </p:spPr>
        <p:txBody>
          <a:bodyPr wrap="none" lIns="0" rIns="0" tIns="0" bIns="0">
            <a:spAutoFit/>
          </a:bodyPr>
          <a:lstStyle/>
          <a:p>
            <a:pPr algn="ctr">
              <a:lnSpc>
                <a:spcPts val="2074"/>
              </a:lnSpc>
              <a:spcBef>
                <a:spcPts val="0"/>
              </a:spcBef>
              <a:spcAft>
                <a:spcPts val="0"/>
              </a:spcAft>
              <a:defRPr sz="1700" b="1">
                <a:solidFill>
                  <a:srgbClr val="FFFFFF"/>
                </a:solidFill>
                <a:latin typeface="DejaVu Sans"/>
              </a:defRPr>
            </a:pPr>
            <a:r>
              <a:t>Return</a:t>
            </a:r>
          </a:p>
        </p:txBody>
      </p:sp>
      <p:sp>
        <p:nvSpPr>
          <p:cNvPr id="14" name="Rounded Rectangle 13"/>
          <p:cNvSpPr/>
          <p:nvPr/>
        </p:nvSpPr>
        <p:spPr>
          <a:xfrm>
            <a:off x="6019800" y="2108200"/>
            <a:ext cx="3429000" cy="800100"/>
          </a:xfrm>
          <a:prstGeom prst="roundRect">
            <a:avLst>
              <a:gd name="adj" fmla="val 8000"/>
            </a:avLst>
          </a:prstGeom>
          <a:solidFill>
            <a:srgbClr val="326D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057900" y="2362200"/>
            <a:ext cx="3352800" cy="326898"/>
          </a:xfrm>
          <a:prstGeom prst="rect">
            <a:avLst/>
          </a:prstGeom>
          <a:noFill/>
        </p:spPr>
        <p:txBody>
          <a:bodyPr wrap="none" lIns="0" rIns="0" tIns="0" bIns="0">
            <a:spAutoFit/>
          </a:bodyPr>
          <a:lstStyle/>
          <a:p>
            <a:pPr algn="ctr">
              <a:lnSpc>
                <a:spcPts val="2074"/>
              </a:lnSpc>
              <a:spcBef>
                <a:spcPts val="0"/>
              </a:spcBef>
              <a:spcAft>
                <a:spcPts val="0"/>
              </a:spcAft>
              <a:defRPr sz="1700" b="1">
                <a:solidFill>
                  <a:srgbClr val="FFFFFF"/>
                </a:solidFill>
                <a:latin typeface="DejaVu Sans"/>
              </a:defRPr>
            </a:pPr>
            <a:r>
              <a:t>Process</a:t>
            </a:r>
          </a:p>
        </p:txBody>
      </p:sp>
      <p:cxnSp>
        <p:nvCxnSpPr>
          <p:cNvPr id="16" name="Connector 15"/>
          <p:cNvCxnSpPr/>
          <p:nvPr/>
        </p:nvCxnSpPr>
        <p:spPr>
          <a:xfrm>
            <a:off x="1397000" y="2946400"/>
            <a:ext cx="0" cy="127000"/>
          </a:xfrm>
          <a:prstGeom prst="line">
            <a:avLst/>
          </a:prstGeom>
          <a:ln w="12700">
            <a:solidFill>
              <a:srgbClr val="617487"/>
            </a:solidFill>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1181100" y="3124200"/>
            <a:ext cx="431800" cy="295910"/>
          </a:xfrm>
          <a:prstGeom prst="rect">
            <a:avLst/>
          </a:prstGeom>
          <a:noFill/>
        </p:spPr>
        <p:txBody>
          <a:bodyPr wrap="none" lIns="0" rIns="0" tIns="0" bIns="0">
            <a:spAutoFit/>
          </a:bodyPr>
          <a:lstStyle/>
          <a:p>
            <a:pPr algn="ctr">
              <a:lnSpc>
                <a:spcPts val="1830"/>
              </a:lnSpc>
              <a:spcBef>
                <a:spcPts val="0"/>
              </a:spcBef>
              <a:spcAft>
                <a:spcPts val="0"/>
              </a:spcAft>
              <a:defRPr sz="1500" b="0">
                <a:solidFill>
                  <a:srgbClr val="617487"/>
                </a:solidFill>
                <a:latin typeface="DejaVu Sans"/>
              </a:defRPr>
            </a:pPr>
            <a:r>
              <a:t>0</a:t>
            </a:r>
          </a:p>
        </p:txBody>
      </p:sp>
      <p:cxnSp>
        <p:nvCxnSpPr>
          <p:cNvPr id="18" name="Connector 17"/>
          <p:cNvCxnSpPr/>
          <p:nvPr/>
        </p:nvCxnSpPr>
        <p:spPr>
          <a:xfrm>
            <a:off x="2552700" y="2946400"/>
            <a:ext cx="0" cy="127000"/>
          </a:xfrm>
          <a:prstGeom prst="line">
            <a:avLst/>
          </a:prstGeom>
          <a:ln w="12700">
            <a:solidFill>
              <a:srgbClr val="617487"/>
            </a:solidFill>
          </a:ln>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2336800" y="3124200"/>
            <a:ext cx="431800" cy="295910"/>
          </a:xfrm>
          <a:prstGeom prst="rect">
            <a:avLst/>
          </a:prstGeom>
          <a:noFill/>
        </p:spPr>
        <p:txBody>
          <a:bodyPr wrap="none" lIns="0" rIns="0" tIns="0" bIns="0">
            <a:spAutoFit/>
          </a:bodyPr>
          <a:lstStyle/>
          <a:p>
            <a:pPr algn="ctr">
              <a:lnSpc>
                <a:spcPts val="1830"/>
              </a:lnSpc>
              <a:spcBef>
                <a:spcPts val="0"/>
              </a:spcBef>
              <a:spcAft>
                <a:spcPts val="0"/>
              </a:spcAft>
              <a:defRPr sz="1500" b="0">
                <a:solidFill>
                  <a:srgbClr val="617487"/>
                </a:solidFill>
                <a:latin typeface="DejaVu Sans"/>
              </a:defRPr>
            </a:pPr>
            <a:r>
              <a:t>1</a:t>
            </a:r>
          </a:p>
        </p:txBody>
      </p:sp>
      <p:cxnSp>
        <p:nvCxnSpPr>
          <p:cNvPr id="20" name="Connector 19"/>
          <p:cNvCxnSpPr/>
          <p:nvPr/>
        </p:nvCxnSpPr>
        <p:spPr>
          <a:xfrm>
            <a:off x="4864100" y="2946400"/>
            <a:ext cx="0" cy="127000"/>
          </a:xfrm>
          <a:prstGeom prst="line">
            <a:avLst/>
          </a:prstGeom>
          <a:ln w="12700">
            <a:solidFill>
              <a:srgbClr val="617487"/>
            </a:solidFill>
          </a:ln>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4648200" y="3124200"/>
            <a:ext cx="431800" cy="295910"/>
          </a:xfrm>
          <a:prstGeom prst="rect">
            <a:avLst/>
          </a:prstGeom>
          <a:noFill/>
        </p:spPr>
        <p:txBody>
          <a:bodyPr wrap="none" lIns="0" rIns="0" tIns="0" bIns="0">
            <a:spAutoFit/>
          </a:bodyPr>
          <a:lstStyle/>
          <a:p>
            <a:pPr algn="ctr">
              <a:lnSpc>
                <a:spcPts val="1830"/>
              </a:lnSpc>
              <a:spcBef>
                <a:spcPts val="0"/>
              </a:spcBef>
              <a:spcAft>
                <a:spcPts val="0"/>
              </a:spcAft>
              <a:defRPr sz="1500" b="0">
                <a:solidFill>
                  <a:srgbClr val="617487"/>
                </a:solidFill>
                <a:latin typeface="DejaVu Sans"/>
              </a:defRPr>
            </a:pPr>
            <a:r>
              <a:t>3</a:t>
            </a:r>
          </a:p>
        </p:txBody>
      </p:sp>
      <p:cxnSp>
        <p:nvCxnSpPr>
          <p:cNvPr id="22" name="Connector 21"/>
          <p:cNvCxnSpPr/>
          <p:nvPr/>
        </p:nvCxnSpPr>
        <p:spPr>
          <a:xfrm>
            <a:off x="6019800" y="2946400"/>
            <a:ext cx="0" cy="127000"/>
          </a:xfrm>
          <a:prstGeom prst="line">
            <a:avLst/>
          </a:prstGeom>
          <a:ln w="12700">
            <a:solidFill>
              <a:srgbClr val="617487"/>
            </a:solidFill>
          </a:ln>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5803900" y="3124200"/>
            <a:ext cx="431800" cy="295910"/>
          </a:xfrm>
          <a:prstGeom prst="rect">
            <a:avLst/>
          </a:prstGeom>
          <a:noFill/>
        </p:spPr>
        <p:txBody>
          <a:bodyPr wrap="none" lIns="0" rIns="0" tIns="0" bIns="0">
            <a:spAutoFit/>
          </a:bodyPr>
          <a:lstStyle/>
          <a:p>
            <a:pPr algn="ctr">
              <a:lnSpc>
                <a:spcPts val="1830"/>
              </a:lnSpc>
              <a:spcBef>
                <a:spcPts val="0"/>
              </a:spcBef>
              <a:spcAft>
                <a:spcPts val="0"/>
              </a:spcAft>
              <a:defRPr sz="1500" b="0">
                <a:solidFill>
                  <a:srgbClr val="617487"/>
                </a:solidFill>
                <a:latin typeface="DejaVu Sans"/>
              </a:defRPr>
            </a:pPr>
            <a:r>
              <a:t>4</a:t>
            </a:r>
          </a:p>
        </p:txBody>
      </p:sp>
      <p:cxnSp>
        <p:nvCxnSpPr>
          <p:cNvPr id="24" name="Connector 23"/>
          <p:cNvCxnSpPr/>
          <p:nvPr/>
        </p:nvCxnSpPr>
        <p:spPr>
          <a:xfrm>
            <a:off x="9486900" y="2946400"/>
            <a:ext cx="0" cy="127000"/>
          </a:xfrm>
          <a:prstGeom prst="line">
            <a:avLst/>
          </a:prstGeom>
          <a:ln w="12700">
            <a:solidFill>
              <a:srgbClr val="617487"/>
            </a:solidFill>
          </a:ln>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9271000" y="3124200"/>
            <a:ext cx="431800" cy="295910"/>
          </a:xfrm>
          <a:prstGeom prst="rect">
            <a:avLst/>
          </a:prstGeom>
          <a:noFill/>
        </p:spPr>
        <p:txBody>
          <a:bodyPr wrap="none" lIns="0" rIns="0" tIns="0" bIns="0">
            <a:spAutoFit/>
          </a:bodyPr>
          <a:lstStyle/>
          <a:p>
            <a:pPr algn="ctr">
              <a:lnSpc>
                <a:spcPts val="1830"/>
              </a:lnSpc>
              <a:spcBef>
                <a:spcPts val="0"/>
              </a:spcBef>
              <a:spcAft>
                <a:spcPts val="0"/>
              </a:spcAft>
              <a:defRPr sz="1500" b="0">
                <a:solidFill>
                  <a:srgbClr val="617487"/>
                </a:solidFill>
                <a:latin typeface="DejaVu Sans"/>
              </a:defRPr>
            </a:pPr>
            <a:r>
              <a:t>7</a:t>
            </a:r>
          </a:p>
        </p:txBody>
      </p:sp>
      <p:sp>
        <p:nvSpPr>
          <p:cNvPr id="26" name="TextBox 25"/>
          <p:cNvSpPr txBox="1"/>
          <p:nvPr/>
        </p:nvSpPr>
        <p:spPr>
          <a:xfrm>
            <a:off x="1409700" y="3644900"/>
            <a:ext cx="4445000" cy="590296"/>
          </a:xfrm>
          <a:prstGeom prst="rect">
            <a:avLst/>
          </a:prstGeom>
          <a:noFill/>
        </p:spPr>
        <p:txBody>
          <a:bodyPr wrap="none" lIns="0" rIns="0" tIns="0" bIns="0">
            <a:spAutoFit/>
          </a:bodyPr>
          <a:lstStyle/>
          <a:p>
            <a:pPr>
              <a:lnSpc>
                <a:spcPts val="2074"/>
              </a:lnSpc>
              <a:spcBef>
                <a:spcPts val="0"/>
              </a:spcBef>
              <a:spcAft>
                <a:spcPts val="0"/>
              </a:spcAft>
              <a:defRPr sz="1700" b="1">
                <a:solidFill>
                  <a:srgbClr val="BC4B51"/>
                </a:solidFill>
                <a:latin typeface="DejaVu Sans"/>
              </a:defRPr>
            </a:pPr>
            <a:r>
              <a:t>RF unavailable: no affected TN</a:t>
            </a:r>
          </a:p>
          <a:p>
            <a:pPr>
              <a:lnSpc>
                <a:spcPts val="2074"/>
              </a:lnSpc>
              <a:spcBef>
                <a:spcPts val="0"/>
              </a:spcBef>
              <a:spcAft>
                <a:spcPts val="0"/>
              </a:spcAft>
              <a:defRPr sz="1700" b="1">
                <a:solidFill>
                  <a:srgbClr val="BC4B51"/>
                </a:solidFill>
                <a:latin typeface="DejaVu Sans"/>
              </a:defRPr>
            </a:pPr>
            <a:r>
              <a:t>DL/UL</a:t>
            </a:r>
          </a:p>
        </p:txBody>
      </p:sp>
      <p:sp>
        <p:nvSpPr>
          <p:cNvPr id="27" name="TextBox 26"/>
          <p:cNvSpPr txBox="1"/>
          <p:nvPr/>
        </p:nvSpPr>
        <p:spPr>
          <a:xfrm>
            <a:off x="6057900" y="3644900"/>
            <a:ext cx="4178300" cy="590296"/>
          </a:xfrm>
          <a:prstGeom prst="rect">
            <a:avLst/>
          </a:prstGeom>
          <a:noFill/>
        </p:spPr>
        <p:txBody>
          <a:bodyPr wrap="none" lIns="0" rIns="0" tIns="0" bIns="0">
            <a:spAutoFit/>
          </a:bodyPr>
          <a:lstStyle/>
          <a:p>
            <a:pPr>
              <a:lnSpc>
                <a:spcPts val="2074"/>
              </a:lnSpc>
              <a:spcBef>
                <a:spcPts val="0"/>
              </a:spcBef>
              <a:spcAft>
                <a:spcPts val="0"/>
              </a:spcAft>
              <a:defRPr sz="1700" b="1">
                <a:solidFill>
                  <a:srgbClr val="326DD1"/>
                </a:solidFill>
                <a:latin typeface="DejaVu Sans"/>
              </a:defRPr>
            </a:pPr>
            <a:r>
              <a:t>RF returned: service may resume</a:t>
            </a:r>
          </a:p>
          <a:p>
            <a:pPr>
              <a:lnSpc>
                <a:spcPts val="2074"/>
              </a:lnSpc>
              <a:spcBef>
                <a:spcPts val="0"/>
              </a:spcBef>
              <a:spcAft>
                <a:spcPts val="0"/>
              </a:spcAft>
              <a:defRPr sz="1700" b="1">
                <a:solidFill>
                  <a:srgbClr val="326DD1"/>
                </a:solidFill>
                <a:latin typeface="DejaVu Sans"/>
              </a:defRPr>
            </a:pPr>
            <a:r>
              <a:t>using the old record</a:t>
            </a:r>
          </a:p>
        </p:txBody>
      </p:sp>
      <p:pic>
        <p:nvPicPr>
          <p:cNvPr id="28" name="Picture 27" descr="eq_08a6fd2aee368e1.png"/>
          <p:cNvPicPr>
            <a:picLocks noChangeAspect="1"/>
          </p:cNvPicPr>
          <p:nvPr/>
        </p:nvPicPr>
        <p:blipFill>
          <a:blip r:embed="rId2"/>
          <a:stretch>
            <a:fillRect/>
          </a:stretch>
        </p:blipFill>
        <p:spPr>
          <a:xfrm>
            <a:off x="2394589" y="4432300"/>
            <a:ext cx="7377420" cy="431800"/>
          </a:xfrm>
          <a:prstGeom prst="rect">
            <a:avLst/>
          </a:prstGeom>
        </p:spPr>
      </p:pic>
      <p:pic>
        <p:nvPicPr>
          <p:cNvPr id="29" name="Picture 28" descr="eq_43608200633968f.png"/>
          <p:cNvPicPr>
            <a:picLocks noChangeAspect="1"/>
          </p:cNvPicPr>
          <p:nvPr/>
        </p:nvPicPr>
        <p:blipFill>
          <a:blip r:embed="rId3"/>
          <a:stretch>
            <a:fillRect/>
          </a:stretch>
        </p:blipFill>
        <p:spPr>
          <a:xfrm>
            <a:off x="4789220" y="5092700"/>
            <a:ext cx="2689758" cy="393700"/>
          </a:xfrm>
          <a:prstGeom prst="rect">
            <a:avLst/>
          </a:prstGeom>
        </p:spPr>
      </p:pic>
      <p:sp>
        <p:nvSpPr>
          <p:cNvPr id="30" name="TextBox 29"/>
          <p:cNvSpPr txBox="1"/>
          <p:nvPr/>
        </p:nvSpPr>
        <p:spPr>
          <a:xfrm>
            <a:off x="558800" y="6553200"/>
            <a:ext cx="10604500" cy="215900"/>
          </a:xfrm>
          <a:prstGeom prst="rect">
            <a:avLst/>
          </a:prstGeom>
          <a:noFill/>
        </p:spPr>
        <p:txBody>
          <a:bodyPr wrap="none" lIns="0" tIns="0">
            <a:spAutoFit/>
          </a:bodyPr>
          <a:lstStyle/>
          <a:p>
            <a:pPr>
              <a:defRPr sz="900">
                <a:solidFill>
                  <a:srgbClr val="617487"/>
                </a:solidFill>
                <a:latin typeface="DejaVu Sans"/>
              </a:defRPr>
            </a:pPr>
            <a:r>
              <a:t>Appendix D.A · eq:joint_timing · illustrative 1/2/1/3 time units</a:t>
            </a:r>
          </a:p>
        </p:txBody>
      </p:sp>
      <p:sp>
        <p:nvSpPr>
          <p:cNvPr id="31" name="TextBox 30"/>
          <p:cNvSpPr txBox="1"/>
          <p:nvPr/>
        </p:nvSpPr>
        <p:spPr>
          <a:xfrm>
            <a:off x="11239500" y="6553200"/>
            <a:ext cx="825500" cy="215900"/>
          </a:xfrm>
          <a:prstGeom prst="rect">
            <a:avLst/>
          </a:prstGeom>
          <a:noFill/>
        </p:spPr>
        <p:txBody>
          <a:bodyPr wrap="none" lIns="0" tIns="0">
            <a:spAutoFit/>
          </a:bodyPr>
          <a:lstStyle/>
          <a:p>
            <a:pPr>
              <a:defRPr sz="900">
                <a:solidFill>
                  <a:srgbClr val="617487"/>
                </a:solidFill>
                <a:latin typeface="DejaVu Sans"/>
              </a:defRPr>
            </a:pPr>
            <a:r>
              <a:t>05 / 30</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58800" y="304800"/>
            <a:ext cx="10795000" cy="264922"/>
          </a:xfrm>
          <a:prstGeom prst="rect">
            <a:avLst/>
          </a:prstGeom>
          <a:noFill/>
        </p:spPr>
        <p:txBody>
          <a:bodyPr wrap="none" lIns="0" rIns="0" tIns="0" bIns="0">
            <a:spAutoFit/>
          </a:bodyPr>
          <a:lstStyle/>
          <a:p>
            <a:pPr>
              <a:lnSpc>
                <a:spcPts val="1586"/>
              </a:lnSpc>
              <a:spcBef>
                <a:spcPts val="0"/>
              </a:spcBef>
              <a:spcAft>
                <a:spcPts val="0"/>
              </a:spcAft>
              <a:defRPr sz="1300" b="1">
                <a:solidFill>
                  <a:srgbClr val="087F8C"/>
                </a:solidFill>
                <a:latin typeface="DejaVu Sans"/>
              </a:defRPr>
            </a:pPr>
            <a:r>
              <a:t>A–B · INFORMATION AGE</a:t>
            </a:r>
          </a:p>
        </p:txBody>
      </p:sp>
      <p:sp>
        <p:nvSpPr>
          <p:cNvPr id="4" name="TextBox 3"/>
          <p:cNvSpPr txBox="1"/>
          <p:nvPr/>
        </p:nvSpPr>
        <p:spPr>
          <a:xfrm>
            <a:off x="558800" y="673100"/>
            <a:ext cx="11150600" cy="443301"/>
          </a:xfrm>
          <a:prstGeom prst="rect">
            <a:avLst/>
          </a:prstGeom>
          <a:noFill/>
        </p:spPr>
        <p:txBody>
          <a:bodyPr wrap="none" lIns="0" rIns="0" tIns="0" bIns="0">
            <a:spAutoFit/>
          </a:bodyPr>
          <a:lstStyle/>
          <a:p>
            <a:pPr>
              <a:lnSpc>
                <a:spcPts val="2990"/>
              </a:lnSpc>
              <a:spcBef>
                <a:spcPts val="0"/>
              </a:spcBef>
              <a:spcAft>
                <a:spcPts val="0"/>
              </a:spcAft>
              <a:defRPr sz="2451" b="1">
                <a:solidFill>
                  <a:srgbClr val="152C46"/>
                </a:solidFill>
                <a:latin typeface="DejaVu Sans"/>
              </a:defRPr>
            </a:pPr>
            <a:r>
              <a:t>Longer listening trades accuracy against usable service time</a:t>
            </a:r>
          </a:p>
        </p:txBody>
      </p:sp>
      <p:sp>
        <p:nvSpPr>
          <p:cNvPr id="5" name="Rectangle 4"/>
          <p:cNvSpPr/>
          <p:nvPr/>
        </p:nvSpPr>
        <p:spPr>
          <a:xfrm>
            <a:off x="558800" y="1320800"/>
            <a:ext cx="698500" cy="50800"/>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58800" y="5765800"/>
            <a:ext cx="11074400" cy="584200"/>
          </a:xfrm>
          <a:prstGeom prst="roundRect">
            <a:avLst>
              <a:gd name="adj" fmla="val 8000"/>
            </a:avLst>
          </a:prstGeom>
          <a:solidFill>
            <a:srgbClr val="E5F3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62000" y="5905500"/>
            <a:ext cx="10693400" cy="326898"/>
          </a:xfrm>
          <a:prstGeom prst="rect">
            <a:avLst/>
          </a:prstGeom>
          <a:noFill/>
        </p:spPr>
        <p:txBody>
          <a:bodyPr wrap="none" lIns="0" rIns="0" tIns="0" bIns="0">
            <a:spAutoFit/>
          </a:bodyPr>
          <a:lstStyle/>
          <a:p>
            <a:pPr>
              <a:lnSpc>
                <a:spcPts val="2074"/>
              </a:lnSpc>
              <a:spcBef>
                <a:spcPts val="0"/>
              </a:spcBef>
              <a:spcAft>
                <a:spcPts val="0"/>
              </a:spcAft>
              <a:defRPr sz="1700" b="1">
                <a:solidFill>
                  <a:srgbClr val="152C46"/>
                </a:solidFill>
                <a:latin typeface="DejaVu Sans"/>
              </a:defRPr>
            </a:pPr>
            <a:r>
              <a:t>The policy must compare successful, rejected and no-detection branches.</a:t>
            </a:r>
          </a:p>
        </p:txBody>
      </p:sp>
      <p:pic>
        <p:nvPicPr>
          <p:cNvPr id="8" name="Picture 7" descr="aging.png"/>
          <p:cNvPicPr>
            <a:picLocks noChangeAspect="1"/>
          </p:cNvPicPr>
          <p:nvPr/>
        </p:nvPicPr>
        <p:blipFill>
          <a:blip r:embed="rId2"/>
          <a:stretch>
            <a:fillRect/>
          </a:stretch>
        </p:blipFill>
        <p:spPr>
          <a:xfrm>
            <a:off x="820353" y="1689100"/>
            <a:ext cx="6157093" cy="3708400"/>
          </a:xfrm>
          <a:prstGeom prst="rect">
            <a:avLst/>
          </a:prstGeom>
        </p:spPr>
      </p:pic>
      <p:sp>
        <p:nvSpPr>
          <p:cNvPr id="9" name="TextBox 8"/>
          <p:cNvSpPr txBox="1"/>
          <p:nvPr/>
        </p:nvSpPr>
        <p:spPr>
          <a:xfrm>
            <a:off x="7543800" y="1943100"/>
            <a:ext cx="203200" cy="373380"/>
          </a:xfrm>
          <a:prstGeom prst="rect">
            <a:avLst/>
          </a:prstGeom>
          <a:noFill/>
        </p:spPr>
        <p:txBody>
          <a:bodyPr wrap="none" lIns="0" rIns="0" tIns="0" bIns="0">
            <a:spAutoFit/>
          </a:bodyPr>
          <a:lstStyle/>
          <a:p>
            <a:pPr>
              <a:lnSpc>
                <a:spcPts val="2440"/>
              </a:lnSpc>
              <a:spcBef>
                <a:spcPts val="0"/>
              </a:spcBef>
              <a:spcAft>
                <a:spcPts val="0"/>
              </a:spcAft>
              <a:defRPr sz="2000" b="1">
                <a:solidFill>
                  <a:srgbClr val="087F8C"/>
                </a:solidFill>
                <a:latin typeface="DejaVu Sans"/>
              </a:defRPr>
            </a:pPr>
            <a:r>
              <a:t>•</a:t>
            </a:r>
          </a:p>
        </p:txBody>
      </p:sp>
      <p:sp>
        <p:nvSpPr>
          <p:cNvPr id="10" name="TextBox 9"/>
          <p:cNvSpPr txBox="1"/>
          <p:nvPr/>
        </p:nvSpPr>
        <p:spPr>
          <a:xfrm>
            <a:off x="7835900" y="1943100"/>
            <a:ext cx="3771900" cy="683260"/>
          </a:xfrm>
          <a:prstGeom prst="rect">
            <a:avLst/>
          </a:prstGeom>
          <a:noFill/>
        </p:spPr>
        <p:txBody>
          <a:bodyPr wrap="none" lIns="0" rIns="0" tIns="0" bIns="0">
            <a:spAutoFit/>
          </a:bodyPr>
          <a:lstStyle/>
          <a:p>
            <a:pPr>
              <a:lnSpc>
                <a:spcPts val="2440"/>
              </a:lnSpc>
              <a:spcBef>
                <a:spcPts val="0"/>
              </a:spcBef>
              <a:spcAft>
                <a:spcPts val="0"/>
              </a:spcAft>
              <a:defRPr sz="2000" b="0">
                <a:solidFill>
                  <a:srgbClr val="263A50"/>
                </a:solidFill>
                <a:latin typeface="DejaVu Sans"/>
              </a:defRPr>
            </a:pPr>
            <a:r>
              <a:t>Age grows from the sample</a:t>
            </a:r>
          </a:p>
          <a:p>
            <a:pPr>
              <a:lnSpc>
                <a:spcPts val="2440"/>
              </a:lnSpc>
              <a:spcBef>
                <a:spcPts val="0"/>
              </a:spcBef>
              <a:spcAft>
                <a:spcPts val="0"/>
              </a:spcAft>
              <a:defRPr sz="2000" b="0">
                <a:solidFill>
                  <a:srgbClr val="263A50"/>
                </a:solidFill>
                <a:latin typeface="DejaVu Sans"/>
              </a:defRPr>
            </a:pPr>
            <a:r>
              <a:t>reference time.</a:t>
            </a:r>
          </a:p>
        </p:txBody>
      </p:sp>
      <p:sp>
        <p:nvSpPr>
          <p:cNvPr id="11" name="TextBox 10"/>
          <p:cNvSpPr txBox="1"/>
          <p:nvPr/>
        </p:nvSpPr>
        <p:spPr>
          <a:xfrm>
            <a:off x="7543800" y="3060700"/>
            <a:ext cx="203200" cy="373380"/>
          </a:xfrm>
          <a:prstGeom prst="rect">
            <a:avLst/>
          </a:prstGeom>
          <a:noFill/>
        </p:spPr>
        <p:txBody>
          <a:bodyPr wrap="none" lIns="0" rIns="0" tIns="0" bIns="0">
            <a:spAutoFit/>
          </a:bodyPr>
          <a:lstStyle/>
          <a:p>
            <a:pPr>
              <a:lnSpc>
                <a:spcPts val="2440"/>
              </a:lnSpc>
              <a:spcBef>
                <a:spcPts val="0"/>
              </a:spcBef>
              <a:spcAft>
                <a:spcPts val="0"/>
              </a:spcAft>
              <a:defRPr sz="2000" b="1">
                <a:solidFill>
                  <a:srgbClr val="087F8C"/>
                </a:solidFill>
                <a:latin typeface="DejaVu Sans"/>
              </a:defRPr>
            </a:pPr>
            <a:r>
              <a:t>•</a:t>
            </a:r>
          </a:p>
        </p:txBody>
      </p:sp>
      <p:sp>
        <p:nvSpPr>
          <p:cNvPr id="12" name="TextBox 11"/>
          <p:cNvSpPr txBox="1"/>
          <p:nvPr/>
        </p:nvSpPr>
        <p:spPr>
          <a:xfrm>
            <a:off x="7835900" y="3060700"/>
            <a:ext cx="3771900" cy="683260"/>
          </a:xfrm>
          <a:prstGeom prst="rect">
            <a:avLst/>
          </a:prstGeom>
          <a:noFill/>
        </p:spPr>
        <p:txBody>
          <a:bodyPr wrap="none" lIns="0" rIns="0" tIns="0" bIns="0">
            <a:spAutoFit/>
          </a:bodyPr>
          <a:lstStyle/>
          <a:p>
            <a:pPr>
              <a:lnSpc>
                <a:spcPts val="2440"/>
              </a:lnSpc>
              <a:spcBef>
                <a:spcPts val="0"/>
              </a:spcBef>
              <a:spcAft>
                <a:spcPts val="0"/>
              </a:spcAft>
              <a:defRPr sz="2000" b="0">
                <a:solidFill>
                  <a:srgbClr val="263A50"/>
                </a:solidFill>
                <a:latin typeface="DejaVu Sans"/>
              </a:defRPr>
            </a:pPr>
            <a:r>
              <a:t>An accepted refresh may</a:t>
            </a:r>
          </a:p>
          <a:p>
            <a:pPr>
              <a:lnSpc>
                <a:spcPts val="2440"/>
              </a:lnSpc>
              <a:spcBef>
                <a:spcPts val="0"/>
              </a:spcBef>
              <a:spcAft>
                <a:spcPts val="0"/>
              </a:spcAft>
              <a:defRPr sz="2000" b="0">
                <a:solidFill>
                  <a:srgbClr val="263A50"/>
                </a:solidFill>
                <a:latin typeface="DejaVu Sans"/>
              </a:defRPr>
            </a:pPr>
            <a:r>
              <a:t>shrink uncertainty.</a:t>
            </a:r>
          </a:p>
        </p:txBody>
      </p:sp>
      <p:sp>
        <p:nvSpPr>
          <p:cNvPr id="13" name="TextBox 12"/>
          <p:cNvSpPr txBox="1"/>
          <p:nvPr/>
        </p:nvSpPr>
        <p:spPr>
          <a:xfrm>
            <a:off x="7543800" y="4178300"/>
            <a:ext cx="203200" cy="373380"/>
          </a:xfrm>
          <a:prstGeom prst="rect">
            <a:avLst/>
          </a:prstGeom>
          <a:noFill/>
        </p:spPr>
        <p:txBody>
          <a:bodyPr wrap="none" lIns="0" rIns="0" tIns="0" bIns="0">
            <a:spAutoFit/>
          </a:bodyPr>
          <a:lstStyle/>
          <a:p>
            <a:pPr>
              <a:lnSpc>
                <a:spcPts val="2440"/>
              </a:lnSpc>
              <a:spcBef>
                <a:spcPts val="0"/>
              </a:spcBef>
              <a:spcAft>
                <a:spcPts val="0"/>
              </a:spcAft>
              <a:defRPr sz="2000" b="1">
                <a:solidFill>
                  <a:srgbClr val="087F8C"/>
                </a:solidFill>
                <a:latin typeface="DejaVu Sans"/>
              </a:defRPr>
            </a:pPr>
            <a:r>
              <a:t>•</a:t>
            </a:r>
          </a:p>
        </p:txBody>
      </p:sp>
      <p:sp>
        <p:nvSpPr>
          <p:cNvPr id="14" name="TextBox 13"/>
          <p:cNvSpPr txBox="1"/>
          <p:nvPr/>
        </p:nvSpPr>
        <p:spPr>
          <a:xfrm>
            <a:off x="7835900" y="4178300"/>
            <a:ext cx="3771900" cy="993140"/>
          </a:xfrm>
          <a:prstGeom prst="rect">
            <a:avLst/>
          </a:prstGeom>
          <a:noFill/>
        </p:spPr>
        <p:txBody>
          <a:bodyPr wrap="none" lIns="0" rIns="0" tIns="0" bIns="0">
            <a:spAutoFit/>
          </a:bodyPr>
          <a:lstStyle/>
          <a:p>
            <a:pPr>
              <a:lnSpc>
                <a:spcPts val="2440"/>
              </a:lnSpc>
              <a:spcBef>
                <a:spcPts val="0"/>
              </a:spcBef>
              <a:spcAft>
                <a:spcPts val="0"/>
              </a:spcAft>
              <a:defRPr sz="2000" b="0">
                <a:solidFill>
                  <a:srgbClr val="263A50"/>
                </a:solidFill>
                <a:latin typeface="DejaVu Sans"/>
              </a:defRPr>
            </a:pPr>
            <a:r>
              <a:t>Longer sensing also delays</a:t>
            </a:r>
          </a:p>
          <a:p>
            <a:pPr>
              <a:lnSpc>
                <a:spcPts val="2440"/>
              </a:lnSpc>
              <a:spcBef>
                <a:spcPts val="0"/>
              </a:spcBef>
              <a:spcAft>
                <a:spcPts val="0"/>
              </a:spcAft>
              <a:defRPr sz="2000" b="0">
                <a:solidFill>
                  <a:srgbClr val="263A50"/>
                </a:solidFill>
                <a:latin typeface="DejaVu Sans"/>
              </a:defRPr>
            </a:pPr>
            <a:r>
              <a:t>release and consumes</a:t>
            </a:r>
          </a:p>
          <a:p>
            <a:pPr>
              <a:lnSpc>
                <a:spcPts val="2440"/>
              </a:lnSpc>
              <a:spcBef>
                <a:spcPts val="0"/>
              </a:spcBef>
              <a:spcAft>
                <a:spcPts val="0"/>
              </a:spcAft>
              <a:defRPr sz="2000" b="0">
                <a:solidFill>
                  <a:srgbClr val="263A50"/>
                </a:solidFill>
                <a:latin typeface="DejaVu Sans"/>
              </a:defRPr>
            </a:pPr>
            <a:r>
              <a:t>service time.</a:t>
            </a:r>
          </a:p>
        </p:txBody>
      </p:sp>
      <p:sp>
        <p:nvSpPr>
          <p:cNvPr id="15" name="TextBox 14"/>
          <p:cNvSpPr txBox="1"/>
          <p:nvPr/>
        </p:nvSpPr>
        <p:spPr>
          <a:xfrm>
            <a:off x="558800" y="6553200"/>
            <a:ext cx="10604500" cy="215900"/>
          </a:xfrm>
          <a:prstGeom prst="rect">
            <a:avLst/>
          </a:prstGeom>
          <a:noFill/>
        </p:spPr>
        <p:txBody>
          <a:bodyPr wrap="none" lIns="0" tIns="0">
            <a:spAutoFit/>
          </a:bodyPr>
          <a:lstStyle/>
          <a:p>
            <a:pPr>
              <a:defRPr sz="900">
                <a:solidFill>
                  <a:srgbClr val="617487"/>
                </a:solidFill>
                <a:latin typeface="DejaVu Sans"/>
              </a:defRPr>
            </a:pPr>
            <a:r>
              <a:t>Appendix D.A–B · schematic, not fitted experimental data</a:t>
            </a:r>
          </a:p>
        </p:txBody>
      </p:sp>
      <p:sp>
        <p:nvSpPr>
          <p:cNvPr id="16" name="TextBox 15"/>
          <p:cNvSpPr txBox="1"/>
          <p:nvPr/>
        </p:nvSpPr>
        <p:spPr>
          <a:xfrm>
            <a:off x="11239500" y="6553200"/>
            <a:ext cx="825500" cy="215900"/>
          </a:xfrm>
          <a:prstGeom prst="rect">
            <a:avLst/>
          </a:prstGeom>
          <a:noFill/>
        </p:spPr>
        <p:txBody>
          <a:bodyPr wrap="none" lIns="0" tIns="0">
            <a:spAutoFit/>
          </a:bodyPr>
          <a:lstStyle/>
          <a:p>
            <a:pPr>
              <a:defRPr sz="900">
                <a:solidFill>
                  <a:srgbClr val="617487"/>
                </a:solidFill>
                <a:latin typeface="DejaVu Sans"/>
              </a:defRPr>
            </a:pPr>
            <a:r>
              <a:t>06 / 30</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58800" y="304800"/>
            <a:ext cx="10795000" cy="264922"/>
          </a:xfrm>
          <a:prstGeom prst="rect">
            <a:avLst/>
          </a:prstGeom>
          <a:noFill/>
        </p:spPr>
        <p:txBody>
          <a:bodyPr wrap="none" lIns="0" rIns="0" tIns="0" bIns="0">
            <a:spAutoFit/>
          </a:bodyPr>
          <a:lstStyle/>
          <a:p>
            <a:pPr>
              <a:lnSpc>
                <a:spcPts val="1586"/>
              </a:lnSpc>
              <a:spcBef>
                <a:spcPts val="0"/>
              </a:spcBef>
              <a:spcAft>
                <a:spcPts val="0"/>
              </a:spcAft>
              <a:defRPr sz="1300" b="1">
                <a:solidFill>
                  <a:srgbClr val="087F8C"/>
                </a:solidFill>
                <a:latin typeface="DejaVu Sans"/>
              </a:defRPr>
            </a:pPr>
            <a:r>
              <a:t>B · UNCERTAINTY</a:t>
            </a:r>
          </a:p>
        </p:txBody>
      </p:sp>
      <p:sp>
        <p:nvSpPr>
          <p:cNvPr id="4" name="TextBox 3"/>
          <p:cNvSpPr txBox="1"/>
          <p:nvPr/>
        </p:nvSpPr>
        <p:spPr>
          <a:xfrm>
            <a:off x="558800" y="673100"/>
            <a:ext cx="11150600" cy="473570"/>
          </a:xfrm>
          <a:prstGeom prst="rect">
            <a:avLst/>
          </a:prstGeom>
          <a:noFill/>
        </p:spPr>
        <p:txBody>
          <a:bodyPr wrap="none" lIns="0" rIns="0" tIns="0" bIns="0">
            <a:spAutoFit/>
          </a:bodyPr>
          <a:lstStyle/>
          <a:p>
            <a:pPr>
              <a:lnSpc>
                <a:spcPts val="3228"/>
              </a:lnSpc>
              <a:spcBef>
                <a:spcPts val="0"/>
              </a:spcBef>
              <a:spcAft>
                <a:spcPts val="0"/>
              </a:spcAft>
              <a:defRPr sz="2646" b="1">
                <a:solidFill>
                  <a:srgbClr val="152C46"/>
                </a:solidFill>
                <a:latin typeface="DejaVu Sans"/>
              </a:defRPr>
            </a:pPr>
            <a:r>
              <a:t>Protect a set of complete channels, not individual peaks</a:t>
            </a:r>
          </a:p>
        </p:txBody>
      </p:sp>
      <p:sp>
        <p:nvSpPr>
          <p:cNvPr id="5" name="Rectangle 4"/>
          <p:cNvSpPr/>
          <p:nvPr/>
        </p:nvSpPr>
        <p:spPr>
          <a:xfrm>
            <a:off x="558800" y="1320800"/>
            <a:ext cx="698500" cy="50800"/>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58800" y="5765800"/>
            <a:ext cx="11074400" cy="584200"/>
          </a:xfrm>
          <a:prstGeom prst="roundRect">
            <a:avLst>
              <a:gd name="adj" fmla="val 8000"/>
            </a:avLst>
          </a:prstGeom>
          <a:solidFill>
            <a:srgbClr val="E5F3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62000" y="5905500"/>
            <a:ext cx="10693400" cy="590296"/>
          </a:xfrm>
          <a:prstGeom prst="rect">
            <a:avLst/>
          </a:prstGeom>
          <a:noFill/>
        </p:spPr>
        <p:txBody>
          <a:bodyPr wrap="none" lIns="0" rIns="0" tIns="0" bIns="0">
            <a:spAutoFit/>
          </a:bodyPr>
          <a:lstStyle/>
          <a:p>
            <a:pPr>
              <a:lnSpc>
                <a:spcPts val="2074"/>
              </a:lnSpc>
              <a:spcBef>
                <a:spcPts val="0"/>
              </a:spcBef>
              <a:spcAft>
                <a:spcPts val="0"/>
              </a:spcAft>
              <a:defRPr sz="1700" b="1">
                <a:solidFill>
                  <a:srgbClr val="152C46"/>
                </a:solidFill>
                <a:latin typeface="DejaVu Sans"/>
              </a:defRPr>
            </a:pPr>
            <a:r>
              <a:t>Complex coefficients retain coherent path addition; the full receiver channel must be</a:t>
            </a:r>
          </a:p>
          <a:p>
            <a:pPr>
              <a:lnSpc>
                <a:spcPts val="2074"/>
              </a:lnSpc>
              <a:spcBef>
                <a:spcPts val="0"/>
              </a:spcBef>
              <a:spcAft>
                <a:spcPts val="0"/>
              </a:spcAft>
              <a:defRPr sz="1700" b="1">
                <a:solidFill>
                  <a:srgbClr val="152C46"/>
                </a:solidFill>
                <a:latin typeface="DejaVu Sans"/>
              </a:defRPr>
            </a:pPr>
            <a:r>
              <a:t>covered.</a:t>
            </a:r>
          </a:p>
        </p:txBody>
      </p:sp>
      <p:pic>
        <p:nvPicPr>
          <p:cNvPr id="8" name="Picture 7" descr="eq_3dce4fbcd83ccf7.png"/>
          <p:cNvPicPr>
            <a:picLocks noChangeAspect="1"/>
          </p:cNvPicPr>
          <p:nvPr/>
        </p:nvPicPr>
        <p:blipFill>
          <a:blip r:embed="rId2"/>
          <a:stretch>
            <a:fillRect/>
          </a:stretch>
        </p:blipFill>
        <p:spPr>
          <a:xfrm>
            <a:off x="1167384" y="1714500"/>
            <a:ext cx="9908032" cy="584200"/>
          </a:xfrm>
          <a:prstGeom prst="rect">
            <a:avLst/>
          </a:prstGeom>
        </p:spPr>
      </p:pic>
      <p:pic>
        <p:nvPicPr>
          <p:cNvPr id="9" name="Picture 8" descr="uncertainty_set.png"/>
          <p:cNvPicPr>
            <a:picLocks noChangeAspect="1"/>
          </p:cNvPicPr>
          <p:nvPr/>
        </p:nvPicPr>
        <p:blipFill>
          <a:blip r:embed="rId3"/>
          <a:stretch>
            <a:fillRect/>
          </a:stretch>
        </p:blipFill>
        <p:spPr>
          <a:xfrm>
            <a:off x="1265050" y="2438400"/>
            <a:ext cx="4708898" cy="3035300"/>
          </a:xfrm>
          <a:prstGeom prst="rect">
            <a:avLst/>
          </a:prstGeom>
        </p:spPr>
      </p:pic>
      <p:sp>
        <p:nvSpPr>
          <p:cNvPr id="10" name="TextBox 9"/>
          <p:cNvSpPr txBox="1"/>
          <p:nvPr/>
        </p:nvSpPr>
        <p:spPr>
          <a:xfrm>
            <a:off x="6972300" y="2667000"/>
            <a:ext cx="4470400" cy="2712974"/>
          </a:xfrm>
          <a:prstGeom prst="rect">
            <a:avLst/>
          </a:prstGeom>
          <a:noFill/>
        </p:spPr>
        <p:txBody>
          <a:bodyPr wrap="none" lIns="0" rIns="0" tIns="0" bIns="0">
            <a:spAutoFit/>
          </a:bodyPr>
          <a:lstStyle/>
          <a:p>
            <a:pPr>
              <a:lnSpc>
                <a:spcPts val="2318"/>
              </a:lnSpc>
              <a:spcBef>
                <a:spcPts val="0"/>
              </a:spcBef>
              <a:spcAft>
                <a:spcPts val="0"/>
              </a:spcAft>
              <a:defRPr sz="1900" b="0">
                <a:solidFill>
                  <a:srgbClr val="263A50"/>
                </a:solidFill>
                <a:latin typeface="DejaVu Sans"/>
              </a:defRPr>
            </a:pPr>
            <a:r>
              <a:t>Aᵣ: reconstructed DL path responses</a:t>
            </a:r>
          </a:p>
          <a:p>
            <a:pPr>
              <a:lnSpc>
                <a:spcPts val="2318"/>
              </a:lnSpc>
              <a:spcBef>
                <a:spcPts val="0"/>
              </a:spcBef>
              <a:spcAft>
                <a:spcPts val="0"/>
              </a:spcAft>
              <a:defRPr sz="1900" b="0">
                <a:solidFill>
                  <a:srgbClr val="263A50"/>
                </a:solidFill>
                <a:latin typeface="DejaVu Sans"/>
              </a:defRPr>
            </a:pPr>
          </a:p>
          <a:p>
            <a:pPr>
              <a:lnSpc>
                <a:spcPts val="2318"/>
              </a:lnSpc>
              <a:spcBef>
                <a:spcPts val="0"/>
              </a:spcBef>
              <a:spcAft>
                <a:spcPts val="0"/>
              </a:spcAft>
              <a:defRPr sz="1900" b="0">
                <a:solidFill>
                  <a:srgbClr val="263A50"/>
                </a:solidFill>
                <a:latin typeface="DejaVu Sans"/>
              </a:defRPr>
            </a:pPr>
            <a:r>
              <a:t>Cᵣ: bound on complex coefficients</a:t>
            </a:r>
          </a:p>
          <a:p>
            <a:pPr>
              <a:lnSpc>
                <a:spcPts val="2318"/>
              </a:lnSpc>
              <a:spcBef>
                <a:spcPts val="0"/>
              </a:spcBef>
              <a:spcAft>
                <a:spcPts val="0"/>
              </a:spcAft>
              <a:defRPr sz="1900" b="0">
                <a:solidFill>
                  <a:srgbClr val="263A50"/>
                </a:solidFill>
                <a:latin typeface="DejaVu Sans"/>
              </a:defRPr>
            </a:pPr>
          </a:p>
          <a:p>
            <a:pPr>
              <a:lnSpc>
                <a:spcPts val="2318"/>
              </a:lnSpc>
              <a:spcBef>
                <a:spcPts val="0"/>
              </a:spcBef>
              <a:spcAft>
                <a:spcPts val="0"/>
              </a:spcAft>
              <a:defRPr sz="1900" b="0">
                <a:solidFill>
                  <a:srgbClr val="263A50"/>
                </a:solidFill>
                <a:latin typeface="DejaVu Sans"/>
              </a:defRPr>
            </a:pPr>
            <a:r>
              <a:t>ρᵣ: unresolved paths and model</a:t>
            </a:r>
          </a:p>
          <a:p>
            <a:pPr>
              <a:lnSpc>
                <a:spcPts val="2318"/>
              </a:lnSpc>
              <a:spcBef>
                <a:spcPts val="0"/>
              </a:spcBef>
              <a:spcAft>
                <a:spcPts val="0"/>
              </a:spcAft>
              <a:defRPr sz="1900" b="0">
                <a:solidFill>
                  <a:srgbClr val="263A50"/>
                </a:solidFill>
                <a:latin typeface="DejaVu Sans"/>
              </a:defRPr>
            </a:pPr>
            <a:r>
              <a:t>error</a:t>
            </a:r>
          </a:p>
          <a:p>
            <a:pPr>
              <a:lnSpc>
                <a:spcPts val="2318"/>
              </a:lnSpc>
              <a:spcBef>
                <a:spcPts val="0"/>
              </a:spcBef>
              <a:spcAft>
                <a:spcPts val="0"/>
              </a:spcAft>
              <a:defRPr sz="1900" b="0">
                <a:solidFill>
                  <a:srgbClr val="263A50"/>
                </a:solidFill>
                <a:latin typeface="DejaVu Sans"/>
              </a:defRPr>
            </a:pPr>
          </a:p>
          <a:p>
            <a:pPr>
              <a:lnSpc>
                <a:spcPts val="2318"/>
              </a:lnSpc>
              <a:spcBef>
                <a:spcPts val="0"/>
              </a:spcBef>
              <a:spcAft>
                <a:spcPts val="0"/>
              </a:spcAft>
              <a:defRPr sz="1900" b="0">
                <a:solidFill>
                  <a:srgbClr val="263A50"/>
                </a:solidFill>
                <a:latin typeface="DejaVu Sans"/>
              </a:defRPr>
            </a:pPr>
            <a:r>
              <a:t>r: anonymous group, not a UE</a:t>
            </a:r>
          </a:p>
          <a:p>
            <a:pPr>
              <a:lnSpc>
                <a:spcPts val="2318"/>
              </a:lnSpc>
              <a:spcBef>
                <a:spcPts val="0"/>
              </a:spcBef>
              <a:spcAft>
                <a:spcPts val="0"/>
              </a:spcAft>
              <a:defRPr sz="1900" b="0">
                <a:solidFill>
                  <a:srgbClr val="263A50"/>
                </a:solidFill>
                <a:latin typeface="DejaVu Sans"/>
              </a:defRPr>
            </a:pPr>
            <a:r>
              <a:t>identity</a:t>
            </a:r>
          </a:p>
        </p:txBody>
      </p:sp>
      <p:sp>
        <p:nvSpPr>
          <p:cNvPr id="11" name="TextBox 10"/>
          <p:cNvSpPr txBox="1"/>
          <p:nvPr/>
        </p:nvSpPr>
        <p:spPr>
          <a:xfrm>
            <a:off x="558800" y="6553200"/>
            <a:ext cx="10604500" cy="215900"/>
          </a:xfrm>
          <a:prstGeom prst="rect">
            <a:avLst/>
          </a:prstGeom>
          <a:noFill/>
        </p:spPr>
        <p:txBody>
          <a:bodyPr wrap="none" lIns="0" tIns="0">
            <a:spAutoFit/>
          </a:bodyPr>
          <a:lstStyle/>
          <a:p>
            <a:pPr>
              <a:defRPr sz="900">
                <a:solidFill>
                  <a:srgbClr val="617487"/>
                </a:solidFill>
                <a:latin typeface="DejaVu Sans"/>
              </a:defRPr>
            </a:pPr>
            <a:r>
              <a:t>Appendix D.B · eq:joint_multipath_set</a:t>
            </a:r>
          </a:p>
        </p:txBody>
      </p:sp>
      <p:sp>
        <p:nvSpPr>
          <p:cNvPr id="12" name="TextBox 11"/>
          <p:cNvSpPr txBox="1"/>
          <p:nvPr/>
        </p:nvSpPr>
        <p:spPr>
          <a:xfrm>
            <a:off x="11239500" y="6553200"/>
            <a:ext cx="825500" cy="215900"/>
          </a:xfrm>
          <a:prstGeom prst="rect">
            <a:avLst/>
          </a:prstGeom>
          <a:noFill/>
        </p:spPr>
        <p:txBody>
          <a:bodyPr wrap="none" lIns="0" tIns="0">
            <a:spAutoFit/>
          </a:bodyPr>
          <a:lstStyle/>
          <a:p>
            <a:pPr>
              <a:defRPr sz="900">
                <a:solidFill>
                  <a:srgbClr val="617487"/>
                </a:solidFill>
                <a:latin typeface="DejaVu Sans"/>
              </a:defRPr>
            </a:pPr>
            <a:r>
              <a:t>07 / 30</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58800" y="304800"/>
            <a:ext cx="10795000" cy="264922"/>
          </a:xfrm>
          <a:prstGeom prst="rect">
            <a:avLst/>
          </a:prstGeom>
          <a:noFill/>
        </p:spPr>
        <p:txBody>
          <a:bodyPr wrap="none" lIns="0" rIns="0" tIns="0" bIns="0">
            <a:spAutoFit/>
          </a:bodyPr>
          <a:lstStyle/>
          <a:p>
            <a:pPr>
              <a:lnSpc>
                <a:spcPts val="1586"/>
              </a:lnSpc>
              <a:spcBef>
                <a:spcPts val="0"/>
              </a:spcBef>
              <a:spcAft>
                <a:spcPts val="0"/>
              </a:spcAft>
              <a:defRPr sz="1300" b="1">
                <a:solidFill>
                  <a:srgbClr val="087F8C"/>
                </a:solidFill>
                <a:latin typeface="DejaVu Sans"/>
              </a:defRPr>
            </a:pPr>
            <a:r>
              <a:t>B · ROBUST PROTECTION</a:t>
            </a:r>
          </a:p>
        </p:txBody>
      </p:sp>
      <p:sp>
        <p:nvSpPr>
          <p:cNvPr id="4" name="TextBox 3"/>
          <p:cNvSpPr txBox="1"/>
          <p:nvPr/>
        </p:nvSpPr>
        <p:spPr>
          <a:xfrm>
            <a:off x="558800" y="673100"/>
            <a:ext cx="11150600" cy="528320"/>
          </a:xfrm>
          <a:prstGeom prst="rect">
            <a:avLst/>
          </a:prstGeom>
          <a:noFill/>
        </p:spPr>
        <p:txBody>
          <a:bodyPr wrap="none" lIns="0" rIns="0" tIns="0" bIns="0">
            <a:spAutoFit/>
          </a:bodyPr>
          <a:lstStyle/>
          <a:p>
            <a:pPr>
              <a:lnSpc>
                <a:spcPts val="3660"/>
              </a:lnSpc>
              <a:spcBef>
                <a:spcPts val="0"/>
              </a:spcBef>
              <a:spcAft>
                <a:spcPts val="0"/>
              </a:spcAft>
              <a:defRPr sz="3000" b="1">
                <a:solidFill>
                  <a:srgbClr val="152C46"/>
                </a:solidFill>
                <a:latin typeface="DejaVu Sans"/>
              </a:defRPr>
            </a:pPr>
            <a:r>
              <a:t>The worst-case leakage has an exact closed form</a:t>
            </a:r>
          </a:p>
        </p:txBody>
      </p:sp>
      <p:sp>
        <p:nvSpPr>
          <p:cNvPr id="5" name="Rectangle 4"/>
          <p:cNvSpPr/>
          <p:nvPr/>
        </p:nvSpPr>
        <p:spPr>
          <a:xfrm>
            <a:off x="558800" y="1320800"/>
            <a:ext cx="698500" cy="50800"/>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58800" y="5765800"/>
            <a:ext cx="11074400" cy="584200"/>
          </a:xfrm>
          <a:prstGeom prst="roundRect">
            <a:avLst>
              <a:gd name="adj" fmla="val 8000"/>
            </a:avLst>
          </a:prstGeom>
          <a:solidFill>
            <a:srgbClr val="E5F3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62000" y="5905500"/>
            <a:ext cx="10693400" cy="590296"/>
          </a:xfrm>
          <a:prstGeom prst="rect">
            <a:avLst/>
          </a:prstGeom>
          <a:noFill/>
        </p:spPr>
        <p:txBody>
          <a:bodyPr wrap="none" lIns="0" rIns="0" tIns="0" bIns="0">
            <a:spAutoFit/>
          </a:bodyPr>
          <a:lstStyle/>
          <a:p>
            <a:pPr>
              <a:lnSpc>
                <a:spcPts val="2074"/>
              </a:lnSpc>
              <a:spcBef>
                <a:spcPts val="0"/>
              </a:spcBef>
              <a:spcAft>
                <a:spcPts val="0"/>
              </a:spcAft>
              <a:defRPr sz="1700" b="1">
                <a:solidFill>
                  <a:srgbClr val="152C46"/>
                </a:solidFill>
                <a:latin typeface="DejaVu Sans"/>
              </a:defRPr>
            </a:pPr>
            <a:r>
              <a:t>Exact for the declared set; the set itself may conservatively overbound physical</a:t>
            </a:r>
          </a:p>
          <a:p>
            <a:pPr>
              <a:lnSpc>
                <a:spcPts val="2074"/>
              </a:lnSpc>
              <a:spcBef>
                <a:spcPts val="0"/>
              </a:spcBef>
              <a:spcAft>
                <a:spcPts val="0"/>
              </a:spcAft>
              <a:defRPr sz="1700" b="1">
                <a:solidFill>
                  <a:srgbClr val="152C46"/>
                </a:solidFill>
                <a:latin typeface="DejaVu Sans"/>
              </a:defRPr>
            </a:pPr>
            <a:r>
              <a:t>channels.</a:t>
            </a:r>
          </a:p>
        </p:txBody>
      </p:sp>
      <p:pic>
        <p:nvPicPr>
          <p:cNvPr id="8" name="Picture 7" descr="eq_564db48b8aee2ce.png"/>
          <p:cNvPicPr>
            <a:picLocks noChangeAspect="1"/>
          </p:cNvPicPr>
          <p:nvPr/>
        </p:nvPicPr>
        <p:blipFill>
          <a:blip r:embed="rId2"/>
          <a:stretch>
            <a:fillRect/>
          </a:stretch>
        </p:blipFill>
        <p:spPr>
          <a:xfrm>
            <a:off x="3489675" y="1905000"/>
            <a:ext cx="5212649" cy="723900"/>
          </a:xfrm>
          <a:prstGeom prst="rect">
            <a:avLst/>
          </a:prstGeom>
        </p:spPr>
      </p:pic>
      <p:sp>
        <p:nvSpPr>
          <p:cNvPr id="9" name="Rounded Rectangle 8"/>
          <p:cNvSpPr/>
          <p:nvPr/>
        </p:nvSpPr>
        <p:spPr>
          <a:xfrm>
            <a:off x="558800" y="3225800"/>
            <a:ext cx="5359400" cy="1638300"/>
          </a:xfrm>
          <a:prstGeom prst="roundRect">
            <a:avLst>
              <a:gd name="adj" fmla="val 8000"/>
            </a:avLst>
          </a:prstGeom>
          <a:solidFill>
            <a:srgbClr val="E5F3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87400" y="3441700"/>
            <a:ext cx="4902200" cy="388874"/>
          </a:xfrm>
          <a:prstGeom prst="rect">
            <a:avLst/>
          </a:prstGeom>
          <a:noFill/>
        </p:spPr>
        <p:txBody>
          <a:bodyPr wrap="none" lIns="0" rIns="0" tIns="0" bIns="0">
            <a:spAutoFit/>
          </a:bodyPr>
          <a:lstStyle/>
          <a:p>
            <a:pPr>
              <a:lnSpc>
                <a:spcPts val="2562"/>
              </a:lnSpc>
              <a:spcBef>
                <a:spcPts val="0"/>
              </a:spcBef>
              <a:spcAft>
                <a:spcPts val="0"/>
              </a:spcAft>
              <a:defRPr sz="2100" b="1">
                <a:solidFill>
                  <a:srgbClr val="087F8C"/>
                </a:solidFill>
                <a:latin typeface="DejaVu Sans"/>
              </a:defRPr>
            </a:pPr>
            <a:r>
              <a:t>Modeled-path contribution</a:t>
            </a:r>
          </a:p>
        </p:txBody>
      </p:sp>
      <p:sp>
        <p:nvSpPr>
          <p:cNvPr id="11" name="TextBox 10"/>
          <p:cNvSpPr txBox="1"/>
          <p:nvPr/>
        </p:nvSpPr>
        <p:spPr>
          <a:xfrm>
            <a:off x="787400" y="3911600"/>
            <a:ext cx="4902200" cy="621284"/>
          </a:xfrm>
          <a:prstGeom prst="rect">
            <a:avLst/>
          </a:prstGeom>
          <a:noFill/>
        </p:spPr>
        <p:txBody>
          <a:bodyPr wrap="none" lIns="0" rIns="0" tIns="0" bIns="0">
            <a:spAutoFit/>
          </a:bodyPr>
          <a:lstStyle/>
          <a:p>
            <a:pPr>
              <a:lnSpc>
                <a:spcPts val="2196"/>
              </a:lnSpc>
              <a:spcBef>
                <a:spcPts val="0"/>
              </a:spcBef>
              <a:spcAft>
                <a:spcPts val="0"/>
              </a:spcAft>
              <a:defRPr sz="1800" b="0">
                <a:solidFill>
                  <a:srgbClr val="263A50"/>
                </a:solidFill>
                <a:latin typeface="DejaVu Sans"/>
              </a:defRPr>
            </a:pPr>
            <a:r>
              <a:t>Suppress the estimated DL subspace.</a:t>
            </a:r>
          </a:p>
          <a:p>
            <a:pPr>
              <a:lnSpc>
                <a:spcPts val="2196"/>
              </a:lnSpc>
              <a:spcBef>
                <a:spcPts val="0"/>
              </a:spcBef>
              <a:spcAft>
                <a:spcPts val="0"/>
              </a:spcAft>
              <a:defRPr sz="1800" b="0">
                <a:solidFill>
                  <a:srgbClr val="263A50"/>
                </a:solidFill>
                <a:latin typeface="DejaVu Sans"/>
              </a:defRPr>
            </a:pPr>
            <a:r>
              <a:t>More directions can cost spatial freedom.</a:t>
            </a:r>
          </a:p>
        </p:txBody>
      </p:sp>
      <p:sp>
        <p:nvSpPr>
          <p:cNvPr id="12" name="Rounded Rectangle 11"/>
          <p:cNvSpPr/>
          <p:nvPr/>
        </p:nvSpPr>
        <p:spPr>
          <a:xfrm>
            <a:off x="6273800" y="3225800"/>
            <a:ext cx="5359400" cy="1638300"/>
          </a:xfrm>
          <a:prstGeom prst="roundRect">
            <a:avLst>
              <a:gd name="adj" fmla="val 8000"/>
            </a:avLst>
          </a:prstGeom>
          <a:solidFill>
            <a:srgbClr val="FFF3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502400" y="3441700"/>
            <a:ext cx="4902200" cy="388874"/>
          </a:xfrm>
          <a:prstGeom prst="rect">
            <a:avLst/>
          </a:prstGeom>
          <a:noFill/>
        </p:spPr>
        <p:txBody>
          <a:bodyPr wrap="none" lIns="0" rIns="0" tIns="0" bIns="0">
            <a:spAutoFit/>
          </a:bodyPr>
          <a:lstStyle/>
          <a:p>
            <a:pPr>
              <a:lnSpc>
                <a:spcPts val="2562"/>
              </a:lnSpc>
              <a:spcBef>
                <a:spcPts val="0"/>
              </a:spcBef>
              <a:spcAft>
                <a:spcPts val="0"/>
              </a:spcAft>
              <a:defRPr sz="2100" b="1">
                <a:solidFill>
                  <a:srgbClr val="087F8C"/>
                </a:solidFill>
                <a:latin typeface="DejaVu Sans"/>
              </a:defRPr>
            </a:pPr>
            <a:r>
              <a:t>Residual contribution</a:t>
            </a:r>
          </a:p>
        </p:txBody>
      </p:sp>
      <p:sp>
        <p:nvSpPr>
          <p:cNvPr id="14" name="TextBox 13"/>
          <p:cNvSpPr txBox="1"/>
          <p:nvPr/>
        </p:nvSpPr>
        <p:spPr>
          <a:xfrm>
            <a:off x="6502400" y="3911600"/>
            <a:ext cx="4902200" cy="621284"/>
          </a:xfrm>
          <a:prstGeom prst="rect">
            <a:avLst/>
          </a:prstGeom>
          <a:noFill/>
        </p:spPr>
        <p:txBody>
          <a:bodyPr wrap="none" lIns="0" rIns="0" tIns="0" bIns="0">
            <a:spAutoFit/>
          </a:bodyPr>
          <a:lstStyle/>
          <a:p>
            <a:pPr>
              <a:lnSpc>
                <a:spcPts val="2196"/>
              </a:lnSpc>
              <a:spcBef>
                <a:spcPts val="0"/>
              </a:spcBef>
              <a:spcAft>
                <a:spcPts val="0"/>
              </a:spcAft>
              <a:defRPr sz="1800" b="0">
                <a:solidFill>
                  <a:srgbClr val="263A50"/>
                </a:solidFill>
                <a:latin typeface="DejaVu Sans"/>
              </a:defRPr>
            </a:pPr>
            <a:r>
              <a:t>Uncertain directions remain.</a:t>
            </a:r>
          </a:p>
          <a:p>
            <a:pPr>
              <a:lnSpc>
                <a:spcPts val="2196"/>
              </a:lnSpc>
              <a:spcBef>
                <a:spcPts val="0"/>
              </a:spcBef>
              <a:spcAft>
                <a:spcPts val="0"/>
              </a:spcAft>
              <a:defRPr sz="1800" b="0">
                <a:solidFill>
                  <a:srgbClr val="263A50"/>
                </a:solidFill>
                <a:latin typeface="DejaVu Sans"/>
              </a:defRPr>
            </a:pPr>
            <a:r>
              <a:t>Power backoff limits their leakage.</a:t>
            </a:r>
          </a:p>
        </p:txBody>
      </p:sp>
      <p:pic>
        <p:nvPicPr>
          <p:cNvPr id="15" name="Picture 14" descr="eq_007c80be45de70c.png"/>
          <p:cNvPicPr>
            <a:picLocks noChangeAspect="1"/>
          </p:cNvPicPr>
          <p:nvPr/>
        </p:nvPicPr>
        <p:blipFill>
          <a:blip r:embed="rId3"/>
          <a:stretch>
            <a:fillRect/>
          </a:stretch>
        </p:blipFill>
        <p:spPr>
          <a:xfrm>
            <a:off x="4426957" y="5130800"/>
            <a:ext cx="3338085" cy="406400"/>
          </a:xfrm>
          <a:prstGeom prst="rect">
            <a:avLst/>
          </a:prstGeom>
        </p:spPr>
      </p:pic>
      <p:sp>
        <p:nvSpPr>
          <p:cNvPr id="16" name="TextBox 15"/>
          <p:cNvSpPr txBox="1"/>
          <p:nvPr/>
        </p:nvSpPr>
        <p:spPr>
          <a:xfrm>
            <a:off x="558800" y="6553200"/>
            <a:ext cx="10604500" cy="215900"/>
          </a:xfrm>
          <a:prstGeom prst="rect">
            <a:avLst/>
          </a:prstGeom>
          <a:noFill/>
        </p:spPr>
        <p:txBody>
          <a:bodyPr wrap="none" lIns="0" tIns="0">
            <a:spAutoFit/>
          </a:bodyPr>
          <a:lstStyle/>
          <a:p>
            <a:pPr>
              <a:defRPr sz="900">
                <a:solidFill>
                  <a:srgbClr val="617487"/>
                </a:solidFill>
                <a:latin typeface="DejaVu Sans"/>
              </a:defRPr>
            </a:pPr>
            <a:r>
              <a:t>Appendix D.B · Proposition: exact set-wise protection</a:t>
            </a:r>
          </a:p>
        </p:txBody>
      </p:sp>
      <p:sp>
        <p:nvSpPr>
          <p:cNvPr id="17" name="TextBox 16"/>
          <p:cNvSpPr txBox="1"/>
          <p:nvPr/>
        </p:nvSpPr>
        <p:spPr>
          <a:xfrm>
            <a:off x="11239500" y="6553200"/>
            <a:ext cx="825500" cy="215900"/>
          </a:xfrm>
          <a:prstGeom prst="rect">
            <a:avLst/>
          </a:prstGeom>
          <a:noFill/>
        </p:spPr>
        <p:txBody>
          <a:bodyPr wrap="none" lIns="0" tIns="0">
            <a:spAutoFit/>
          </a:bodyPr>
          <a:lstStyle/>
          <a:p>
            <a:pPr>
              <a:defRPr sz="900">
                <a:solidFill>
                  <a:srgbClr val="617487"/>
                </a:solidFill>
                <a:latin typeface="DejaVu Sans"/>
              </a:defRPr>
            </a:pPr>
            <a:r>
              <a:t>08 / 30</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58800" y="304800"/>
            <a:ext cx="10795000" cy="264922"/>
          </a:xfrm>
          <a:prstGeom prst="rect">
            <a:avLst/>
          </a:prstGeom>
          <a:noFill/>
        </p:spPr>
        <p:txBody>
          <a:bodyPr wrap="none" lIns="0" rIns="0" tIns="0" bIns="0">
            <a:spAutoFit/>
          </a:bodyPr>
          <a:lstStyle/>
          <a:p>
            <a:pPr>
              <a:lnSpc>
                <a:spcPts val="1586"/>
              </a:lnSpc>
              <a:spcBef>
                <a:spcPts val="0"/>
              </a:spcBef>
              <a:spcAft>
                <a:spcPts val="0"/>
              </a:spcAft>
              <a:defRPr sz="1300" b="1">
                <a:solidFill>
                  <a:srgbClr val="087F8C"/>
                </a:solidFill>
                <a:latin typeface="DejaVu Sans"/>
              </a:defRPr>
            </a:pPr>
            <a:r>
              <a:t>B–C · BACKGROUND PROTECTION</a:t>
            </a:r>
          </a:p>
        </p:txBody>
      </p:sp>
      <p:sp>
        <p:nvSpPr>
          <p:cNvPr id="4" name="TextBox 3"/>
          <p:cNvSpPr txBox="1"/>
          <p:nvPr/>
        </p:nvSpPr>
        <p:spPr>
          <a:xfrm>
            <a:off x="558800" y="673100"/>
            <a:ext cx="11150600" cy="528320"/>
          </a:xfrm>
          <a:prstGeom prst="rect">
            <a:avLst/>
          </a:prstGeom>
          <a:noFill/>
        </p:spPr>
        <p:txBody>
          <a:bodyPr wrap="none" lIns="0" rIns="0" tIns="0" bIns="0">
            <a:spAutoFit/>
          </a:bodyPr>
          <a:lstStyle/>
          <a:p>
            <a:pPr>
              <a:lnSpc>
                <a:spcPts val="3660"/>
              </a:lnSpc>
              <a:spcBef>
                <a:spcPts val="0"/>
              </a:spcBef>
              <a:spcAft>
                <a:spcPts val="0"/>
              </a:spcAft>
              <a:defRPr sz="3000" b="1">
                <a:solidFill>
                  <a:srgbClr val="152C46"/>
                </a:solidFill>
                <a:latin typeface="DejaVu Sans"/>
              </a:defRPr>
            </a:pPr>
            <a:r>
              <a:t>A silent receiver can still force power backoff</a:t>
            </a:r>
          </a:p>
        </p:txBody>
      </p:sp>
      <p:sp>
        <p:nvSpPr>
          <p:cNvPr id="5" name="Rectangle 4"/>
          <p:cNvSpPr/>
          <p:nvPr/>
        </p:nvSpPr>
        <p:spPr>
          <a:xfrm>
            <a:off x="558800" y="1320800"/>
            <a:ext cx="698500" cy="50800"/>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58800" y="5765800"/>
            <a:ext cx="11074400" cy="584200"/>
          </a:xfrm>
          <a:prstGeom prst="roundRect">
            <a:avLst>
              <a:gd name="adj" fmla="val 8000"/>
            </a:avLst>
          </a:prstGeom>
          <a:solidFill>
            <a:srgbClr val="E5F3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62000" y="5905500"/>
            <a:ext cx="10693400" cy="590296"/>
          </a:xfrm>
          <a:prstGeom prst="rect">
            <a:avLst/>
          </a:prstGeom>
          <a:noFill/>
        </p:spPr>
        <p:txBody>
          <a:bodyPr wrap="none" lIns="0" rIns="0" tIns="0" bIns="0">
            <a:spAutoFit/>
          </a:bodyPr>
          <a:lstStyle/>
          <a:p>
            <a:pPr>
              <a:lnSpc>
                <a:spcPts val="2074"/>
              </a:lnSpc>
              <a:spcBef>
                <a:spcPts val="0"/>
              </a:spcBef>
              <a:spcAft>
                <a:spcPts val="0"/>
              </a:spcAft>
              <a:defRPr sz="1700" b="1">
                <a:solidFill>
                  <a:srgbClr val="152C46"/>
                </a:solidFill>
                <a:latin typeface="DejaVu Sans"/>
              </a:defRPr>
            </a:pPr>
            <a:r>
              <a:t>Passive UL sensing cannot distinguish an absent receiver from a permanently silent</a:t>
            </a:r>
          </a:p>
          <a:p>
            <a:pPr>
              <a:lnSpc>
                <a:spcPts val="2074"/>
              </a:lnSpc>
              <a:spcBef>
                <a:spcPts val="0"/>
              </a:spcBef>
              <a:spcAft>
                <a:spcPts val="0"/>
              </a:spcAft>
              <a:defRPr sz="1700" b="1">
                <a:solidFill>
                  <a:srgbClr val="152C46"/>
                </a:solidFill>
                <a:latin typeface="DejaVu Sans"/>
              </a:defRPr>
            </a:pPr>
            <a:r>
              <a:t>one.</a:t>
            </a:r>
          </a:p>
        </p:txBody>
      </p:sp>
      <p:pic>
        <p:nvPicPr>
          <p:cNvPr id="8" name="Picture 7" descr="eq_10e3b6dcd8bbd43.png"/>
          <p:cNvPicPr>
            <a:picLocks noChangeAspect="1"/>
          </p:cNvPicPr>
          <p:nvPr/>
        </p:nvPicPr>
        <p:blipFill>
          <a:blip r:embed="rId2"/>
          <a:stretch>
            <a:fillRect/>
          </a:stretch>
        </p:blipFill>
        <p:spPr>
          <a:xfrm>
            <a:off x="1909053" y="1778000"/>
            <a:ext cx="8373893" cy="571500"/>
          </a:xfrm>
          <a:prstGeom prst="rect">
            <a:avLst/>
          </a:prstGeom>
        </p:spPr>
      </p:pic>
      <p:pic>
        <p:nvPicPr>
          <p:cNvPr id="9" name="Picture 8" descr="eq_b33d2ce1e8441a2.png"/>
          <p:cNvPicPr>
            <a:picLocks noChangeAspect="1"/>
          </p:cNvPicPr>
          <p:nvPr/>
        </p:nvPicPr>
        <p:blipFill>
          <a:blip r:embed="rId3"/>
          <a:stretch>
            <a:fillRect/>
          </a:stretch>
        </p:blipFill>
        <p:spPr>
          <a:xfrm>
            <a:off x="4997450" y="2413000"/>
            <a:ext cx="2133600" cy="355600"/>
          </a:xfrm>
          <a:prstGeom prst="rect">
            <a:avLst/>
          </a:prstGeom>
        </p:spPr>
      </p:pic>
      <p:sp>
        <p:nvSpPr>
          <p:cNvPr id="10" name="Rounded Rectangle 9"/>
          <p:cNvSpPr/>
          <p:nvPr/>
        </p:nvSpPr>
        <p:spPr>
          <a:xfrm>
            <a:off x="558800" y="2832100"/>
            <a:ext cx="5245100" cy="2400300"/>
          </a:xfrm>
          <a:prstGeom prst="roundRect">
            <a:avLst>
              <a:gd name="adj" fmla="val 8000"/>
            </a:avLst>
          </a:prstGeom>
          <a:solidFill>
            <a:srgbClr val="E5F3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87400" y="3048000"/>
            <a:ext cx="4787900" cy="388874"/>
          </a:xfrm>
          <a:prstGeom prst="rect">
            <a:avLst/>
          </a:prstGeom>
          <a:noFill/>
        </p:spPr>
        <p:txBody>
          <a:bodyPr wrap="none" lIns="0" rIns="0" tIns="0" bIns="0">
            <a:spAutoFit/>
          </a:bodyPr>
          <a:lstStyle/>
          <a:p>
            <a:pPr>
              <a:lnSpc>
                <a:spcPts val="2562"/>
              </a:lnSpc>
              <a:spcBef>
                <a:spcPts val="0"/>
              </a:spcBef>
              <a:spcAft>
                <a:spcPts val="0"/>
              </a:spcAft>
              <a:defRPr sz="2100" b="1">
                <a:solidFill>
                  <a:srgbClr val="087F8C"/>
                </a:solidFill>
                <a:latin typeface="DejaVu Sans"/>
              </a:defRPr>
            </a:pPr>
            <a:r>
              <a:t>Directional information</a:t>
            </a:r>
          </a:p>
        </p:txBody>
      </p:sp>
      <p:sp>
        <p:nvSpPr>
          <p:cNvPr id="12" name="TextBox 11"/>
          <p:cNvSpPr txBox="1"/>
          <p:nvPr/>
        </p:nvSpPr>
        <p:spPr>
          <a:xfrm>
            <a:off x="787400" y="3517900"/>
            <a:ext cx="4787900" cy="1457960"/>
          </a:xfrm>
          <a:prstGeom prst="rect">
            <a:avLst/>
          </a:prstGeom>
          <a:noFill/>
        </p:spPr>
        <p:txBody>
          <a:bodyPr wrap="none" lIns="0" rIns="0" tIns="0" bIns="0">
            <a:spAutoFit/>
          </a:bodyPr>
          <a:lstStyle/>
          <a:p>
            <a:pPr>
              <a:lnSpc>
                <a:spcPts val="2196"/>
              </a:lnSpc>
              <a:spcBef>
                <a:spcPts val="0"/>
              </a:spcBef>
              <a:spcAft>
                <a:spcPts val="0"/>
              </a:spcAft>
              <a:defRPr sz="1800" b="0">
                <a:solidFill>
                  <a:srgbClr val="263A50"/>
                </a:solidFill>
                <a:latin typeface="DejaVu Sans"/>
              </a:defRPr>
            </a:pPr>
            <a:r>
              <a:t>A known path span supports spatial</a:t>
            </a:r>
          </a:p>
          <a:p>
            <a:pPr>
              <a:lnSpc>
                <a:spcPts val="2196"/>
              </a:lnSpc>
              <a:spcBef>
                <a:spcPts val="0"/>
              </a:spcBef>
              <a:spcAft>
                <a:spcPts val="0"/>
              </a:spcAft>
              <a:defRPr sz="1800" b="0">
                <a:solidFill>
                  <a:srgbClr val="263A50"/>
                </a:solidFill>
                <a:latin typeface="DejaVu Sans"/>
              </a:defRPr>
            </a:pPr>
            <a:r>
              <a:t>suppression.</a:t>
            </a:r>
          </a:p>
          <a:p>
            <a:pPr>
              <a:lnSpc>
                <a:spcPts val="2196"/>
              </a:lnSpc>
              <a:spcBef>
                <a:spcPts val="0"/>
              </a:spcBef>
              <a:spcAft>
                <a:spcPts val="0"/>
              </a:spcAft>
              <a:defRPr sz="1800" b="0">
                <a:solidFill>
                  <a:srgbClr val="263A50"/>
                </a:solidFill>
                <a:latin typeface="DejaVu Sans"/>
              </a:defRPr>
            </a:pPr>
          </a:p>
          <a:p>
            <a:pPr>
              <a:lnSpc>
                <a:spcPts val="2196"/>
              </a:lnSpc>
              <a:spcBef>
                <a:spcPts val="0"/>
              </a:spcBef>
              <a:spcAft>
                <a:spcPts val="0"/>
              </a:spcAft>
              <a:defRPr sz="1800" b="0">
                <a:solidFill>
                  <a:srgbClr val="263A50"/>
                </a:solidFill>
                <a:latin typeface="DejaVu Sans"/>
              </a:defRPr>
            </a:pPr>
            <a:r>
              <a:t>Unknown complex DL gains still require</a:t>
            </a:r>
          </a:p>
          <a:p>
            <a:pPr>
              <a:lnSpc>
                <a:spcPts val="2196"/>
              </a:lnSpc>
              <a:spcBef>
                <a:spcPts val="0"/>
              </a:spcBef>
              <a:spcAft>
                <a:spcPts val="0"/>
              </a:spcAft>
              <a:defRPr sz="1800" b="0">
                <a:solidFill>
                  <a:srgbClr val="263A50"/>
                </a:solidFill>
                <a:latin typeface="DejaVu Sans"/>
              </a:defRPr>
            </a:pPr>
            <a:r>
              <a:t>valid bounds.</a:t>
            </a:r>
          </a:p>
        </p:txBody>
      </p:sp>
      <p:sp>
        <p:nvSpPr>
          <p:cNvPr id="13" name="Rounded Rectangle 12"/>
          <p:cNvSpPr/>
          <p:nvPr/>
        </p:nvSpPr>
        <p:spPr>
          <a:xfrm>
            <a:off x="6197600" y="2832100"/>
            <a:ext cx="5435600" cy="2400300"/>
          </a:xfrm>
          <a:prstGeom prst="roundRect">
            <a:avLst>
              <a:gd name="adj" fmla="val 8000"/>
            </a:avLst>
          </a:prstGeom>
          <a:solidFill>
            <a:srgbClr val="FFF3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26200" y="3048000"/>
            <a:ext cx="4978400" cy="388874"/>
          </a:xfrm>
          <a:prstGeom prst="rect">
            <a:avLst/>
          </a:prstGeom>
          <a:noFill/>
        </p:spPr>
        <p:txBody>
          <a:bodyPr wrap="none" lIns="0" rIns="0" tIns="0" bIns="0">
            <a:spAutoFit/>
          </a:bodyPr>
          <a:lstStyle/>
          <a:p>
            <a:pPr>
              <a:lnSpc>
                <a:spcPts val="2562"/>
              </a:lnSpc>
              <a:spcBef>
                <a:spcPts val="0"/>
              </a:spcBef>
              <a:spcAft>
                <a:spcPts val="0"/>
              </a:spcAft>
              <a:defRPr sz="2100" b="1">
                <a:solidFill>
                  <a:srgbClr val="087F8C"/>
                </a:solidFill>
                <a:latin typeface="DejaVu Sans"/>
              </a:defRPr>
            </a:pPr>
            <a:r>
              <a:t>Arbitrary-direction background</a:t>
            </a:r>
          </a:p>
        </p:txBody>
      </p:sp>
      <p:sp>
        <p:nvSpPr>
          <p:cNvPr id="15" name="TextBox 14"/>
          <p:cNvSpPr txBox="1"/>
          <p:nvPr/>
        </p:nvSpPr>
        <p:spPr>
          <a:xfrm>
            <a:off x="6426200" y="3517900"/>
            <a:ext cx="4978400" cy="900176"/>
          </a:xfrm>
          <a:prstGeom prst="rect">
            <a:avLst/>
          </a:prstGeom>
          <a:noFill/>
        </p:spPr>
        <p:txBody>
          <a:bodyPr wrap="none" lIns="0" rIns="0" tIns="0" bIns="0">
            <a:spAutoFit/>
          </a:bodyPr>
          <a:lstStyle/>
          <a:p>
            <a:pPr>
              <a:lnSpc>
                <a:spcPts val="2196"/>
              </a:lnSpc>
              <a:spcBef>
                <a:spcPts val="0"/>
              </a:spcBef>
              <a:spcAft>
                <a:spcPts val="0"/>
              </a:spcAft>
              <a:defRPr sz="1800" b="0">
                <a:solidFill>
                  <a:srgbClr val="263A50"/>
                </a:solidFill>
                <a:latin typeface="DejaVu Sans"/>
              </a:defRPr>
            </a:pPr>
            <a:r>
              <a:t>If ||f|| ≤ β, every direction is possible.</a:t>
            </a:r>
          </a:p>
          <a:p>
            <a:pPr>
              <a:lnSpc>
                <a:spcPts val="2196"/>
              </a:lnSpc>
              <a:spcBef>
                <a:spcPts val="0"/>
              </a:spcBef>
              <a:spcAft>
                <a:spcPts val="0"/>
              </a:spcAft>
              <a:defRPr sz="1800" b="0">
                <a:solidFill>
                  <a:srgbClr val="263A50"/>
                </a:solidFill>
                <a:latin typeface="DejaVu Sans"/>
              </a:defRPr>
            </a:pPr>
          </a:p>
          <a:p>
            <a:pPr>
              <a:lnSpc>
                <a:spcPts val="2196"/>
              </a:lnSpc>
              <a:spcBef>
                <a:spcPts val="0"/>
              </a:spcBef>
              <a:spcAft>
                <a:spcPts val="0"/>
              </a:spcAft>
              <a:defRPr sz="1800" b="0">
                <a:solidFill>
                  <a:srgbClr val="263A50"/>
                </a:solidFill>
                <a:latin typeface="DejaVu Sans"/>
              </a:defRPr>
            </a:pPr>
            <a:r>
              <a:t>The only universal control is beam norm.</a:t>
            </a:r>
          </a:p>
        </p:txBody>
      </p:sp>
      <p:pic>
        <p:nvPicPr>
          <p:cNvPr id="16" name="Picture 15" descr="eq_ee439a7d7d82418.png"/>
          <p:cNvPicPr>
            <a:picLocks noChangeAspect="1"/>
          </p:cNvPicPr>
          <p:nvPr/>
        </p:nvPicPr>
        <p:blipFill>
          <a:blip r:embed="rId4"/>
          <a:stretch>
            <a:fillRect/>
          </a:stretch>
        </p:blipFill>
        <p:spPr>
          <a:xfrm>
            <a:off x="6613906" y="4749800"/>
            <a:ext cx="4552188" cy="368300"/>
          </a:xfrm>
          <a:prstGeom prst="rect">
            <a:avLst/>
          </a:prstGeom>
        </p:spPr>
      </p:pic>
      <p:sp>
        <p:nvSpPr>
          <p:cNvPr id="17" name="TextBox 16"/>
          <p:cNvSpPr txBox="1"/>
          <p:nvPr/>
        </p:nvSpPr>
        <p:spPr>
          <a:xfrm>
            <a:off x="558800" y="6553200"/>
            <a:ext cx="10604500" cy="215900"/>
          </a:xfrm>
          <a:prstGeom prst="rect">
            <a:avLst/>
          </a:prstGeom>
          <a:noFill/>
        </p:spPr>
        <p:txBody>
          <a:bodyPr wrap="none" lIns="0" tIns="0">
            <a:spAutoFit/>
          </a:bodyPr>
          <a:lstStyle/>
          <a:p>
            <a:pPr>
              <a:defRPr sz="900">
                <a:solidFill>
                  <a:srgbClr val="617487"/>
                </a:solidFill>
                <a:latin typeface="DejaVu Sans"/>
              </a:defRPr>
            </a:pPr>
            <a:r>
              <a:t>Appendix D.B–C · eq:joint_exposure · background catalog</a:t>
            </a:r>
          </a:p>
        </p:txBody>
      </p:sp>
      <p:sp>
        <p:nvSpPr>
          <p:cNvPr id="18" name="TextBox 17"/>
          <p:cNvSpPr txBox="1"/>
          <p:nvPr/>
        </p:nvSpPr>
        <p:spPr>
          <a:xfrm>
            <a:off x="11239500" y="6553200"/>
            <a:ext cx="825500" cy="215900"/>
          </a:xfrm>
          <a:prstGeom prst="rect">
            <a:avLst/>
          </a:prstGeom>
          <a:noFill/>
        </p:spPr>
        <p:txBody>
          <a:bodyPr wrap="none" lIns="0" tIns="0">
            <a:spAutoFit/>
          </a:bodyPr>
          <a:lstStyle/>
          <a:p>
            <a:pPr>
              <a:defRPr sz="900">
                <a:solidFill>
                  <a:srgbClr val="617487"/>
                </a:solidFill>
                <a:latin typeface="DejaVu Sans"/>
              </a:defRPr>
            </a:pPr>
            <a:r>
              <a:t>09 / 30</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58800" y="304800"/>
            <a:ext cx="10795000" cy="264922"/>
          </a:xfrm>
          <a:prstGeom prst="rect">
            <a:avLst/>
          </a:prstGeom>
          <a:noFill/>
        </p:spPr>
        <p:txBody>
          <a:bodyPr wrap="none" lIns="0" rIns="0" tIns="0" bIns="0">
            <a:spAutoFit/>
          </a:bodyPr>
          <a:lstStyle/>
          <a:p>
            <a:pPr>
              <a:lnSpc>
                <a:spcPts val="1586"/>
              </a:lnSpc>
              <a:spcBef>
                <a:spcPts val="0"/>
              </a:spcBef>
              <a:spcAft>
                <a:spcPts val="0"/>
              </a:spcAft>
              <a:defRPr sz="1300" b="1">
                <a:solidFill>
                  <a:srgbClr val="087F8C"/>
                </a:solidFill>
                <a:latin typeface="DejaVu Sans"/>
              </a:defRPr>
            </a:pPr>
            <a:r>
              <a:t>C · PERFORMANCE METRICS</a:t>
            </a:r>
          </a:p>
        </p:txBody>
      </p:sp>
      <p:sp>
        <p:nvSpPr>
          <p:cNvPr id="4" name="TextBox 3"/>
          <p:cNvSpPr txBox="1"/>
          <p:nvPr/>
        </p:nvSpPr>
        <p:spPr>
          <a:xfrm>
            <a:off x="558800" y="673100"/>
            <a:ext cx="11150600" cy="412177"/>
          </a:xfrm>
          <a:prstGeom prst="rect">
            <a:avLst/>
          </a:prstGeom>
          <a:noFill/>
        </p:spPr>
        <p:txBody>
          <a:bodyPr wrap="none" lIns="0" rIns="0" tIns="0" bIns="0">
            <a:spAutoFit/>
          </a:bodyPr>
          <a:lstStyle/>
          <a:p>
            <a:pPr>
              <a:lnSpc>
                <a:spcPts val="2745"/>
              </a:lnSpc>
              <a:spcBef>
                <a:spcPts val="0"/>
              </a:spcBef>
              <a:spcAft>
                <a:spcPts val="0"/>
              </a:spcAft>
              <a:defRPr sz="2250" b="1">
                <a:solidFill>
                  <a:srgbClr val="152C46"/>
                </a:solidFill>
                <a:latin typeface="DejaVu Sans"/>
              </a:defRPr>
            </a:pPr>
            <a:r>
              <a:t>Service reliability and interference exposure use different metrics</a:t>
            </a:r>
          </a:p>
        </p:txBody>
      </p:sp>
      <p:sp>
        <p:nvSpPr>
          <p:cNvPr id="5" name="Rectangle 4"/>
          <p:cNvSpPr/>
          <p:nvPr/>
        </p:nvSpPr>
        <p:spPr>
          <a:xfrm>
            <a:off x="558800" y="1320800"/>
            <a:ext cx="698500" cy="50800"/>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58800" y="5765800"/>
            <a:ext cx="11074400" cy="584200"/>
          </a:xfrm>
          <a:prstGeom prst="roundRect">
            <a:avLst>
              <a:gd name="adj" fmla="val 8000"/>
            </a:avLst>
          </a:prstGeom>
          <a:solidFill>
            <a:srgbClr val="E5F3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62000" y="5905500"/>
            <a:ext cx="10693400" cy="326898"/>
          </a:xfrm>
          <a:prstGeom prst="rect">
            <a:avLst/>
          </a:prstGeom>
          <a:noFill/>
        </p:spPr>
        <p:txBody>
          <a:bodyPr wrap="none" lIns="0" rIns="0" tIns="0" bIns="0">
            <a:spAutoFit/>
          </a:bodyPr>
          <a:lstStyle/>
          <a:p>
            <a:pPr>
              <a:lnSpc>
                <a:spcPts val="2074"/>
              </a:lnSpc>
              <a:spcBef>
                <a:spcPts val="0"/>
              </a:spcBef>
              <a:spcAft>
                <a:spcPts val="0"/>
              </a:spcAft>
              <a:defRPr sz="1700" b="1">
                <a:solidFill>
                  <a:srgbClr val="152C46"/>
                </a:solidFill>
                <a:latin typeface="DejaVu Sans"/>
              </a:defRPr>
            </a:pPr>
            <a:r>
              <a:t>Use identical windows, calendars, references and budgets for every policy.</a:t>
            </a:r>
          </a:p>
        </p:txBody>
      </p:sp>
      <p:sp>
        <p:nvSpPr>
          <p:cNvPr id="8" name="Rounded Rectangle 7"/>
          <p:cNvSpPr/>
          <p:nvPr/>
        </p:nvSpPr>
        <p:spPr>
          <a:xfrm>
            <a:off x="558800" y="1714500"/>
            <a:ext cx="5372100" cy="3492500"/>
          </a:xfrm>
          <a:prstGeom prst="roundRect">
            <a:avLst>
              <a:gd name="adj" fmla="val 8000"/>
            </a:avLst>
          </a:prstGeom>
          <a:solidFill>
            <a:srgbClr val="E5F3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87400" y="1930400"/>
            <a:ext cx="4914900" cy="388874"/>
          </a:xfrm>
          <a:prstGeom prst="rect">
            <a:avLst/>
          </a:prstGeom>
          <a:noFill/>
        </p:spPr>
        <p:txBody>
          <a:bodyPr wrap="none" lIns="0" rIns="0" tIns="0" bIns="0">
            <a:spAutoFit/>
          </a:bodyPr>
          <a:lstStyle/>
          <a:p>
            <a:pPr>
              <a:lnSpc>
                <a:spcPts val="2562"/>
              </a:lnSpc>
              <a:spcBef>
                <a:spcPts val="0"/>
              </a:spcBef>
              <a:spcAft>
                <a:spcPts val="0"/>
              </a:spcAft>
              <a:defRPr sz="2100" b="1">
                <a:solidFill>
                  <a:srgbClr val="087F8C"/>
                </a:solidFill>
                <a:latin typeface="DejaVu Sans"/>
              </a:defRPr>
            </a:pPr>
            <a:r>
              <a:t>TN: deadline service</a:t>
            </a:r>
          </a:p>
        </p:txBody>
      </p:sp>
      <p:sp>
        <p:nvSpPr>
          <p:cNvPr id="10" name="TextBox 9"/>
          <p:cNvSpPr txBox="1"/>
          <p:nvPr/>
        </p:nvSpPr>
        <p:spPr>
          <a:xfrm>
            <a:off x="787400" y="2400300"/>
            <a:ext cx="4914900" cy="900176"/>
          </a:xfrm>
          <a:prstGeom prst="rect">
            <a:avLst/>
          </a:prstGeom>
          <a:noFill/>
        </p:spPr>
        <p:txBody>
          <a:bodyPr wrap="none" lIns="0" rIns="0" tIns="0" bIns="0">
            <a:spAutoFit/>
          </a:bodyPr>
          <a:lstStyle/>
          <a:p>
            <a:pPr>
              <a:lnSpc>
                <a:spcPts val="2196"/>
              </a:lnSpc>
              <a:spcBef>
                <a:spcPts val="0"/>
              </a:spcBef>
              <a:spcAft>
                <a:spcPts val="0"/>
              </a:spcAft>
              <a:defRPr sz="1800" b="0">
                <a:solidFill>
                  <a:srgbClr val="263A50"/>
                </a:solidFill>
                <a:latin typeface="DejaVu Sans"/>
              </a:defRPr>
            </a:pPr>
            <a:r>
              <a:t>Accumulate only available resources.</a:t>
            </a:r>
          </a:p>
          <a:p>
            <a:pPr>
              <a:lnSpc>
                <a:spcPts val="2196"/>
              </a:lnSpc>
              <a:spcBef>
                <a:spcPts val="0"/>
              </a:spcBef>
              <a:spcAft>
                <a:spcPts val="0"/>
              </a:spcAft>
              <a:defRPr sz="1800" b="0">
                <a:solidFill>
                  <a:srgbClr val="263A50"/>
                </a:solidFill>
                <a:latin typeface="DejaVu Sans"/>
              </a:defRPr>
            </a:pPr>
            <a:r>
              <a:t>Check each user, direction and window.</a:t>
            </a:r>
          </a:p>
          <a:p>
            <a:pPr>
              <a:lnSpc>
                <a:spcPts val="2196"/>
              </a:lnSpc>
              <a:spcBef>
                <a:spcPts val="0"/>
              </a:spcBef>
              <a:spcAft>
                <a:spcPts val="0"/>
              </a:spcAft>
              <a:defRPr sz="1800" b="0">
                <a:solidFill>
                  <a:srgbClr val="263A50"/>
                </a:solidFill>
                <a:latin typeface="DejaVu Sans"/>
              </a:defRPr>
            </a:pPr>
            <a:r>
              <a:t>The demand is frozen in advance.</a:t>
            </a:r>
          </a:p>
        </p:txBody>
      </p:sp>
      <p:pic>
        <p:nvPicPr>
          <p:cNvPr id="11" name="Picture 10" descr="eq_6e303e213dadfc1.png"/>
          <p:cNvPicPr>
            <a:picLocks noChangeAspect="1"/>
          </p:cNvPicPr>
          <p:nvPr/>
        </p:nvPicPr>
        <p:blipFill>
          <a:blip r:embed="rId2"/>
          <a:stretch>
            <a:fillRect/>
          </a:stretch>
        </p:blipFill>
        <p:spPr>
          <a:xfrm>
            <a:off x="825500" y="3933243"/>
            <a:ext cx="4825999" cy="452012"/>
          </a:xfrm>
          <a:prstGeom prst="rect">
            <a:avLst/>
          </a:prstGeom>
        </p:spPr>
      </p:pic>
      <p:sp>
        <p:nvSpPr>
          <p:cNvPr id="12" name="TextBox 11"/>
          <p:cNvSpPr txBox="1"/>
          <p:nvPr/>
        </p:nvSpPr>
        <p:spPr>
          <a:xfrm>
            <a:off x="812800" y="4737100"/>
            <a:ext cx="4826000" cy="559308"/>
          </a:xfrm>
          <a:prstGeom prst="rect">
            <a:avLst/>
          </a:prstGeom>
          <a:noFill/>
        </p:spPr>
        <p:txBody>
          <a:bodyPr wrap="none" lIns="0" rIns="0" tIns="0" bIns="0">
            <a:spAutoFit/>
          </a:bodyPr>
          <a:lstStyle/>
          <a:p>
            <a:pPr>
              <a:lnSpc>
                <a:spcPts val="1952"/>
              </a:lnSpc>
              <a:spcBef>
                <a:spcPts val="0"/>
              </a:spcBef>
              <a:spcAft>
                <a:spcPts val="0"/>
              </a:spcAft>
              <a:defRPr sz="1600" b="1">
                <a:solidFill>
                  <a:srgbClr val="087F8C"/>
                </a:solidFill>
                <a:latin typeface="DejaVu Sans"/>
              </a:defRPr>
            </a:pPr>
            <a:r>
              <a:t>Mean throughput cannot replace this</a:t>
            </a:r>
          </a:p>
          <a:p>
            <a:pPr>
              <a:lnSpc>
                <a:spcPts val="1952"/>
              </a:lnSpc>
              <a:spcBef>
                <a:spcPts val="0"/>
              </a:spcBef>
              <a:spcAft>
                <a:spcPts val="0"/>
              </a:spcAft>
              <a:defRPr sz="1600" b="1">
                <a:solidFill>
                  <a:srgbClr val="087F8C"/>
                </a:solidFill>
                <a:latin typeface="DejaVu Sans"/>
              </a:defRPr>
            </a:pPr>
            <a:r>
              <a:t>event.</a:t>
            </a:r>
          </a:p>
        </p:txBody>
      </p:sp>
      <p:sp>
        <p:nvSpPr>
          <p:cNvPr id="13" name="Rounded Rectangle 12"/>
          <p:cNvSpPr/>
          <p:nvPr/>
        </p:nvSpPr>
        <p:spPr>
          <a:xfrm>
            <a:off x="6273800" y="1714500"/>
            <a:ext cx="5359400" cy="3492500"/>
          </a:xfrm>
          <a:prstGeom prst="roundRect">
            <a:avLst>
              <a:gd name="adj" fmla="val 8000"/>
            </a:avLst>
          </a:prstGeom>
          <a:solidFill>
            <a:srgbClr val="EF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502400" y="1930400"/>
            <a:ext cx="4902200" cy="388874"/>
          </a:xfrm>
          <a:prstGeom prst="rect">
            <a:avLst/>
          </a:prstGeom>
          <a:noFill/>
        </p:spPr>
        <p:txBody>
          <a:bodyPr wrap="none" lIns="0" rIns="0" tIns="0" bIns="0">
            <a:spAutoFit/>
          </a:bodyPr>
          <a:lstStyle/>
          <a:p>
            <a:pPr>
              <a:lnSpc>
                <a:spcPts val="2562"/>
              </a:lnSpc>
              <a:spcBef>
                <a:spcPts val="0"/>
              </a:spcBef>
              <a:spcAft>
                <a:spcPts val="0"/>
              </a:spcAft>
              <a:defRPr sz="2100" b="1">
                <a:solidFill>
                  <a:srgbClr val="087F8C"/>
                </a:solidFill>
                <a:latin typeface="DejaVu Sans"/>
              </a:defRPr>
            </a:pPr>
            <a:r>
              <a:t>NTN: active-time exposure</a:t>
            </a:r>
          </a:p>
        </p:txBody>
      </p:sp>
      <p:sp>
        <p:nvSpPr>
          <p:cNvPr id="15" name="TextBox 14"/>
          <p:cNvSpPr txBox="1"/>
          <p:nvPr/>
        </p:nvSpPr>
        <p:spPr>
          <a:xfrm>
            <a:off x="6502400" y="2400300"/>
            <a:ext cx="4902200" cy="900176"/>
          </a:xfrm>
          <a:prstGeom prst="rect">
            <a:avLst/>
          </a:prstGeom>
          <a:noFill/>
        </p:spPr>
        <p:txBody>
          <a:bodyPr wrap="none" lIns="0" rIns="0" tIns="0" bIns="0">
            <a:spAutoFit/>
          </a:bodyPr>
          <a:lstStyle/>
          <a:p>
            <a:pPr>
              <a:lnSpc>
                <a:spcPts val="2196"/>
              </a:lnSpc>
              <a:spcBef>
                <a:spcPts val="0"/>
              </a:spcBef>
              <a:spcAft>
                <a:spcPts val="0"/>
              </a:spcAft>
              <a:defRPr sz="1800" b="0">
                <a:solidFill>
                  <a:srgbClr val="263A50"/>
                </a:solidFill>
                <a:latin typeface="DejaVu Sans"/>
              </a:defRPr>
            </a:pPr>
            <a:r>
              <a:t>Include missed and UL-silent receivers.</a:t>
            </a:r>
          </a:p>
          <a:p>
            <a:pPr>
              <a:lnSpc>
                <a:spcPts val="2196"/>
              </a:lnSpc>
              <a:spcBef>
                <a:spcPts val="0"/>
              </a:spcBef>
              <a:spcAft>
                <a:spcPts val="0"/>
              </a:spcAft>
              <a:defRPr sz="1800" b="0">
                <a:solidFill>
                  <a:srgbClr val="263A50"/>
                </a:solidFill>
                <a:latin typeface="DejaVu Sans"/>
              </a:defRPr>
            </a:pPr>
            <a:r>
              <a:t>Count activity during gaps and silence.</a:t>
            </a:r>
          </a:p>
          <a:p>
            <a:pPr>
              <a:lnSpc>
                <a:spcPts val="2196"/>
              </a:lnSpc>
              <a:spcBef>
                <a:spcPts val="0"/>
              </a:spcBef>
              <a:spcAft>
                <a:spcPts val="0"/>
              </a:spcAft>
              <a:defRPr sz="1800" b="0">
                <a:solidFill>
                  <a:srgbClr val="263A50"/>
                </a:solidFill>
                <a:latin typeface="DejaVu Sans"/>
              </a:defRPr>
            </a:pPr>
            <a:r>
              <a:t>Aggregate durations across episodes.</a:t>
            </a:r>
          </a:p>
        </p:txBody>
      </p:sp>
      <p:pic>
        <p:nvPicPr>
          <p:cNvPr id="16" name="Picture 15" descr="eq_4ed21ccb2b43e5a.png"/>
          <p:cNvPicPr>
            <a:picLocks noChangeAspect="1"/>
          </p:cNvPicPr>
          <p:nvPr/>
        </p:nvPicPr>
        <p:blipFill>
          <a:blip r:embed="rId3"/>
          <a:stretch>
            <a:fillRect/>
          </a:stretch>
        </p:blipFill>
        <p:spPr>
          <a:xfrm>
            <a:off x="7221498" y="3784600"/>
            <a:ext cx="3464003" cy="787400"/>
          </a:xfrm>
          <a:prstGeom prst="rect">
            <a:avLst/>
          </a:prstGeom>
        </p:spPr>
      </p:pic>
      <p:sp>
        <p:nvSpPr>
          <p:cNvPr id="17" name="TextBox 16"/>
          <p:cNvSpPr txBox="1"/>
          <p:nvPr/>
        </p:nvSpPr>
        <p:spPr>
          <a:xfrm>
            <a:off x="6489700" y="4737100"/>
            <a:ext cx="4914900" cy="559308"/>
          </a:xfrm>
          <a:prstGeom prst="rect">
            <a:avLst/>
          </a:prstGeom>
          <a:noFill/>
        </p:spPr>
        <p:txBody>
          <a:bodyPr wrap="none" lIns="0" rIns="0" tIns="0" bIns="0">
            <a:spAutoFit/>
          </a:bodyPr>
          <a:lstStyle/>
          <a:p>
            <a:pPr>
              <a:lnSpc>
                <a:spcPts val="1952"/>
              </a:lnSpc>
              <a:spcBef>
                <a:spcPts val="0"/>
              </a:spcBef>
              <a:spcAft>
                <a:spcPts val="0"/>
              </a:spcAft>
              <a:defRPr sz="1600" b="1">
                <a:solidFill>
                  <a:srgbClr val="326DD1"/>
                </a:solidFill>
                <a:latin typeface="DejaVu Sans"/>
              </a:defRPr>
            </a:pPr>
            <a:r>
              <a:t>A ratio of expectations, not a window</a:t>
            </a:r>
          </a:p>
          <a:p>
            <a:pPr>
              <a:lnSpc>
                <a:spcPts val="1952"/>
              </a:lnSpc>
              <a:spcBef>
                <a:spcPts val="0"/>
              </a:spcBef>
              <a:spcAft>
                <a:spcPts val="0"/>
              </a:spcAft>
              <a:defRPr sz="1600" b="1">
                <a:solidFill>
                  <a:srgbClr val="326DD1"/>
                </a:solidFill>
                <a:latin typeface="DejaVu Sans"/>
              </a:defRPr>
            </a:pPr>
            <a:r>
              <a:t>event.</a:t>
            </a:r>
          </a:p>
        </p:txBody>
      </p:sp>
      <p:sp>
        <p:nvSpPr>
          <p:cNvPr id="18" name="TextBox 17"/>
          <p:cNvSpPr txBox="1"/>
          <p:nvPr/>
        </p:nvSpPr>
        <p:spPr>
          <a:xfrm>
            <a:off x="558800" y="6553200"/>
            <a:ext cx="10604500" cy="215900"/>
          </a:xfrm>
          <a:prstGeom prst="rect">
            <a:avLst/>
          </a:prstGeom>
          <a:noFill/>
        </p:spPr>
        <p:txBody>
          <a:bodyPr wrap="none" lIns="0" tIns="0">
            <a:spAutoFit/>
          </a:bodyPr>
          <a:lstStyle/>
          <a:p>
            <a:pPr>
              <a:defRPr sz="900">
                <a:solidFill>
                  <a:srgbClr val="617487"/>
                </a:solidFill>
                <a:latin typeface="DejaVu Sans"/>
              </a:defRPr>
            </a:pPr>
            <a:r>
              <a:t>Appendix D.C · eq:joint_service_target · eq:joint_activity_outage</a:t>
            </a:r>
          </a:p>
        </p:txBody>
      </p:sp>
      <p:sp>
        <p:nvSpPr>
          <p:cNvPr id="19" name="TextBox 18"/>
          <p:cNvSpPr txBox="1"/>
          <p:nvPr/>
        </p:nvSpPr>
        <p:spPr>
          <a:xfrm>
            <a:off x="11239500" y="6553200"/>
            <a:ext cx="825500" cy="215900"/>
          </a:xfrm>
          <a:prstGeom prst="rect">
            <a:avLst/>
          </a:prstGeom>
          <a:noFill/>
        </p:spPr>
        <p:txBody>
          <a:bodyPr wrap="none" lIns="0" tIns="0">
            <a:spAutoFit/>
          </a:bodyPr>
          <a:lstStyle/>
          <a:p>
            <a:pPr>
              <a:defRPr sz="900">
                <a:solidFill>
                  <a:srgbClr val="617487"/>
                </a:solidFill>
                <a:latin typeface="DejaVu Sans"/>
              </a:defRPr>
            </a:pPr>
            <a:r>
              <a:t>10 / 30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58800" y="304800"/>
            <a:ext cx="10795000" cy="264922"/>
          </a:xfrm>
          <a:prstGeom prst="rect">
            <a:avLst/>
          </a:prstGeom>
          <a:noFill/>
        </p:spPr>
        <p:txBody>
          <a:bodyPr wrap="none" lIns="0" rIns="0" tIns="0" bIns="0">
            <a:spAutoFit/>
          </a:bodyPr>
          <a:lstStyle/>
          <a:p>
            <a:pPr>
              <a:lnSpc>
                <a:spcPts val="1586"/>
              </a:lnSpc>
              <a:spcBef>
                <a:spcPts val="0"/>
              </a:spcBef>
              <a:spcAft>
                <a:spcPts val="0"/>
              </a:spcAft>
              <a:defRPr sz="1300" b="1">
                <a:solidFill>
                  <a:srgbClr val="087F8C"/>
                </a:solidFill>
                <a:latin typeface="DejaVu Sans"/>
              </a:defRPr>
            </a:pPr>
            <a:r>
              <a:t>C · CONDITIONAL RISK</a:t>
            </a:r>
          </a:p>
        </p:txBody>
      </p:sp>
      <p:sp>
        <p:nvSpPr>
          <p:cNvPr id="4" name="TextBox 3"/>
          <p:cNvSpPr txBox="1"/>
          <p:nvPr/>
        </p:nvSpPr>
        <p:spPr>
          <a:xfrm>
            <a:off x="558800" y="673100"/>
            <a:ext cx="11150600" cy="451387"/>
          </a:xfrm>
          <a:prstGeom prst="rect">
            <a:avLst/>
          </a:prstGeom>
          <a:noFill/>
        </p:spPr>
        <p:txBody>
          <a:bodyPr wrap="none" lIns="0" rIns="0" tIns="0" bIns="0">
            <a:spAutoFit/>
          </a:bodyPr>
          <a:lstStyle/>
          <a:p>
            <a:pPr>
              <a:lnSpc>
                <a:spcPts val="3054"/>
              </a:lnSpc>
              <a:spcBef>
                <a:spcPts val="0"/>
              </a:spcBef>
              <a:spcAft>
                <a:spcPts val="0"/>
              </a:spcAft>
              <a:defRPr sz="2503" b="1">
                <a:solidFill>
                  <a:srgbClr val="152C46"/>
                </a:solidFill>
                <a:latin typeface="DejaVu Sans"/>
              </a:defRPr>
            </a:pPr>
            <a:r>
              <a:t>Coverage risk bridges robust constraints and actual outage</a:t>
            </a:r>
          </a:p>
        </p:txBody>
      </p:sp>
      <p:sp>
        <p:nvSpPr>
          <p:cNvPr id="5" name="Rectangle 4"/>
          <p:cNvSpPr/>
          <p:nvPr/>
        </p:nvSpPr>
        <p:spPr>
          <a:xfrm>
            <a:off x="558800" y="1320800"/>
            <a:ext cx="698500" cy="50800"/>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58800" y="5765800"/>
            <a:ext cx="11074400" cy="584200"/>
          </a:xfrm>
          <a:prstGeom prst="roundRect">
            <a:avLst>
              <a:gd name="adj" fmla="val 8000"/>
            </a:avLst>
          </a:prstGeom>
          <a:solidFill>
            <a:srgbClr val="E5F3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62000" y="5905500"/>
            <a:ext cx="10693400" cy="326898"/>
          </a:xfrm>
          <a:prstGeom prst="rect">
            <a:avLst/>
          </a:prstGeom>
          <a:noFill/>
        </p:spPr>
        <p:txBody>
          <a:bodyPr wrap="none" lIns="0" rIns="0" tIns="0" bIns="0">
            <a:spAutoFit/>
          </a:bodyPr>
          <a:lstStyle/>
          <a:p>
            <a:pPr>
              <a:lnSpc>
                <a:spcPts val="2074"/>
              </a:lnSpc>
              <a:spcBef>
                <a:spcPts val="0"/>
              </a:spcBef>
              <a:spcAft>
                <a:spcPts val="0"/>
              </a:spcAft>
              <a:defRPr sz="1700" b="1">
                <a:solidFill>
                  <a:srgbClr val="152C46"/>
                </a:solidFill>
                <a:latin typeface="DejaVu Sans"/>
              </a:defRPr>
            </a:pPr>
            <a:r>
              <a:t>Marginal calibration coverage is not a certificate for every adaptively selected history.</a:t>
            </a:r>
          </a:p>
        </p:txBody>
      </p:sp>
      <p:pic>
        <p:nvPicPr>
          <p:cNvPr id="8" name="Picture 7" descr="eq_51a33b3952432aa.png"/>
          <p:cNvPicPr>
            <a:picLocks noChangeAspect="1"/>
          </p:cNvPicPr>
          <p:nvPr/>
        </p:nvPicPr>
        <p:blipFill>
          <a:blip r:embed="rId2"/>
          <a:stretch>
            <a:fillRect/>
          </a:stretch>
        </p:blipFill>
        <p:spPr>
          <a:xfrm>
            <a:off x="2108098" y="1803400"/>
            <a:ext cx="8001203" cy="584200"/>
          </a:xfrm>
          <a:prstGeom prst="rect">
            <a:avLst/>
          </a:prstGeom>
        </p:spPr>
      </p:pic>
      <p:sp>
        <p:nvSpPr>
          <p:cNvPr id="9" name="Rounded Rectangle 8"/>
          <p:cNvSpPr/>
          <p:nvPr/>
        </p:nvSpPr>
        <p:spPr>
          <a:xfrm>
            <a:off x="558800" y="2768600"/>
            <a:ext cx="3479800" cy="1536700"/>
          </a:xfrm>
          <a:prstGeom prst="roundRect">
            <a:avLst>
              <a:gd name="adj" fmla="val 8000"/>
            </a:avLst>
          </a:prstGeom>
          <a:solidFill>
            <a:srgbClr val="EF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87400" y="2984500"/>
            <a:ext cx="3022600" cy="388874"/>
          </a:xfrm>
          <a:prstGeom prst="rect">
            <a:avLst/>
          </a:prstGeom>
          <a:noFill/>
        </p:spPr>
        <p:txBody>
          <a:bodyPr wrap="none" lIns="0" rIns="0" tIns="0" bIns="0">
            <a:spAutoFit/>
          </a:bodyPr>
          <a:lstStyle/>
          <a:p>
            <a:pPr>
              <a:lnSpc>
                <a:spcPts val="2562"/>
              </a:lnSpc>
              <a:spcBef>
                <a:spcPts val="0"/>
              </a:spcBef>
              <a:spcAft>
                <a:spcPts val="0"/>
              </a:spcAft>
              <a:defRPr sz="2100" b="1">
                <a:solidFill>
                  <a:srgbClr val="087F8C"/>
                </a:solidFill>
                <a:latin typeface="DejaVu Sans"/>
              </a:defRPr>
            </a:pPr>
            <a:r>
              <a:t>Coverage failure</a:t>
            </a:r>
          </a:p>
        </p:txBody>
      </p:sp>
      <p:sp>
        <p:nvSpPr>
          <p:cNvPr id="11" name="TextBox 10"/>
          <p:cNvSpPr txBox="1"/>
          <p:nvPr/>
        </p:nvSpPr>
        <p:spPr>
          <a:xfrm>
            <a:off x="787400" y="3454400"/>
            <a:ext cx="3022600" cy="621284"/>
          </a:xfrm>
          <a:prstGeom prst="rect">
            <a:avLst/>
          </a:prstGeom>
          <a:noFill/>
        </p:spPr>
        <p:txBody>
          <a:bodyPr wrap="none" lIns="0" rIns="0" tIns="0" bIns="0">
            <a:spAutoFit/>
          </a:bodyPr>
          <a:lstStyle/>
          <a:p>
            <a:pPr>
              <a:lnSpc>
                <a:spcPts val="2196"/>
              </a:lnSpc>
              <a:spcBef>
                <a:spcPts val="0"/>
              </a:spcBef>
              <a:spcAft>
                <a:spcPts val="0"/>
              </a:spcAft>
              <a:defRPr sz="1800" b="0">
                <a:solidFill>
                  <a:srgbClr val="263A50"/>
                </a:solidFill>
                <a:latin typeface="DejaVu Sans"/>
              </a:defRPr>
            </a:pPr>
            <a:r>
              <a:t>Missing receivers</a:t>
            </a:r>
          </a:p>
          <a:p>
            <a:pPr>
              <a:lnSpc>
                <a:spcPts val="2196"/>
              </a:lnSpc>
              <a:spcBef>
                <a:spcPts val="0"/>
              </a:spcBef>
              <a:spcAft>
                <a:spcPts val="0"/>
              </a:spcAft>
              <a:defRPr sz="1800" b="0">
                <a:solidFill>
                  <a:srgbClr val="263A50"/>
                </a:solidFill>
                <a:latin typeface="DejaVu Sans"/>
              </a:defRPr>
            </a:pPr>
            <a:r>
              <a:t>or missing groups</a:t>
            </a:r>
          </a:p>
        </p:txBody>
      </p:sp>
      <p:sp>
        <p:nvSpPr>
          <p:cNvPr id="12" name="Rounded Rectangle 11"/>
          <p:cNvSpPr/>
          <p:nvPr/>
        </p:nvSpPr>
        <p:spPr>
          <a:xfrm>
            <a:off x="4356100" y="2768600"/>
            <a:ext cx="3479800" cy="1536700"/>
          </a:xfrm>
          <a:prstGeom prst="roundRect">
            <a:avLst>
              <a:gd name="adj" fmla="val 8000"/>
            </a:avLst>
          </a:prstGeom>
          <a:solidFill>
            <a:srgbClr val="EF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84700" y="2984500"/>
            <a:ext cx="3022600" cy="388874"/>
          </a:xfrm>
          <a:prstGeom prst="rect">
            <a:avLst/>
          </a:prstGeom>
          <a:noFill/>
        </p:spPr>
        <p:txBody>
          <a:bodyPr wrap="none" lIns="0" rIns="0" tIns="0" bIns="0">
            <a:spAutoFit/>
          </a:bodyPr>
          <a:lstStyle/>
          <a:p>
            <a:pPr>
              <a:lnSpc>
                <a:spcPts val="2562"/>
              </a:lnSpc>
              <a:spcBef>
                <a:spcPts val="0"/>
              </a:spcBef>
              <a:spcAft>
                <a:spcPts val="0"/>
              </a:spcAft>
              <a:defRPr sz="2100" b="1">
                <a:solidFill>
                  <a:srgbClr val="087F8C"/>
                </a:solidFill>
                <a:latin typeface="DejaVu Sans"/>
              </a:defRPr>
            </a:pPr>
            <a:r>
              <a:t>Set failure</a:t>
            </a:r>
          </a:p>
        </p:txBody>
      </p:sp>
      <p:sp>
        <p:nvSpPr>
          <p:cNvPr id="14" name="TextBox 13"/>
          <p:cNvSpPr txBox="1"/>
          <p:nvPr/>
        </p:nvSpPr>
        <p:spPr>
          <a:xfrm>
            <a:off x="4584700" y="3454400"/>
            <a:ext cx="3022600" cy="621284"/>
          </a:xfrm>
          <a:prstGeom prst="rect">
            <a:avLst/>
          </a:prstGeom>
          <a:noFill/>
        </p:spPr>
        <p:txBody>
          <a:bodyPr wrap="none" lIns="0" rIns="0" tIns="0" bIns="0">
            <a:spAutoFit/>
          </a:bodyPr>
          <a:lstStyle/>
          <a:p>
            <a:pPr>
              <a:lnSpc>
                <a:spcPts val="2196"/>
              </a:lnSpc>
              <a:spcBef>
                <a:spcPts val="0"/>
              </a:spcBef>
              <a:spcAft>
                <a:spcPts val="0"/>
              </a:spcAft>
              <a:defRPr sz="1800" b="0">
                <a:solidFill>
                  <a:srgbClr val="263A50"/>
                </a:solidFill>
                <a:latin typeface="DejaVu Sans"/>
              </a:defRPr>
            </a:pPr>
            <a:r>
              <a:t>Channel outside the</a:t>
            </a:r>
          </a:p>
          <a:p>
            <a:pPr>
              <a:lnSpc>
                <a:spcPts val="2196"/>
              </a:lnSpc>
              <a:spcBef>
                <a:spcPts val="0"/>
              </a:spcBef>
              <a:spcAft>
                <a:spcPts val="0"/>
              </a:spcAft>
              <a:defRPr sz="1800" b="0">
                <a:solidFill>
                  <a:srgbClr val="263A50"/>
                </a:solidFill>
                <a:latin typeface="DejaVu Sans"/>
              </a:defRPr>
            </a:pPr>
            <a:r>
              <a:t>modeled uncertainty set</a:t>
            </a:r>
          </a:p>
        </p:txBody>
      </p:sp>
      <p:sp>
        <p:nvSpPr>
          <p:cNvPr id="15" name="Rounded Rectangle 14"/>
          <p:cNvSpPr/>
          <p:nvPr/>
        </p:nvSpPr>
        <p:spPr>
          <a:xfrm>
            <a:off x="8153400" y="2768600"/>
            <a:ext cx="3479800" cy="1536700"/>
          </a:xfrm>
          <a:prstGeom prst="roundRect">
            <a:avLst>
              <a:gd name="adj" fmla="val 8000"/>
            </a:avLst>
          </a:prstGeom>
          <a:solidFill>
            <a:srgbClr val="EF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382000" y="2984500"/>
            <a:ext cx="3022600" cy="388874"/>
          </a:xfrm>
          <a:prstGeom prst="rect">
            <a:avLst/>
          </a:prstGeom>
          <a:noFill/>
        </p:spPr>
        <p:txBody>
          <a:bodyPr wrap="none" lIns="0" rIns="0" tIns="0" bIns="0">
            <a:spAutoFit/>
          </a:bodyPr>
          <a:lstStyle/>
          <a:p>
            <a:pPr>
              <a:lnSpc>
                <a:spcPts val="2562"/>
              </a:lnSpc>
              <a:spcBef>
                <a:spcPts val="0"/>
              </a:spcBef>
              <a:spcAft>
                <a:spcPts val="0"/>
              </a:spcAft>
              <a:defRPr sz="2100" b="1">
                <a:solidFill>
                  <a:srgbClr val="087F8C"/>
                </a:solidFill>
                <a:latin typeface="DejaVu Sans"/>
              </a:defRPr>
            </a:pPr>
            <a:r>
              <a:t>Gain-bound failure</a:t>
            </a:r>
          </a:p>
        </p:txBody>
      </p:sp>
      <p:sp>
        <p:nvSpPr>
          <p:cNvPr id="17" name="TextBox 16"/>
          <p:cNvSpPr txBox="1"/>
          <p:nvPr/>
        </p:nvSpPr>
        <p:spPr>
          <a:xfrm>
            <a:off x="8382000" y="3454400"/>
            <a:ext cx="3022600" cy="621284"/>
          </a:xfrm>
          <a:prstGeom prst="rect">
            <a:avLst/>
          </a:prstGeom>
          <a:noFill/>
        </p:spPr>
        <p:txBody>
          <a:bodyPr wrap="none" lIns="0" rIns="0" tIns="0" bIns="0">
            <a:spAutoFit/>
          </a:bodyPr>
          <a:lstStyle/>
          <a:p>
            <a:pPr>
              <a:lnSpc>
                <a:spcPts val="2196"/>
              </a:lnSpc>
              <a:spcBef>
                <a:spcPts val="0"/>
              </a:spcBef>
              <a:spcAft>
                <a:spcPts val="0"/>
              </a:spcAft>
              <a:defRPr sz="1800" b="0">
                <a:solidFill>
                  <a:srgbClr val="263A50"/>
                </a:solidFill>
                <a:latin typeface="DejaVu Sans"/>
              </a:defRPr>
            </a:pPr>
            <a:r>
              <a:t>Noise / gain / coupling</a:t>
            </a:r>
          </a:p>
          <a:p>
            <a:pPr>
              <a:lnSpc>
                <a:spcPts val="2196"/>
              </a:lnSpc>
              <a:spcBef>
                <a:spcPts val="0"/>
              </a:spcBef>
              <a:spcAft>
                <a:spcPts val="0"/>
              </a:spcAft>
              <a:defRPr sz="1800" b="0">
                <a:solidFill>
                  <a:srgbClr val="263A50"/>
                </a:solidFill>
                <a:latin typeface="DejaVu Sans"/>
              </a:defRPr>
            </a:pPr>
            <a:r>
              <a:t>bounds do not hold</a:t>
            </a:r>
          </a:p>
        </p:txBody>
      </p:sp>
      <p:pic>
        <p:nvPicPr>
          <p:cNvPr id="18" name="Picture 17" descr="eq_a93d1e9d96cc9af.png"/>
          <p:cNvPicPr>
            <a:picLocks noChangeAspect="1"/>
          </p:cNvPicPr>
          <p:nvPr/>
        </p:nvPicPr>
        <p:blipFill>
          <a:blip r:embed="rId3"/>
          <a:stretch>
            <a:fillRect/>
          </a:stretch>
        </p:blipFill>
        <p:spPr>
          <a:xfrm>
            <a:off x="1395185" y="4699000"/>
            <a:ext cx="9401628" cy="558800"/>
          </a:xfrm>
          <a:prstGeom prst="rect">
            <a:avLst/>
          </a:prstGeom>
        </p:spPr>
      </p:pic>
      <p:sp>
        <p:nvSpPr>
          <p:cNvPr id="19" name="TextBox 18"/>
          <p:cNvSpPr txBox="1"/>
          <p:nvPr/>
        </p:nvSpPr>
        <p:spPr>
          <a:xfrm>
            <a:off x="558800" y="6553200"/>
            <a:ext cx="10604500" cy="215900"/>
          </a:xfrm>
          <a:prstGeom prst="rect">
            <a:avLst/>
          </a:prstGeom>
          <a:noFill/>
        </p:spPr>
        <p:txBody>
          <a:bodyPr wrap="none" lIns="0" tIns="0">
            <a:spAutoFit/>
          </a:bodyPr>
          <a:lstStyle/>
          <a:p>
            <a:pPr>
              <a:defRPr sz="900">
                <a:solidFill>
                  <a:srgbClr val="617487"/>
                </a:solidFill>
                <a:latin typeface="DejaVu Sans"/>
              </a:defRPr>
            </a:pPr>
            <a:r>
              <a:t>Appendix D.C/E · eq:joint_risk_union · eq:joint_risk_cost</a:t>
            </a:r>
          </a:p>
        </p:txBody>
      </p:sp>
      <p:sp>
        <p:nvSpPr>
          <p:cNvPr id="20" name="TextBox 19"/>
          <p:cNvSpPr txBox="1"/>
          <p:nvPr/>
        </p:nvSpPr>
        <p:spPr>
          <a:xfrm>
            <a:off x="11239500" y="6553200"/>
            <a:ext cx="825500" cy="215900"/>
          </a:xfrm>
          <a:prstGeom prst="rect">
            <a:avLst/>
          </a:prstGeom>
          <a:noFill/>
        </p:spPr>
        <p:txBody>
          <a:bodyPr wrap="none" lIns="0" tIns="0">
            <a:spAutoFit/>
          </a:bodyPr>
          <a:lstStyle/>
          <a:p>
            <a:pPr>
              <a:defRPr sz="900">
                <a:solidFill>
                  <a:srgbClr val="617487"/>
                </a:solidFill>
                <a:latin typeface="DejaVu Sans"/>
              </a:defRPr>
            </a:pPr>
            <a:r>
              <a:t>11 / 30</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58800" y="304800"/>
            <a:ext cx="10795000" cy="264922"/>
          </a:xfrm>
          <a:prstGeom prst="rect">
            <a:avLst/>
          </a:prstGeom>
          <a:noFill/>
        </p:spPr>
        <p:txBody>
          <a:bodyPr wrap="none" lIns="0" rIns="0" tIns="0" bIns="0">
            <a:spAutoFit/>
          </a:bodyPr>
          <a:lstStyle/>
          <a:p>
            <a:pPr>
              <a:lnSpc>
                <a:spcPts val="1586"/>
              </a:lnSpc>
              <a:spcBef>
                <a:spcPts val="0"/>
              </a:spcBef>
              <a:spcAft>
                <a:spcPts val="0"/>
              </a:spcAft>
              <a:defRPr sz="1300" b="1">
                <a:solidFill>
                  <a:srgbClr val="087F8C"/>
                </a:solidFill>
                <a:latin typeface="DejaVu Sans"/>
              </a:defRPr>
            </a:pPr>
            <a:r>
              <a:t>C · JOINT PROBLEM</a:t>
            </a:r>
          </a:p>
        </p:txBody>
      </p:sp>
      <p:sp>
        <p:nvSpPr>
          <p:cNvPr id="4" name="TextBox 3"/>
          <p:cNvSpPr txBox="1"/>
          <p:nvPr/>
        </p:nvSpPr>
        <p:spPr>
          <a:xfrm>
            <a:off x="558800" y="673100"/>
            <a:ext cx="11150600" cy="426266"/>
          </a:xfrm>
          <a:prstGeom prst="rect">
            <a:avLst/>
          </a:prstGeom>
          <a:noFill/>
        </p:spPr>
        <p:txBody>
          <a:bodyPr wrap="none" lIns="0" rIns="0" tIns="0" bIns="0">
            <a:spAutoFit/>
          </a:bodyPr>
          <a:lstStyle/>
          <a:p>
            <a:pPr>
              <a:lnSpc>
                <a:spcPts val="2856"/>
              </a:lnSpc>
              <a:spcBef>
                <a:spcPts val="0"/>
              </a:spcBef>
              <a:spcAft>
                <a:spcPts val="0"/>
              </a:spcAft>
              <a:defRPr sz="2341" b="1">
                <a:solidFill>
                  <a:srgbClr val="152C46"/>
                </a:solidFill>
                <a:latin typeface="DejaVu Sans"/>
              </a:defRPr>
            </a:pPr>
            <a:r>
              <a:t>The joint problem maximizes net service under explicit budgets</a:t>
            </a:r>
          </a:p>
        </p:txBody>
      </p:sp>
      <p:sp>
        <p:nvSpPr>
          <p:cNvPr id="5" name="Rectangle 4"/>
          <p:cNvSpPr/>
          <p:nvPr/>
        </p:nvSpPr>
        <p:spPr>
          <a:xfrm>
            <a:off x="558800" y="1320800"/>
            <a:ext cx="698500" cy="50800"/>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58800" y="5765800"/>
            <a:ext cx="11074400" cy="584200"/>
          </a:xfrm>
          <a:prstGeom prst="roundRect">
            <a:avLst>
              <a:gd name="adj" fmla="val 8000"/>
            </a:avLst>
          </a:prstGeom>
          <a:solidFill>
            <a:srgbClr val="E5F3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62000" y="5905500"/>
            <a:ext cx="10693400" cy="590296"/>
          </a:xfrm>
          <a:prstGeom prst="rect">
            <a:avLst/>
          </a:prstGeom>
          <a:noFill/>
        </p:spPr>
        <p:txBody>
          <a:bodyPr wrap="none" lIns="0" rIns="0" tIns="0" bIns="0">
            <a:spAutoFit/>
          </a:bodyPr>
          <a:lstStyle/>
          <a:p>
            <a:pPr>
              <a:lnSpc>
                <a:spcPts val="2074"/>
              </a:lnSpc>
              <a:spcBef>
                <a:spcPts val="0"/>
              </a:spcBef>
              <a:spcAft>
                <a:spcPts val="0"/>
              </a:spcAft>
              <a:defRPr sz="1700" b="1">
                <a:solidFill>
                  <a:srgbClr val="152C46"/>
                </a:solidFill>
                <a:latin typeface="DejaVu Sans"/>
              </a:defRPr>
            </a:pPr>
            <a:r>
              <a:t>The old leakage penalty λ is replaced by physical constraints and service</a:t>
            </a:r>
          </a:p>
          <a:p>
            <a:pPr>
              <a:lnSpc>
                <a:spcPts val="2074"/>
              </a:lnSpc>
              <a:spcBef>
                <a:spcPts val="0"/>
              </a:spcBef>
              <a:spcAft>
                <a:spcPts val="0"/>
              </a:spcAft>
              <a:defRPr sz="1700" b="1">
                <a:solidFill>
                  <a:srgbClr val="152C46"/>
                </a:solidFill>
                <a:latin typeface="DejaVu Sans"/>
              </a:defRPr>
            </a:pPr>
            <a:r>
              <a:t>requirements.</a:t>
            </a:r>
          </a:p>
        </p:txBody>
      </p:sp>
      <p:sp>
        <p:nvSpPr>
          <p:cNvPr id="8" name="Rounded Rectangle 7"/>
          <p:cNvSpPr/>
          <p:nvPr/>
        </p:nvSpPr>
        <p:spPr>
          <a:xfrm>
            <a:off x="558800" y="1714500"/>
            <a:ext cx="11074400" cy="3543300"/>
          </a:xfrm>
          <a:prstGeom prst="roundRect">
            <a:avLst>
              <a:gd name="adj" fmla="val 8000"/>
            </a:avLst>
          </a:prstGeom>
          <a:solidFill>
            <a:srgbClr val="EF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eq_4a03961ec7aa523.png"/>
          <p:cNvPicPr>
            <a:picLocks noChangeAspect="1"/>
          </p:cNvPicPr>
          <p:nvPr/>
        </p:nvPicPr>
        <p:blipFill>
          <a:blip r:embed="rId2"/>
          <a:stretch>
            <a:fillRect/>
          </a:stretch>
        </p:blipFill>
        <p:spPr>
          <a:xfrm>
            <a:off x="4146900" y="1955800"/>
            <a:ext cx="3822000" cy="660400"/>
          </a:xfrm>
          <a:prstGeom prst="rect">
            <a:avLst/>
          </a:prstGeom>
        </p:spPr>
      </p:pic>
      <p:pic>
        <p:nvPicPr>
          <p:cNvPr id="10" name="Picture 9" descr="eq_62fbca167d40704.png"/>
          <p:cNvPicPr>
            <a:picLocks noChangeAspect="1"/>
          </p:cNvPicPr>
          <p:nvPr/>
        </p:nvPicPr>
        <p:blipFill>
          <a:blip r:embed="rId3"/>
          <a:stretch>
            <a:fillRect/>
          </a:stretch>
        </p:blipFill>
        <p:spPr>
          <a:xfrm>
            <a:off x="3129957" y="2895600"/>
            <a:ext cx="5741585" cy="520700"/>
          </a:xfrm>
          <a:prstGeom prst="rect">
            <a:avLst/>
          </a:prstGeom>
        </p:spPr>
      </p:pic>
      <p:pic>
        <p:nvPicPr>
          <p:cNvPr id="11" name="Picture 10" descr="eq_4a148ca4539fc88.png"/>
          <p:cNvPicPr>
            <a:picLocks noChangeAspect="1"/>
          </p:cNvPicPr>
          <p:nvPr/>
        </p:nvPicPr>
        <p:blipFill>
          <a:blip r:embed="rId4"/>
          <a:stretch>
            <a:fillRect/>
          </a:stretch>
        </p:blipFill>
        <p:spPr>
          <a:xfrm>
            <a:off x="3868230" y="3670300"/>
            <a:ext cx="4303138" cy="495300"/>
          </a:xfrm>
          <a:prstGeom prst="rect">
            <a:avLst/>
          </a:prstGeom>
        </p:spPr>
      </p:pic>
      <p:sp>
        <p:nvSpPr>
          <p:cNvPr id="12" name="TextBox 11"/>
          <p:cNvSpPr txBox="1"/>
          <p:nvPr/>
        </p:nvSpPr>
        <p:spPr>
          <a:xfrm>
            <a:off x="1231900" y="4508500"/>
            <a:ext cx="9690100" cy="373380"/>
          </a:xfrm>
          <a:prstGeom prst="rect">
            <a:avLst/>
          </a:prstGeom>
          <a:noFill/>
        </p:spPr>
        <p:txBody>
          <a:bodyPr wrap="none" lIns="0" rIns="0" tIns="0" bIns="0">
            <a:spAutoFit/>
          </a:bodyPr>
          <a:lstStyle/>
          <a:p>
            <a:pPr algn="ctr">
              <a:lnSpc>
                <a:spcPts val="2440"/>
              </a:lnSpc>
              <a:spcBef>
                <a:spcPts val="0"/>
              </a:spcBef>
              <a:spcAft>
                <a:spcPts val="0"/>
              </a:spcAft>
              <a:defRPr sz="2000" b="0">
                <a:solidFill>
                  <a:srgbClr val="152C46"/>
                </a:solidFill>
                <a:latin typeface="DejaVu Sans"/>
              </a:defRPr>
            </a:pPr>
            <a:r>
              <a:t>Calendar • RF availability • transmit power • robust set constraints</a:t>
            </a:r>
          </a:p>
        </p:txBody>
      </p:sp>
      <p:sp>
        <p:nvSpPr>
          <p:cNvPr id="13" name="TextBox 12"/>
          <p:cNvSpPr txBox="1"/>
          <p:nvPr/>
        </p:nvSpPr>
        <p:spPr>
          <a:xfrm>
            <a:off x="558800" y="6553200"/>
            <a:ext cx="10604500" cy="215900"/>
          </a:xfrm>
          <a:prstGeom prst="rect">
            <a:avLst/>
          </a:prstGeom>
          <a:noFill/>
        </p:spPr>
        <p:txBody>
          <a:bodyPr wrap="none" lIns="0" tIns="0">
            <a:spAutoFit/>
          </a:bodyPr>
          <a:lstStyle/>
          <a:p>
            <a:pPr>
              <a:defRPr sz="900">
                <a:solidFill>
                  <a:srgbClr val="617487"/>
                </a:solidFill>
                <a:latin typeface="DejaVu Sans"/>
              </a:defRPr>
            </a:pPr>
            <a:r>
              <a:t>Appendix D.C · eq:joint_policy_problem</a:t>
            </a:r>
          </a:p>
        </p:txBody>
      </p:sp>
      <p:sp>
        <p:nvSpPr>
          <p:cNvPr id="14" name="TextBox 13"/>
          <p:cNvSpPr txBox="1"/>
          <p:nvPr/>
        </p:nvSpPr>
        <p:spPr>
          <a:xfrm>
            <a:off x="11239500" y="6553200"/>
            <a:ext cx="825500" cy="215900"/>
          </a:xfrm>
          <a:prstGeom prst="rect">
            <a:avLst/>
          </a:prstGeom>
          <a:noFill/>
        </p:spPr>
        <p:txBody>
          <a:bodyPr wrap="none" lIns="0" tIns="0">
            <a:spAutoFit/>
          </a:bodyPr>
          <a:lstStyle/>
          <a:p>
            <a:pPr>
              <a:defRPr sz="900">
                <a:solidFill>
                  <a:srgbClr val="617487"/>
                </a:solidFill>
                <a:latin typeface="DejaVu Sans"/>
              </a:defRPr>
            </a:pPr>
            <a:r>
              <a:t>12 / 30</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58800" y="304800"/>
            <a:ext cx="10795000" cy="264922"/>
          </a:xfrm>
          <a:prstGeom prst="rect">
            <a:avLst/>
          </a:prstGeom>
          <a:noFill/>
        </p:spPr>
        <p:txBody>
          <a:bodyPr wrap="none" lIns="0" rIns="0" tIns="0" bIns="0">
            <a:spAutoFit/>
          </a:bodyPr>
          <a:lstStyle/>
          <a:p>
            <a:pPr>
              <a:lnSpc>
                <a:spcPts val="1586"/>
              </a:lnSpc>
              <a:spcBef>
                <a:spcPts val="0"/>
              </a:spcBef>
              <a:spcAft>
                <a:spcPts val="0"/>
              </a:spcAft>
              <a:defRPr sz="1300" b="1">
                <a:solidFill>
                  <a:srgbClr val="087F8C"/>
                </a:solidFill>
                <a:latin typeface="DejaVu Sans"/>
              </a:defRPr>
            </a:pPr>
            <a:r>
              <a:t>D · ROBUST SOCP</a:t>
            </a:r>
          </a:p>
        </p:txBody>
      </p:sp>
      <p:sp>
        <p:nvSpPr>
          <p:cNvPr id="4" name="TextBox 3"/>
          <p:cNvSpPr txBox="1"/>
          <p:nvPr/>
        </p:nvSpPr>
        <p:spPr>
          <a:xfrm>
            <a:off x="558800" y="673100"/>
            <a:ext cx="11150600" cy="473124"/>
          </a:xfrm>
          <a:prstGeom prst="rect">
            <a:avLst/>
          </a:prstGeom>
          <a:noFill/>
        </p:spPr>
        <p:txBody>
          <a:bodyPr wrap="none" lIns="0" rIns="0" tIns="0" bIns="0">
            <a:spAutoFit/>
          </a:bodyPr>
          <a:lstStyle/>
          <a:p>
            <a:pPr>
              <a:lnSpc>
                <a:spcPts val="3225"/>
              </a:lnSpc>
              <a:spcBef>
                <a:spcPts val="0"/>
              </a:spcBef>
              <a:spcAft>
                <a:spcPts val="0"/>
              </a:spcAft>
              <a:defRPr sz="2643" b="1">
                <a:solidFill>
                  <a:srgbClr val="152C46"/>
                </a:solidFill>
                <a:latin typeface="DejaVu Sans"/>
              </a:defRPr>
            </a:pPr>
            <a:r>
              <a:t>At one state, a convex program selects beam and power</a:t>
            </a:r>
          </a:p>
        </p:txBody>
      </p:sp>
      <p:sp>
        <p:nvSpPr>
          <p:cNvPr id="5" name="Rectangle 4"/>
          <p:cNvSpPr/>
          <p:nvPr/>
        </p:nvSpPr>
        <p:spPr>
          <a:xfrm>
            <a:off x="558800" y="1320800"/>
            <a:ext cx="698500" cy="50800"/>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58800" y="5765800"/>
            <a:ext cx="11074400" cy="584200"/>
          </a:xfrm>
          <a:prstGeom prst="roundRect">
            <a:avLst>
              <a:gd name="adj" fmla="val 8000"/>
            </a:avLst>
          </a:prstGeom>
          <a:solidFill>
            <a:srgbClr val="E5F3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62000" y="5905500"/>
            <a:ext cx="10693400" cy="326898"/>
          </a:xfrm>
          <a:prstGeom prst="rect">
            <a:avLst/>
          </a:prstGeom>
          <a:noFill/>
        </p:spPr>
        <p:txBody>
          <a:bodyPr wrap="none" lIns="0" rIns="0" tIns="0" bIns="0">
            <a:spAutoFit/>
          </a:bodyPr>
          <a:lstStyle/>
          <a:p>
            <a:pPr>
              <a:lnSpc>
                <a:spcPts val="2074"/>
              </a:lnSpc>
              <a:spcBef>
                <a:spcPts val="0"/>
              </a:spcBef>
              <a:spcAft>
                <a:spcPts val="0"/>
              </a:spcAft>
              <a:defRPr sz="1700" b="1">
                <a:solidFill>
                  <a:srgbClr val="152C46"/>
                </a:solidFill>
                <a:latin typeface="DejaVu Sans"/>
              </a:defRPr>
            </a:pPr>
            <a:r>
              <a:t>This solves the best current protected transmission—not the sensing schedule.</a:t>
            </a:r>
          </a:p>
        </p:txBody>
      </p:sp>
      <p:sp>
        <p:nvSpPr>
          <p:cNvPr id="8" name="Rounded Rectangle 7"/>
          <p:cNvSpPr/>
          <p:nvPr/>
        </p:nvSpPr>
        <p:spPr>
          <a:xfrm>
            <a:off x="558800" y="1714500"/>
            <a:ext cx="6705600" cy="3556000"/>
          </a:xfrm>
          <a:prstGeom prst="roundRect">
            <a:avLst>
              <a:gd name="adj" fmla="val 8000"/>
            </a:avLst>
          </a:prstGeom>
          <a:solidFill>
            <a:srgbClr val="E5F3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eq_24b75f7e5b7c27c.png"/>
          <p:cNvPicPr>
            <a:picLocks noChangeAspect="1"/>
          </p:cNvPicPr>
          <p:nvPr/>
        </p:nvPicPr>
        <p:blipFill>
          <a:blip r:embed="rId2"/>
          <a:stretch>
            <a:fillRect/>
          </a:stretch>
        </p:blipFill>
        <p:spPr>
          <a:xfrm>
            <a:off x="1968464" y="2082800"/>
            <a:ext cx="3848170" cy="596900"/>
          </a:xfrm>
          <a:prstGeom prst="rect">
            <a:avLst/>
          </a:prstGeom>
        </p:spPr>
      </p:pic>
      <p:pic>
        <p:nvPicPr>
          <p:cNvPr id="10" name="Picture 9" descr="eq_3f0bbd9f3f2dd1e.png"/>
          <p:cNvPicPr>
            <a:picLocks noChangeAspect="1"/>
          </p:cNvPicPr>
          <p:nvPr/>
        </p:nvPicPr>
        <p:blipFill>
          <a:blip r:embed="rId3"/>
          <a:stretch>
            <a:fillRect/>
          </a:stretch>
        </p:blipFill>
        <p:spPr>
          <a:xfrm>
            <a:off x="1551305" y="2959100"/>
            <a:ext cx="4682490" cy="457200"/>
          </a:xfrm>
          <a:prstGeom prst="rect">
            <a:avLst/>
          </a:prstGeom>
        </p:spPr>
      </p:pic>
      <p:pic>
        <p:nvPicPr>
          <p:cNvPr id="11" name="Picture 10" descr="eq_007c80be45de70c.png"/>
          <p:cNvPicPr>
            <a:picLocks noChangeAspect="1"/>
          </p:cNvPicPr>
          <p:nvPr/>
        </p:nvPicPr>
        <p:blipFill>
          <a:blip r:embed="rId4"/>
          <a:stretch>
            <a:fillRect/>
          </a:stretch>
        </p:blipFill>
        <p:spPr>
          <a:xfrm>
            <a:off x="1701931" y="3733800"/>
            <a:ext cx="4381237" cy="533400"/>
          </a:xfrm>
          <a:prstGeom prst="rect">
            <a:avLst/>
          </a:prstGeom>
        </p:spPr>
      </p:pic>
      <p:sp>
        <p:nvSpPr>
          <p:cNvPr id="12" name="TextBox 11"/>
          <p:cNvSpPr txBox="1"/>
          <p:nvPr/>
        </p:nvSpPr>
        <p:spPr>
          <a:xfrm>
            <a:off x="965200" y="4635500"/>
            <a:ext cx="5829300" cy="326898"/>
          </a:xfrm>
          <a:prstGeom prst="rect">
            <a:avLst/>
          </a:prstGeom>
          <a:noFill/>
        </p:spPr>
        <p:txBody>
          <a:bodyPr wrap="none" lIns="0" rIns="0" tIns="0" bIns="0">
            <a:spAutoFit/>
          </a:bodyPr>
          <a:lstStyle/>
          <a:p>
            <a:pPr algn="ctr">
              <a:lnSpc>
                <a:spcPts val="2074"/>
              </a:lnSpc>
              <a:spcBef>
                <a:spcPts val="0"/>
              </a:spcBef>
              <a:spcAft>
                <a:spcPts val="0"/>
              </a:spcAft>
              <a:defRPr sz="1700" b="0">
                <a:solidFill>
                  <a:srgbClr val="617487"/>
                </a:solidFill>
                <a:latin typeface="DejaVu Sans"/>
              </a:defRPr>
            </a:pPr>
            <a:r>
              <a:t>for every imposed protection group r</a:t>
            </a:r>
          </a:p>
        </p:txBody>
      </p:sp>
      <p:sp>
        <p:nvSpPr>
          <p:cNvPr id="13" name="TextBox 12"/>
          <p:cNvSpPr txBox="1"/>
          <p:nvPr/>
        </p:nvSpPr>
        <p:spPr>
          <a:xfrm>
            <a:off x="7658100" y="1892300"/>
            <a:ext cx="203200" cy="373380"/>
          </a:xfrm>
          <a:prstGeom prst="rect">
            <a:avLst/>
          </a:prstGeom>
          <a:noFill/>
        </p:spPr>
        <p:txBody>
          <a:bodyPr wrap="none" lIns="0" rIns="0" tIns="0" bIns="0">
            <a:spAutoFit/>
          </a:bodyPr>
          <a:lstStyle/>
          <a:p>
            <a:pPr>
              <a:lnSpc>
                <a:spcPts val="2440"/>
              </a:lnSpc>
              <a:spcBef>
                <a:spcPts val="0"/>
              </a:spcBef>
              <a:spcAft>
                <a:spcPts val="0"/>
              </a:spcAft>
              <a:defRPr sz="2000" b="1">
                <a:solidFill>
                  <a:srgbClr val="087F8C"/>
                </a:solidFill>
                <a:latin typeface="DejaVu Sans"/>
              </a:defRPr>
            </a:pPr>
            <a:r>
              <a:t>•</a:t>
            </a:r>
          </a:p>
        </p:txBody>
      </p:sp>
      <p:sp>
        <p:nvSpPr>
          <p:cNvPr id="14" name="TextBox 13"/>
          <p:cNvSpPr txBox="1"/>
          <p:nvPr/>
        </p:nvSpPr>
        <p:spPr>
          <a:xfrm>
            <a:off x="7950200" y="1892300"/>
            <a:ext cx="3594100" cy="683260"/>
          </a:xfrm>
          <a:prstGeom prst="rect">
            <a:avLst/>
          </a:prstGeom>
          <a:noFill/>
        </p:spPr>
        <p:txBody>
          <a:bodyPr wrap="none" lIns="0" rIns="0" tIns="0" bIns="0">
            <a:spAutoFit/>
          </a:bodyPr>
          <a:lstStyle/>
          <a:p>
            <a:pPr>
              <a:lnSpc>
                <a:spcPts val="2440"/>
              </a:lnSpc>
              <a:spcBef>
                <a:spcPts val="0"/>
              </a:spcBef>
              <a:spcAft>
                <a:spcPts val="0"/>
              </a:spcAft>
              <a:defRPr sz="2000" b="0">
                <a:solidFill>
                  <a:srgbClr val="263A50"/>
                </a:solidFill>
                <a:latin typeface="DejaVu Sans"/>
              </a:defRPr>
            </a:pPr>
            <a:r>
              <a:t>Rotate the common phase:</a:t>
            </a:r>
          </a:p>
          <a:p>
            <a:pPr>
              <a:lnSpc>
                <a:spcPts val="2440"/>
              </a:lnSpc>
              <a:spcBef>
                <a:spcPts val="0"/>
              </a:spcBef>
              <a:spcAft>
                <a:spcPts val="0"/>
              </a:spcAft>
              <a:defRPr sz="2000" b="0">
                <a:solidFill>
                  <a:srgbClr val="263A50"/>
                </a:solidFill>
                <a:latin typeface="DejaVu Sans"/>
              </a:defRPr>
            </a:pPr>
            <a:r>
              <a:t>no loss of optimality.</a:t>
            </a:r>
          </a:p>
        </p:txBody>
      </p:sp>
      <p:sp>
        <p:nvSpPr>
          <p:cNvPr id="15" name="TextBox 14"/>
          <p:cNvSpPr txBox="1"/>
          <p:nvPr/>
        </p:nvSpPr>
        <p:spPr>
          <a:xfrm>
            <a:off x="7658100" y="3022600"/>
            <a:ext cx="203200" cy="373380"/>
          </a:xfrm>
          <a:prstGeom prst="rect">
            <a:avLst/>
          </a:prstGeom>
          <a:noFill/>
        </p:spPr>
        <p:txBody>
          <a:bodyPr wrap="none" lIns="0" rIns="0" tIns="0" bIns="0">
            <a:spAutoFit/>
          </a:bodyPr>
          <a:lstStyle/>
          <a:p>
            <a:pPr>
              <a:lnSpc>
                <a:spcPts val="2440"/>
              </a:lnSpc>
              <a:spcBef>
                <a:spcPts val="0"/>
              </a:spcBef>
              <a:spcAft>
                <a:spcPts val="0"/>
              </a:spcAft>
              <a:defRPr sz="2000" b="1">
                <a:solidFill>
                  <a:srgbClr val="087F8C"/>
                </a:solidFill>
                <a:latin typeface="DejaVu Sans"/>
              </a:defRPr>
            </a:pPr>
            <a:r>
              <a:t>•</a:t>
            </a:r>
          </a:p>
        </p:txBody>
      </p:sp>
      <p:sp>
        <p:nvSpPr>
          <p:cNvPr id="16" name="TextBox 15"/>
          <p:cNvSpPr txBox="1"/>
          <p:nvPr/>
        </p:nvSpPr>
        <p:spPr>
          <a:xfrm>
            <a:off x="7950200" y="3022600"/>
            <a:ext cx="3594100" cy="683260"/>
          </a:xfrm>
          <a:prstGeom prst="rect">
            <a:avLst/>
          </a:prstGeom>
          <a:noFill/>
        </p:spPr>
        <p:txBody>
          <a:bodyPr wrap="none" lIns="0" rIns="0" tIns="0" bIns="0">
            <a:spAutoFit/>
          </a:bodyPr>
          <a:lstStyle/>
          <a:p>
            <a:pPr>
              <a:lnSpc>
                <a:spcPts val="2440"/>
              </a:lnSpc>
              <a:spcBef>
                <a:spcPts val="0"/>
              </a:spcBef>
              <a:spcAft>
                <a:spcPts val="0"/>
              </a:spcAft>
              <a:defRPr sz="2000" b="0">
                <a:solidFill>
                  <a:srgbClr val="263A50"/>
                </a:solidFill>
                <a:latin typeface="DejaVu Sans"/>
              </a:defRPr>
            </a:pPr>
            <a:r>
              <a:t>Recover p = ||v||² and the</a:t>
            </a:r>
          </a:p>
          <a:p>
            <a:pPr>
              <a:lnSpc>
                <a:spcPts val="2440"/>
              </a:lnSpc>
              <a:spcBef>
                <a:spcPts val="0"/>
              </a:spcBef>
              <a:spcAft>
                <a:spcPts val="0"/>
              </a:spcAft>
              <a:defRPr sz="2000" b="0">
                <a:solidFill>
                  <a:srgbClr val="263A50"/>
                </a:solidFill>
                <a:latin typeface="DejaVu Sans"/>
              </a:defRPr>
            </a:pPr>
            <a:r>
              <a:t>beam direction.</a:t>
            </a:r>
          </a:p>
        </p:txBody>
      </p:sp>
      <p:sp>
        <p:nvSpPr>
          <p:cNvPr id="17" name="TextBox 16"/>
          <p:cNvSpPr txBox="1"/>
          <p:nvPr/>
        </p:nvSpPr>
        <p:spPr>
          <a:xfrm>
            <a:off x="7658100" y="4152900"/>
            <a:ext cx="203200" cy="373380"/>
          </a:xfrm>
          <a:prstGeom prst="rect">
            <a:avLst/>
          </a:prstGeom>
          <a:noFill/>
        </p:spPr>
        <p:txBody>
          <a:bodyPr wrap="none" lIns="0" rIns="0" tIns="0" bIns="0">
            <a:spAutoFit/>
          </a:bodyPr>
          <a:lstStyle/>
          <a:p>
            <a:pPr>
              <a:lnSpc>
                <a:spcPts val="2440"/>
              </a:lnSpc>
              <a:spcBef>
                <a:spcPts val="0"/>
              </a:spcBef>
              <a:spcAft>
                <a:spcPts val="0"/>
              </a:spcAft>
              <a:defRPr sz="2000" b="1">
                <a:solidFill>
                  <a:srgbClr val="087F8C"/>
                </a:solidFill>
                <a:latin typeface="DejaVu Sans"/>
              </a:defRPr>
            </a:pPr>
            <a:r>
              <a:t>•</a:t>
            </a:r>
          </a:p>
        </p:txBody>
      </p:sp>
      <p:sp>
        <p:nvSpPr>
          <p:cNvPr id="18" name="TextBox 17"/>
          <p:cNvSpPr txBox="1"/>
          <p:nvPr/>
        </p:nvSpPr>
        <p:spPr>
          <a:xfrm>
            <a:off x="7950200" y="4152900"/>
            <a:ext cx="3594100" cy="683260"/>
          </a:xfrm>
          <a:prstGeom prst="rect">
            <a:avLst/>
          </a:prstGeom>
          <a:noFill/>
        </p:spPr>
        <p:txBody>
          <a:bodyPr wrap="none" lIns="0" rIns="0" tIns="0" bIns="0">
            <a:spAutoFit/>
          </a:bodyPr>
          <a:lstStyle/>
          <a:p>
            <a:pPr>
              <a:lnSpc>
                <a:spcPts val="2440"/>
              </a:lnSpc>
              <a:spcBef>
                <a:spcPts val="0"/>
              </a:spcBef>
              <a:spcAft>
                <a:spcPts val="0"/>
              </a:spcAft>
              <a:defRPr sz="2000" b="0">
                <a:solidFill>
                  <a:srgbClr val="263A50"/>
                </a:solidFill>
                <a:latin typeface="DejaVu Sans"/>
              </a:defRPr>
            </a:pPr>
            <a:r>
              <a:t>Convert Vₖ into service;</a:t>
            </a:r>
          </a:p>
          <a:p>
            <a:pPr>
              <a:lnSpc>
                <a:spcPts val="2440"/>
              </a:lnSpc>
              <a:spcBef>
                <a:spcPts val="0"/>
              </a:spcBef>
              <a:spcAft>
                <a:spcPts val="0"/>
              </a:spcAft>
              <a:defRPr sz="2000" b="0">
                <a:solidFill>
                  <a:srgbClr val="263A50"/>
                </a:solidFill>
                <a:latin typeface="DejaVu Sans"/>
              </a:defRPr>
            </a:pPr>
            <a:r>
              <a:t>retain mute separately.</a:t>
            </a:r>
          </a:p>
        </p:txBody>
      </p:sp>
      <p:sp>
        <p:nvSpPr>
          <p:cNvPr id="19" name="TextBox 18"/>
          <p:cNvSpPr txBox="1"/>
          <p:nvPr/>
        </p:nvSpPr>
        <p:spPr>
          <a:xfrm>
            <a:off x="558800" y="6553200"/>
            <a:ext cx="10604500" cy="215900"/>
          </a:xfrm>
          <a:prstGeom prst="rect">
            <a:avLst/>
          </a:prstGeom>
          <a:noFill/>
        </p:spPr>
        <p:txBody>
          <a:bodyPr wrap="none" lIns="0" tIns="0">
            <a:spAutoFit/>
          </a:bodyPr>
          <a:lstStyle/>
          <a:p>
            <a:pPr>
              <a:defRPr sz="900">
                <a:solidFill>
                  <a:srgbClr val="617487"/>
                </a:solidFill>
                <a:latin typeface="DejaVu Sans"/>
              </a:defRPr>
            </a:pPr>
            <a:r>
              <a:t>Appendix D.D · eq:joint_value_socp</a:t>
            </a:r>
          </a:p>
        </p:txBody>
      </p:sp>
      <p:sp>
        <p:nvSpPr>
          <p:cNvPr id="20" name="TextBox 19"/>
          <p:cNvSpPr txBox="1"/>
          <p:nvPr/>
        </p:nvSpPr>
        <p:spPr>
          <a:xfrm>
            <a:off x="11239500" y="6553200"/>
            <a:ext cx="825500" cy="215900"/>
          </a:xfrm>
          <a:prstGeom prst="rect">
            <a:avLst/>
          </a:prstGeom>
          <a:noFill/>
        </p:spPr>
        <p:txBody>
          <a:bodyPr wrap="none" lIns="0" tIns="0">
            <a:spAutoFit/>
          </a:bodyPr>
          <a:lstStyle/>
          <a:p>
            <a:pPr>
              <a:defRPr sz="900">
                <a:solidFill>
                  <a:srgbClr val="617487"/>
                </a:solidFill>
                <a:latin typeface="DejaVu Sans"/>
              </a:defRPr>
            </a:pPr>
            <a:r>
              <a:t>13 / 30</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58800" y="304800"/>
            <a:ext cx="10795000" cy="264922"/>
          </a:xfrm>
          <a:prstGeom prst="rect">
            <a:avLst/>
          </a:prstGeom>
          <a:noFill/>
        </p:spPr>
        <p:txBody>
          <a:bodyPr wrap="none" lIns="0" rIns="0" tIns="0" bIns="0">
            <a:spAutoFit/>
          </a:bodyPr>
          <a:lstStyle/>
          <a:p>
            <a:pPr>
              <a:lnSpc>
                <a:spcPts val="1586"/>
              </a:lnSpc>
              <a:spcBef>
                <a:spcPts val="0"/>
              </a:spcBef>
              <a:spcAft>
                <a:spcPts val="0"/>
              </a:spcAft>
              <a:defRPr sz="1300" b="1">
                <a:solidFill>
                  <a:srgbClr val="087F8C"/>
                </a:solidFill>
                <a:latin typeface="DejaVu Sans"/>
              </a:defRPr>
            </a:pPr>
            <a:r>
              <a:t>D · BEAM ELIMINATION</a:t>
            </a:r>
          </a:p>
        </p:txBody>
      </p:sp>
      <p:sp>
        <p:nvSpPr>
          <p:cNvPr id="4" name="TextBox 3"/>
          <p:cNvSpPr txBox="1"/>
          <p:nvPr/>
        </p:nvSpPr>
        <p:spPr>
          <a:xfrm>
            <a:off x="558800" y="673100"/>
            <a:ext cx="11150600" cy="495382"/>
          </a:xfrm>
          <a:prstGeom prst="rect">
            <a:avLst/>
          </a:prstGeom>
          <a:noFill/>
        </p:spPr>
        <p:txBody>
          <a:bodyPr wrap="none" lIns="0" rIns="0" tIns="0" bIns="0">
            <a:spAutoFit/>
          </a:bodyPr>
          <a:lstStyle/>
          <a:p>
            <a:pPr>
              <a:lnSpc>
                <a:spcPts val="3400"/>
              </a:lnSpc>
              <a:spcBef>
                <a:spcPts val="0"/>
              </a:spcBef>
              <a:spcAft>
                <a:spcPts val="0"/>
              </a:spcAft>
              <a:defRPr sz="2787" b="1">
                <a:solidFill>
                  <a:srgbClr val="152C46"/>
                </a:solidFill>
                <a:latin typeface="DejaVu Sans"/>
              </a:defRPr>
            </a:pPr>
            <a:r>
              <a:t>Why the outer controller does not search every beam</a:t>
            </a:r>
          </a:p>
        </p:txBody>
      </p:sp>
      <p:sp>
        <p:nvSpPr>
          <p:cNvPr id="5" name="Rectangle 4"/>
          <p:cNvSpPr/>
          <p:nvPr/>
        </p:nvSpPr>
        <p:spPr>
          <a:xfrm>
            <a:off x="558800" y="1320800"/>
            <a:ext cx="698500" cy="50800"/>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58800" y="5765800"/>
            <a:ext cx="11074400" cy="584200"/>
          </a:xfrm>
          <a:prstGeom prst="roundRect">
            <a:avLst>
              <a:gd name="adj" fmla="val 8000"/>
            </a:avLst>
          </a:prstGeom>
          <a:solidFill>
            <a:srgbClr val="E5F3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62000" y="5905500"/>
            <a:ext cx="10693400" cy="326898"/>
          </a:xfrm>
          <a:prstGeom prst="rect">
            <a:avLst/>
          </a:prstGeom>
          <a:noFill/>
        </p:spPr>
        <p:txBody>
          <a:bodyPr wrap="none" lIns="0" rIns="0" tIns="0" bIns="0">
            <a:spAutoFit/>
          </a:bodyPr>
          <a:lstStyle/>
          <a:p>
            <a:pPr>
              <a:lnSpc>
                <a:spcPts val="2074"/>
              </a:lnSpc>
              <a:spcBef>
                <a:spcPts val="0"/>
              </a:spcBef>
              <a:spcAft>
                <a:spcPts val="0"/>
              </a:spcAft>
              <a:defRPr sz="1700" b="1">
                <a:solidFill>
                  <a:srgbClr val="152C46"/>
                </a:solidFill>
                <a:latin typeface="DejaVu Sans"/>
              </a:defRPr>
            </a:pPr>
            <a:r>
              <a:t>Keep one SOCP maximizer and an explicit mute action at each available history.</a:t>
            </a:r>
          </a:p>
        </p:txBody>
      </p:sp>
      <p:sp>
        <p:nvSpPr>
          <p:cNvPr id="8" name="Rounded Rectangle 7"/>
          <p:cNvSpPr/>
          <p:nvPr/>
        </p:nvSpPr>
        <p:spPr>
          <a:xfrm>
            <a:off x="558800" y="1841500"/>
            <a:ext cx="5334000" cy="2997200"/>
          </a:xfrm>
          <a:prstGeom prst="roundRect">
            <a:avLst>
              <a:gd name="adj" fmla="val 8000"/>
            </a:avLst>
          </a:prstGeom>
          <a:solidFill>
            <a:srgbClr val="E5F3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87400" y="2057400"/>
            <a:ext cx="4876800" cy="388874"/>
          </a:xfrm>
          <a:prstGeom prst="rect">
            <a:avLst/>
          </a:prstGeom>
          <a:noFill/>
        </p:spPr>
        <p:txBody>
          <a:bodyPr wrap="none" lIns="0" rIns="0" tIns="0" bIns="0">
            <a:spAutoFit/>
          </a:bodyPr>
          <a:lstStyle/>
          <a:p>
            <a:pPr>
              <a:lnSpc>
                <a:spcPts val="2562"/>
              </a:lnSpc>
              <a:spcBef>
                <a:spcPts val="0"/>
              </a:spcBef>
              <a:spcAft>
                <a:spcPts val="0"/>
              </a:spcAft>
              <a:defRPr sz="2100" b="1">
                <a:solidFill>
                  <a:srgbClr val="087F8C"/>
                </a:solidFill>
                <a:latin typeface="DejaVu Sans"/>
              </a:defRPr>
            </a:pPr>
            <a:r>
              <a:t>Coupling argument</a:t>
            </a:r>
          </a:p>
        </p:txBody>
      </p:sp>
      <p:sp>
        <p:nvSpPr>
          <p:cNvPr id="10" name="TextBox 9"/>
          <p:cNvSpPr txBox="1"/>
          <p:nvPr/>
        </p:nvSpPr>
        <p:spPr>
          <a:xfrm>
            <a:off x="787400" y="2527300"/>
            <a:ext cx="4876800" cy="1736852"/>
          </a:xfrm>
          <a:prstGeom prst="rect">
            <a:avLst/>
          </a:prstGeom>
          <a:noFill/>
        </p:spPr>
        <p:txBody>
          <a:bodyPr wrap="none" lIns="0" rIns="0" tIns="0" bIns="0">
            <a:spAutoFit/>
          </a:bodyPr>
          <a:lstStyle/>
          <a:p>
            <a:pPr>
              <a:lnSpc>
                <a:spcPts val="2196"/>
              </a:lnSpc>
              <a:spcBef>
                <a:spcPts val="0"/>
              </a:spcBef>
              <a:spcAft>
                <a:spcPts val="0"/>
              </a:spcAft>
              <a:defRPr sz="1800" b="0">
                <a:solidFill>
                  <a:srgbClr val="263A50"/>
                </a:solidFill>
                <a:latin typeface="DejaVu Sans"/>
              </a:defRPr>
            </a:pPr>
            <a:r>
              <a:t>Keep the same physical trajectory.</a:t>
            </a:r>
          </a:p>
          <a:p>
            <a:pPr>
              <a:lnSpc>
                <a:spcPts val="2196"/>
              </a:lnSpc>
              <a:spcBef>
                <a:spcPts val="0"/>
              </a:spcBef>
              <a:spcAft>
                <a:spcPts val="0"/>
              </a:spcAft>
              <a:defRPr sz="1800" b="0">
                <a:solidFill>
                  <a:srgbClr val="263A50"/>
                </a:solidFill>
                <a:latin typeface="DejaVu Sans"/>
              </a:defRPr>
            </a:pPr>
            <a:r>
              <a:t>Keep sensing and mute decisions.</a:t>
            </a:r>
          </a:p>
          <a:p>
            <a:pPr>
              <a:lnSpc>
                <a:spcPts val="2196"/>
              </a:lnSpc>
              <a:spcBef>
                <a:spcPts val="0"/>
              </a:spcBef>
              <a:spcAft>
                <a:spcPts val="0"/>
              </a:spcAft>
              <a:defRPr sz="1800" b="0">
                <a:solidFill>
                  <a:srgbClr val="263A50"/>
                </a:solidFill>
                <a:latin typeface="DejaVu Sans"/>
              </a:defRPr>
            </a:pPr>
            <a:r>
              <a:t>Replace each nonmute beam by the SOCP</a:t>
            </a:r>
          </a:p>
          <a:p>
            <a:pPr>
              <a:lnSpc>
                <a:spcPts val="2196"/>
              </a:lnSpc>
              <a:spcBef>
                <a:spcPts val="0"/>
              </a:spcBef>
              <a:spcAft>
                <a:spcPts val="0"/>
              </a:spcAft>
              <a:defRPr sz="1800" b="0">
                <a:solidFill>
                  <a:srgbClr val="263A50"/>
                </a:solidFill>
                <a:latin typeface="DejaVu Sans"/>
              </a:defRPr>
            </a:pPr>
            <a:r>
              <a:t>optimizer.</a:t>
            </a:r>
          </a:p>
          <a:p>
            <a:pPr>
              <a:lnSpc>
                <a:spcPts val="2196"/>
              </a:lnSpc>
              <a:spcBef>
                <a:spcPts val="0"/>
              </a:spcBef>
              <a:spcAft>
                <a:spcPts val="0"/>
              </a:spcAft>
              <a:defRPr sz="1800" b="0">
                <a:solidFill>
                  <a:srgbClr val="263A50"/>
                </a:solidFill>
                <a:latin typeface="DejaVu Sans"/>
              </a:defRPr>
            </a:pPr>
          </a:p>
          <a:p>
            <a:pPr>
              <a:lnSpc>
                <a:spcPts val="2196"/>
              </a:lnSpc>
              <a:spcBef>
                <a:spcPts val="0"/>
              </a:spcBef>
              <a:spcAft>
                <a:spcPts val="0"/>
              </a:spcAft>
              <a:defRPr sz="1800" b="0">
                <a:solidFill>
                  <a:srgbClr val="263A50"/>
                </a:solidFill>
                <a:latin typeface="DejaVu Sans"/>
              </a:defRPr>
            </a:pPr>
            <a:r>
              <a:t>Delivered bits cannot decrease.</a:t>
            </a:r>
          </a:p>
        </p:txBody>
      </p:sp>
      <p:sp>
        <p:nvSpPr>
          <p:cNvPr id="11" name="Rounded Rectangle 10"/>
          <p:cNvSpPr/>
          <p:nvPr/>
        </p:nvSpPr>
        <p:spPr>
          <a:xfrm>
            <a:off x="6273800" y="1841500"/>
            <a:ext cx="5359400" cy="2997200"/>
          </a:xfrm>
          <a:prstGeom prst="roundRect">
            <a:avLst>
              <a:gd name="adj" fmla="val 8000"/>
            </a:avLst>
          </a:prstGeom>
          <a:solidFill>
            <a:srgbClr val="EF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02400" y="2057400"/>
            <a:ext cx="4902200" cy="388874"/>
          </a:xfrm>
          <a:prstGeom prst="rect">
            <a:avLst/>
          </a:prstGeom>
          <a:noFill/>
        </p:spPr>
        <p:txBody>
          <a:bodyPr wrap="none" lIns="0" rIns="0" tIns="0" bIns="0">
            <a:spAutoFit/>
          </a:bodyPr>
          <a:lstStyle/>
          <a:p>
            <a:pPr>
              <a:lnSpc>
                <a:spcPts val="2562"/>
              </a:lnSpc>
              <a:spcBef>
                <a:spcPts val="0"/>
              </a:spcBef>
              <a:spcAft>
                <a:spcPts val="0"/>
              </a:spcAft>
              <a:defRPr sz="2100" b="1">
                <a:solidFill>
                  <a:srgbClr val="087F8C"/>
                </a:solidFill>
                <a:latin typeface="DejaVu Sans"/>
              </a:defRPr>
            </a:pPr>
            <a:r>
              <a:t>Conditions that make it valid</a:t>
            </a:r>
          </a:p>
        </p:txBody>
      </p:sp>
      <p:sp>
        <p:nvSpPr>
          <p:cNvPr id="13" name="TextBox 12"/>
          <p:cNvSpPr txBox="1"/>
          <p:nvPr/>
        </p:nvSpPr>
        <p:spPr>
          <a:xfrm>
            <a:off x="6502400" y="2527300"/>
            <a:ext cx="4902200" cy="1179068"/>
          </a:xfrm>
          <a:prstGeom prst="rect">
            <a:avLst/>
          </a:prstGeom>
          <a:noFill/>
        </p:spPr>
        <p:txBody>
          <a:bodyPr wrap="none" lIns="0" rIns="0" tIns="0" bIns="0">
            <a:spAutoFit/>
          </a:bodyPr>
          <a:lstStyle/>
          <a:p>
            <a:pPr>
              <a:lnSpc>
                <a:spcPts val="2196"/>
              </a:lnSpc>
              <a:spcBef>
                <a:spcPts val="0"/>
              </a:spcBef>
              <a:spcAft>
                <a:spcPts val="0"/>
              </a:spcAft>
              <a:defRPr sz="1800" b="0">
                <a:solidFill>
                  <a:srgbClr val="263A50"/>
                </a:solidFill>
                <a:latin typeface="DejaVu Sans"/>
              </a:defRPr>
            </a:pPr>
            <a:r>
              <a:t>Fixed calendar and external interference.</a:t>
            </a:r>
          </a:p>
          <a:p>
            <a:pPr>
              <a:lnSpc>
                <a:spcPts val="2196"/>
              </a:lnSpc>
              <a:spcBef>
                <a:spcPts val="0"/>
              </a:spcBef>
              <a:spcAft>
                <a:spcPts val="0"/>
              </a:spcAft>
              <a:defRPr sz="1800" b="0">
                <a:solidFill>
                  <a:srgbClr val="263A50"/>
                </a:solidFill>
                <a:latin typeface="DejaVu Sans"/>
              </a:defRPr>
            </a:pPr>
            <a:r>
              <a:t>No energy carryover or switching cost.</a:t>
            </a:r>
          </a:p>
          <a:p>
            <a:pPr>
              <a:lnSpc>
                <a:spcPts val="2196"/>
              </a:lnSpc>
              <a:spcBef>
                <a:spcPts val="0"/>
              </a:spcBef>
              <a:spcAft>
                <a:spcPts val="0"/>
              </a:spcAft>
              <a:defRPr sz="1800" b="0">
                <a:solidFill>
                  <a:srgbClr val="263A50"/>
                </a:solidFill>
                <a:latin typeface="DejaVu Sans"/>
              </a:defRPr>
            </a:pPr>
            <a:r>
              <a:t>Exogenous physical/observation laws.</a:t>
            </a:r>
          </a:p>
          <a:p>
            <a:pPr>
              <a:lnSpc>
                <a:spcPts val="2196"/>
              </a:lnSpc>
              <a:spcBef>
                <a:spcPts val="0"/>
              </a:spcBef>
              <a:spcAft>
                <a:spcPts val="0"/>
              </a:spcAft>
              <a:defRPr sz="1800" b="0">
                <a:solidFill>
                  <a:srgbClr val="263A50"/>
                </a:solidFill>
                <a:latin typeface="DejaVu Sans"/>
              </a:defRPr>
            </a:pPr>
            <a:r>
              <a:t>One shared certified nonmute risk bound.</a:t>
            </a:r>
          </a:p>
        </p:txBody>
      </p:sp>
      <p:sp>
        <p:nvSpPr>
          <p:cNvPr id="14" name="TextBox 13"/>
          <p:cNvSpPr txBox="1"/>
          <p:nvPr/>
        </p:nvSpPr>
        <p:spPr>
          <a:xfrm>
            <a:off x="660400" y="5130800"/>
            <a:ext cx="10833100" cy="590296"/>
          </a:xfrm>
          <a:prstGeom prst="rect">
            <a:avLst/>
          </a:prstGeom>
          <a:noFill/>
        </p:spPr>
        <p:txBody>
          <a:bodyPr wrap="none" lIns="0" rIns="0" tIns="0" bIns="0">
            <a:spAutoFit/>
          </a:bodyPr>
          <a:lstStyle/>
          <a:p>
            <a:pPr>
              <a:lnSpc>
                <a:spcPts val="2074"/>
              </a:lnSpc>
              <a:spcBef>
                <a:spcPts val="0"/>
              </a:spcBef>
              <a:spcAft>
                <a:spcPts val="0"/>
              </a:spcAft>
              <a:defRPr sz="1700" b="1">
                <a:solidFill>
                  <a:srgbClr val="BC4B51"/>
                </a:solidFill>
                <a:latin typeface="DejaVu Sans"/>
              </a:defRPr>
            </a:pPr>
            <a:r>
              <a:t>The result concerns certified risk; beam-dependent true-outage costs need a different</a:t>
            </a:r>
          </a:p>
          <a:p>
            <a:pPr>
              <a:lnSpc>
                <a:spcPts val="2074"/>
              </a:lnSpc>
              <a:spcBef>
                <a:spcPts val="0"/>
              </a:spcBef>
              <a:spcAft>
                <a:spcPts val="0"/>
              </a:spcAft>
              <a:defRPr sz="1700" b="1">
                <a:solidFill>
                  <a:srgbClr val="BC4B51"/>
                </a:solidFill>
                <a:latin typeface="DejaVu Sans"/>
              </a:defRPr>
            </a:pPr>
            <a:r>
              <a:t>reduction.</a:t>
            </a:r>
          </a:p>
        </p:txBody>
      </p:sp>
      <p:sp>
        <p:nvSpPr>
          <p:cNvPr id="15" name="TextBox 14"/>
          <p:cNvSpPr txBox="1"/>
          <p:nvPr/>
        </p:nvSpPr>
        <p:spPr>
          <a:xfrm>
            <a:off x="558800" y="6553200"/>
            <a:ext cx="10604500" cy="215900"/>
          </a:xfrm>
          <a:prstGeom prst="rect">
            <a:avLst/>
          </a:prstGeom>
          <a:noFill/>
        </p:spPr>
        <p:txBody>
          <a:bodyPr wrap="none" lIns="0" tIns="0">
            <a:spAutoFit/>
          </a:bodyPr>
          <a:lstStyle/>
          <a:p>
            <a:pPr>
              <a:defRPr sz="900">
                <a:solidFill>
                  <a:srgbClr val="617487"/>
                </a:solidFill>
                <a:latin typeface="DejaVu Sans"/>
              </a:defRPr>
            </a:pPr>
            <a:r>
              <a:t>Appendix D.D · Proposition: lossless beam elimination</a:t>
            </a:r>
          </a:p>
        </p:txBody>
      </p:sp>
      <p:sp>
        <p:nvSpPr>
          <p:cNvPr id="16" name="TextBox 15"/>
          <p:cNvSpPr txBox="1"/>
          <p:nvPr/>
        </p:nvSpPr>
        <p:spPr>
          <a:xfrm>
            <a:off x="11239500" y="6553200"/>
            <a:ext cx="825500" cy="215900"/>
          </a:xfrm>
          <a:prstGeom prst="rect">
            <a:avLst/>
          </a:prstGeom>
          <a:noFill/>
        </p:spPr>
        <p:txBody>
          <a:bodyPr wrap="none" lIns="0" tIns="0">
            <a:spAutoFit/>
          </a:bodyPr>
          <a:lstStyle/>
          <a:p>
            <a:pPr>
              <a:defRPr sz="900">
                <a:solidFill>
                  <a:srgbClr val="617487"/>
                </a:solidFill>
                <a:latin typeface="DejaVu Sans"/>
              </a:defRPr>
            </a:pPr>
            <a:r>
              <a:t>14 / 30</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58800" y="304800"/>
            <a:ext cx="10795000" cy="264922"/>
          </a:xfrm>
          <a:prstGeom prst="rect">
            <a:avLst/>
          </a:prstGeom>
          <a:noFill/>
        </p:spPr>
        <p:txBody>
          <a:bodyPr wrap="none" lIns="0" rIns="0" tIns="0" bIns="0">
            <a:spAutoFit/>
          </a:bodyPr>
          <a:lstStyle/>
          <a:p>
            <a:pPr>
              <a:lnSpc>
                <a:spcPts val="1586"/>
              </a:lnSpc>
              <a:spcBef>
                <a:spcPts val="0"/>
              </a:spcBef>
              <a:spcAft>
                <a:spcPts val="0"/>
              </a:spcAft>
              <a:defRPr sz="1300" b="1">
                <a:solidFill>
                  <a:srgbClr val="087F8C"/>
                </a:solidFill>
                <a:latin typeface="DejaVu Sans"/>
              </a:defRPr>
            </a:pPr>
            <a:r>
              <a:t>E · HISTORY GRAPH</a:t>
            </a:r>
          </a:p>
        </p:txBody>
      </p:sp>
      <p:sp>
        <p:nvSpPr>
          <p:cNvPr id="4" name="TextBox 3"/>
          <p:cNvSpPr txBox="1"/>
          <p:nvPr/>
        </p:nvSpPr>
        <p:spPr>
          <a:xfrm>
            <a:off x="558800" y="673100"/>
            <a:ext cx="11150600" cy="429618"/>
          </a:xfrm>
          <a:prstGeom prst="rect">
            <a:avLst/>
          </a:prstGeom>
          <a:noFill/>
        </p:spPr>
        <p:txBody>
          <a:bodyPr wrap="none" lIns="0" rIns="0" tIns="0" bIns="0">
            <a:spAutoFit/>
          </a:bodyPr>
          <a:lstStyle/>
          <a:p>
            <a:pPr>
              <a:lnSpc>
                <a:spcPts val="2882"/>
              </a:lnSpc>
              <a:spcBef>
                <a:spcPts val="0"/>
              </a:spcBef>
              <a:spcAft>
                <a:spcPts val="0"/>
              </a:spcAft>
              <a:defRPr sz="2362" b="1">
                <a:solidFill>
                  <a:srgbClr val="152C46"/>
                </a:solidFill>
                <a:latin typeface="DejaVu Sans"/>
              </a:defRPr>
            </a:pPr>
            <a:r>
              <a:t>A causal state contains what is known—not the hidden channel</a:t>
            </a:r>
          </a:p>
        </p:txBody>
      </p:sp>
      <p:sp>
        <p:nvSpPr>
          <p:cNvPr id="5" name="Rectangle 4"/>
          <p:cNvSpPr/>
          <p:nvPr/>
        </p:nvSpPr>
        <p:spPr>
          <a:xfrm>
            <a:off x="558800" y="1320800"/>
            <a:ext cx="698500" cy="50800"/>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58800" y="5765800"/>
            <a:ext cx="11074400" cy="584200"/>
          </a:xfrm>
          <a:prstGeom prst="roundRect">
            <a:avLst>
              <a:gd name="adj" fmla="val 8000"/>
            </a:avLst>
          </a:prstGeom>
          <a:solidFill>
            <a:srgbClr val="E5F3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62000" y="5905500"/>
            <a:ext cx="10693400" cy="326898"/>
          </a:xfrm>
          <a:prstGeom prst="rect">
            <a:avLst/>
          </a:prstGeom>
          <a:noFill/>
        </p:spPr>
        <p:txBody>
          <a:bodyPr wrap="none" lIns="0" rIns="0" tIns="0" bIns="0">
            <a:spAutoFit/>
          </a:bodyPr>
          <a:lstStyle/>
          <a:p>
            <a:pPr>
              <a:lnSpc>
                <a:spcPts val="2074"/>
              </a:lnSpc>
              <a:spcBef>
                <a:spcPts val="0"/>
              </a:spcBef>
              <a:spcAft>
                <a:spcPts val="0"/>
              </a:spcAft>
              <a:defRPr sz="1700" b="1">
                <a:solidFill>
                  <a:srgbClr val="152C46"/>
                </a:solidFill>
                <a:latin typeface="DejaVu Sans"/>
              </a:defRPr>
            </a:pPr>
            <a:r>
              <a:t>Pending metadata includes the release time, but never the unreleased estimate.</a:t>
            </a:r>
          </a:p>
        </p:txBody>
      </p:sp>
      <p:sp>
        <p:nvSpPr>
          <p:cNvPr id="8" name="TextBox 7"/>
          <p:cNvSpPr txBox="1"/>
          <p:nvPr/>
        </p:nvSpPr>
        <p:spPr>
          <a:xfrm>
            <a:off x="609600" y="1689100"/>
            <a:ext cx="10972800" cy="652272"/>
          </a:xfrm>
          <a:prstGeom prst="rect">
            <a:avLst/>
          </a:prstGeom>
          <a:noFill/>
        </p:spPr>
        <p:txBody>
          <a:bodyPr wrap="none" lIns="0" rIns="0" tIns="0" bIns="0">
            <a:spAutoFit/>
          </a:bodyPr>
          <a:lstStyle/>
          <a:p>
            <a:pPr>
              <a:lnSpc>
                <a:spcPts val="2318"/>
              </a:lnSpc>
              <a:spcBef>
                <a:spcPts val="0"/>
              </a:spcBef>
              <a:spcAft>
                <a:spcPts val="0"/>
              </a:spcAft>
              <a:defRPr sz="1900" b="1">
                <a:solidFill>
                  <a:srgbClr val="152C46"/>
                </a:solidFill>
                <a:latin typeface="DejaVu Sans"/>
              </a:defRPr>
            </a:pPr>
            <a:r>
              <a:t>S = time + revealed history + RF / pending status + delivered bits + record</a:t>
            </a:r>
          </a:p>
          <a:p>
            <a:pPr>
              <a:lnSpc>
                <a:spcPts val="2318"/>
              </a:lnSpc>
              <a:spcBef>
                <a:spcPts val="0"/>
              </a:spcBef>
              <a:spcAft>
                <a:spcPts val="0"/>
              </a:spcAft>
              <a:defRPr sz="1900" b="1">
                <a:solidFill>
                  <a:srgbClr val="152C46"/>
                </a:solidFill>
                <a:latin typeface="DejaVu Sans"/>
              </a:defRPr>
            </a:pPr>
            <a:r>
              <a:t>timestamps</a:t>
            </a:r>
          </a:p>
        </p:txBody>
      </p:sp>
      <p:sp>
        <p:nvSpPr>
          <p:cNvPr id="9" name="Rounded Rectangle 8"/>
          <p:cNvSpPr/>
          <p:nvPr/>
        </p:nvSpPr>
        <p:spPr>
          <a:xfrm>
            <a:off x="660400" y="2806700"/>
            <a:ext cx="2667000" cy="1422400"/>
          </a:xfrm>
          <a:prstGeom prst="roundRect">
            <a:avLst>
              <a:gd name="adj" fmla="val 8000"/>
            </a:avLst>
          </a:prstGeom>
          <a:solidFill>
            <a:srgbClr val="E5F3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89000" y="3022600"/>
            <a:ext cx="2209800" cy="382324"/>
          </a:xfrm>
          <a:prstGeom prst="rect">
            <a:avLst/>
          </a:prstGeom>
          <a:noFill/>
        </p:spPr>
        <p:txBody>
          <a:bodyPr wrap="none" lIns="0" rIns="0" tIns="0" bIns="0">
            <a:spAutoFit/>
          </a:bodyPr>
          <a:lstStyle/>
          <a:p>
            <a:pPr>
              <a:lnSpc>
                <a:spcPts val="2510"/>
              </a:lnSpc>
              <a:spcBef>
                <a:spcPts val="0"/>
              </a:spcBef>
              <a:spcAft>
                <a:spcPts val="0"/>
              </a:spcAft>
              <a:defRPr sz="2057" b="1">
                <a:solidFill>
                  <a:srgbClr val="087F8C"/>
                </a:solidFill>
                <a:latin typeface="DejaVu Sans"/>
              </a:defRPr>
            </a:pPr>
            <a:r>
              <a:t>Known history</a:t>
            </a:r>
          </a:p>
        </p:txBody>
      </p:sp>
      <p:sp>
        <p:nvSpPr>
          <p:cNvPr id="11" name="TextBox 10"/>
          <p:cNvSpPr txBox="1"/>
          <p:nvPr/>
        </p:nvSpPr>
        <p:spPr>
          <a:xfrm>
            <a:off x="889000" y="3492500"/>
            <a:ext cx="2209800" cy="621284"/>
          </a:xfrm>
          <a:prstGeom prst="rect">
            <a:avLst/>
          </a:prstGeom>
          <a:noFill/>
        </p:spPr>
        <p:txBody>
          <a:bodyPr wrap="none" lIns="0" rIns="0" tIns="0" bIns="0">
            <a:spAutoFit/>
          </a:bodyPr>
          <a:lstStyle/>
          <a:p>
            <a:pPr>
              <a:lnSpc>
                <a:spcPts val="2196"/>
              </a:lnSpc>
              <a:spcBef>
                <a:spcPts val="0"/>
              </a:spcBef>
              <a:spcAft>
                <a:spcPts val="0"/>
              </a:spcAft>
              <a:defRPr sz="1800" b="0">
                <a:solidFill>
                  <a:srgbClr val="263A50"/>
                </a:solidFill>
                <a:latin typeface="DejaVu Sans"/>
              </a:defRPr>
            </a:pPr>
            <a:r>
              <a:t>Legal actions</a:t>
            </a:r>
          </a:p>
          <a:p>
            <a:pPr>
              <a:lnSpc>
                <a:spcPts val="2196"/>
              </a:lnSpc>
              <a:spcBef>
                <a:spcPts val="0"/>
              </a:spcBef>
              <a:spcAft>
                <a:spcPts val="0"/>
              </a:spcAft>
              <a:defRPr sz="1800" b="0">
                <a:solidFill>
                  <a:srgbClr val="263A50"/>
                </a:solidFill>
                <a:latin typeface="DejaVu Sans"/>
              </a:defRPr>
            </a:pPr>
            <a:r>
              <a:t>Available record</a:t>
            </a:r>
          </a:p>
        </p:txBody>
      </p:sp>
      <p:sp>
        <p:nvSpPr>
          <p:cNvPr id="12" name="Rounded Rectangle 11"/>
          <p:cNvSpPr/>
          <p:nvPr/>
        </p:nvSpPr>
        <p:spPr>
          <a:xfrm>
            <a:off x="4800600" y="2070100"/>
            <a:ext cx="2743200" cy="1206500"/>
          </a:xfrm>
          <a:prstGeom prst="roundRect">
            <a:avLst>
              <a:gd name="adj" fmla="val 8000"/>
            </a:avLst>
          </a:prstGeom>
          <a:solidFill>
            <a:srgbClr val="EF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29200" y="2286000"/>
            <a:ext cx="2286000" cy="388874"/>
          </a:xfrm>
          <a:prstGeom prst="rect">
            <a:avLst/>
          </a:prstGeom>
          <a:noFill/>
        </p:spPr>
        <p:txBody>
          <a:bodyPr wrap="none" lIns="0" rIns="0" tIns="0" bIns="0">
            <a:spAutoFit/>
          </a:bodyPr>
          <a:lstStyle/>
          <a:p>
            <a:pPr>
              <a:lnSpc>
                <a:spcPts val="2562"/>
              </a:lnSpc>
              <a:spcBef>
                <a:spcPts val="0"/>
              </a:spcBef>
              <a:spcAft>
                <a:spcPts val="0"/>
              </a:spcAft>
              <a:defRPr sz="2100" b="1">
                <a:solidFill>
                  <a:srgbClr val="087F8C"/>
                </a:solidFill>
                <a:latin typeface="DejaVu Sans"/>
              </a:defRPr>
            </a:pPr>
            <a:r>
              <a:t>Serve / mute</a:t>
            </a:r>
          </a:p>
        </p:txBody>
      </p:sp>
      <p:sp>
        <p:nvSpPr>
          <p:cNvPr id="14" name="TextBox 13"/>
          <p:cNvSpPr txBox="1"/>
          <p:nvPr/>
        </p:nvSpPr>
        <p:spPr>
          <a:xfrm>
            <a:off x="5029200" y="2755900"/>
            <a:ext cx="2286000" cy="621284"/>
          </a:xfrm>
          <a:prstGeom prst="rect">
            <a:avLst/>
          </a:prstGeom>
          <a:noFill/>
        </p:spPr>
        <p:txBody>
          <a:bodyPr wrap="none" lIns="0" rIns="0" tIns="0" bIns="0">
            <a:spAutoFit/>
          </a:bodyPr>
          <a:lstStyle/>
          <a:p>
            <a:pPr>
              <a:lnSpc>
                <a:spcPts val="2196"/>
              </a:lnSpc>
              <a:spcBef>
                <a:spcPts val="0"/>
              </a:spcBef>
              <a:spcAft>
                <a:spcPts val="0"/>
              </a:spcAft>
              <a:defRPr sz="1800" b="0">
                <a:solidFill>
                  <a:srgbClr val="263A50"/>
                </a:solidFill>
                <a:latin typeface="DejaVu Sans"/>
              </a:defRPr>
            </a:pPr>
            <a:r>
              <a:t>Use available</a:t>
            </a:r>
          </a:p>
          <a:p>
            <a:pPr>
              <a:lnSpc>
                <a:spcPts val="2196"/>
              </a:lnSpc>
              <a:spcBef>
                <a:spcPts val="0"/>
              </a:spcBef>
              <a:spcAft>
                <a:spcPts val="0"/>
              </a:spcAft>
              <a:defRPr sz="1800" b="0">
                <a:solidFill>
                  <a:srgbClr val="263A50"/>
                </a:solidFill>
                <a:latin typeface="DejaVu Sans"/>
              </a:defRPr>
            </a:pPr>
            <a:r>
              <a:t>information</a:t>
            </a:r>
          </a:p>
        </p:txBody>
      </p:sp>
      <p:sp>
        <p:nvSpPr>
          <p:cNvPr id="15" name="Rounded Rectangle 14"/>
          <p:cNvSpPr/>
          <p:nvPr/>
        </p:nvSpPr>
        <p:spPr>
          <a:xfrm>
            <a:off x="4800600" y="4076700"/>
            <a:ext cx="2743200" cy="1206500"/>
          </a:xfrm>
          <a:prstGeom prst="roundRect">
            <a:avLst>
              <a:gd name="adj" fmla="val 8000"/>
            </a:avLst>
          </a:prstGeom>
          <a:solidFill>
            <a:srgbClr val="EF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029200" y="4292600"/>
            <a:ext cx="2286000" cy="388874"/>
          </a:xfrm>
          <a:prstGeom prst="rect">
            <a:avLst/>
          </a:prstGeom>
          <a:noFill/>
        </p:spPr>
        <p:txBody>
          <a:bodyPr wrap="none" lIns="0" rIns="0" tIns="0" bIns="0">
            <a:spAutoFit/>
          </a:bodyPr>
          <a:lstStyle/>
          <a:p>
            <a:pPr>
              <a:lnSpc>
                <a:spcPts val="2562"/>
              </a:lnSpc>
              <a:spcBef>
                <a:spcPts val="0"/>
              </a:spcBef>
              <a:spcAft>
                <a:spcPts val="0"/>
              </a:spcAft>
              <a:defRPr sz="2100" b="1">
                <a:solidFill>
                  <a:srgbClr val="087F8C"/>
                </a:solidFill>
                <a:latin typeface="DejaVu Sans"/>
              </a:defRPr>
            </a:pPr>
            <a:r>
              <a:t>Listen</a:t>
            </a:r>
          </a:p>
        </p:txBody>
      </p:sp>
      <p:sp>
        <p:nvSpPr>
          <p:cNvPr id="17" name="TextBox 16"/>
          <p:cNvSpPr txBox="1"/>
          <p:nvPr/>
        </p:nvSpPr>
        <p:spPr>
          <a:xfrm>
            <a:off x="5029200" y="4762500"/>
            <a:ext cx="2286000" cy="342392"/>
          </a:xfrm>
          <a:prstGeom prst="rect">
            <a:avLst/>
          </a:prstGeom>
          <a:noFill/>
        </p:spPr>
        <p:txBody>
          <a:bodyPr wrap="none" lIns="0" rIns="0" tIns="0" bIns="0">
            <a:spAutoFit/>
          </a:bodyPr>
          <a:lstStyle/>
          <a:p>
            <a:pPr>
              <a:lnSpc>
                <a:spcPts val="2196"/>
              </a:lnSpc>
              <a:spcBef>
                <a:spcPts val="0"/>
              </a:spcBef>
              <a:spcAft>
                <a:spcPts val="0"/>
              </a:spcAft>
              <a:defRPr sz="1800" b="0">
                <a:solidFill>
                  <a:srgbClr val="263A50"/>
                </a:solidFill>
                <a:latin typeface="DejaVu Sans"/>
              </a:defRPr>
            </a:pPr>
            <a:r>
              <a:t>Commit resources</a:t>
            </a:r>
          </a:p>
        </p:txBody>
      </p:sp>
      <p:cxnSp>
        <p:nvCxnSpPr>
          <p:cNvPr id="18" name="Connector 17"/>
          <p:cNvCxnSpPr/>
          <p:nvPr/>
        </p:nvCxnSpPr>
        <p:spPr>
          <a:xfrm flipV="1">
            <a:off x="3365500" y="2641600"/>
            <a:ext cx="1371600" cy="533400"/>
          </a:xfrm>
          <a:prstGeom prst="line">
            <a:avLst/>
          </a:prstGeom>
          <a:ln w="25400">
            <a:solidFill>
              <a:srgbClr val="087F8C"/>
            </a:solidFill>
          </a:ln>
        </p:spPr>
        <p:style>
          <a:lnRef idx="2">
            <a:schemeClr val="accent1"/>
          </a:lnRef>
          <a:fillRef idx="0">
            <a:schemeClr val="accent1"/>
          </a:fillRef>
          <a:effectRef idx="1">
            <a:schemeClr val="accent1"/>
          </a:effectRef>
          <a:fontRef idx="minor">
            <a:schemeClr val="tx1"/>
          </a:fontRef>
        </p:style>
      </p:cxnSp>
      <p:sp>
        <p:nvSpPr>
          <p:cNvPr id="19" name="Freeform 18"/>
          <p:cNvSpPr/>
          <p:nvPr/>
        </p:nvSpPr>
        <p:spPr>
          <a:xfrm>
            <a:off x="4636345" y="2628518"/>
            <a:ext cx="100755" cy="90796"/>
          </a:xfrm>
          <a:custGeom>
            <a:avLst/>
            <a:gdLst/>
            <a:ahLst/>
            <a:cxnLst/>
            <a:rect l="l" t="t" r="r" b="b"/>
            <a:pathLst>
              <a:path w="100755" h="90796">
                <a:moveTo>
                  <a:pt x="100755" y="13082"/>
                </a:moveTo>
                <a:lnTo>
                  <a:pt x="35309" y="90796"/>
                </a:lnTo>
                <a:lnTo>
                  <a:pt x="0" y="0"/>
                </a:lnTo>
                <a:close/>
              </a:path>
            </a:pathLst>
          </a:cu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0" name="Connector 19"/>
          <p:cNvCxnSpPr/>
          <p:nvPr/>
        </p:nvCxnSpPr>
        <p:spPr>
          <a:xfrm>
            <a:off x="3365500" y="3556000"/>
            <a:ext cx="1371600" cy="952500"/>
          </a:xfrm>
          <a:prstGeom prst="line">
            <a:avLst/>
          </a:prstGeom>
          <a:ln w="25400">
            <a:solidFill>
              <a:srgbClr val="087F8C"/>
            </a:solidFill>
          </a:ln>
        </p:spPr>
        <p:style>
          <a:lnRef idx="2">
            <a:schemeClr val="accent1"/>
          </a:lnRef>
          <a:fillRef idx="0">
            <a:schemeClr val="accent1"/>
          </a:fillRef>
          <a:effectRef idx="1">
            <a:schemeClr val="accent1"/>
          </a:effectRef>
          <a:fontRef idx="minor">
            <a:schemeClr val="tx1"/>
          </a:fontRef>
        </p:style>
      </p:cxnSp>
      <p:sp>
        <p:nvSpPr>
          <p:cNvPr id="21" name="Freeform 20"/>
          <p:cNvSpPr/>
          <p:nvPr/>
        </p:nvSpPr>
        <p:spPr>
          <a:xfrm>
            <a:off x="4636080" y="4417633"/>
            <a:ext cx="101020" cy="90867"/>
          </a:xfrm>
          <a:custGeom>
            <a:avLst/>
            <a:gdLst/>
            <a:ahLst/>
            <a:cxnLst/>
            <a:rect l="l" t="t" r="r" b="b"/>
            <a:pathLst>
              <a:path w="101020" h="90867">
                <a:moveTo>
                  <a:pt x="101020" y="90867"/>
                </a:moveTo>
                <a:lnTo>
                  <a:pt x="0" y="80017"/>
                </a:lnTo>
                <a:lnTo>
                  <a:pt x="55568" y="0"/>
                </a:lnTo>
                <a:close/>
              </a:path>
            </a:pathLst>
          </a:cu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8775700" y="3352800"/>
            <a:ext cx="2857500" cy="546100"/>
          </a:xfrm>
          <a:prstGeom prst="roundRect">
            <a:avLst>
              <a:gd name="adj" fmla="val 8000"/>
            </a:avLst>
          </a:prstGeom>
          <a:solidFill>
            <a:srgbClr val="E5F3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890000" y="3492500"/>
            <a:ext cx="2628900" cy="295910"/>
          </a:xfrm>
          <a:prstGeom prst="rect">
            <a:avLst/>
          </a:prstGeom>
          <a:noFill/>
        </p:spPr>
        <p:txBody>
          <a:bodyPr wrap="none" lIns="0" rIns="0" tIns="0" bIns="0">
            <a:spAutoFit/>
          </a:bodyPr>
          <a:lstStyle/>
          <a:p>
            <a:pPr>
              <a:lnSpc>
                <a:spcPts val="1830"/>
              </a:lnSpc>
              <a:spcBef>
                <a:spcPts val="0"/>
              </a:spcBef>
              <a:spcAft>
                <a:spcPts val="0"/>
              </a:spcAft>
              <a:defRPr sz="1500" b="1">
                <a:solidFill>
                  <a:srgbClr val="087F8C"/>
                </a:solidFill>
                <a:latin typeface="DejaVu Sans"/>
              </a:defRPr>
            </a:pPr>
            <a:r>
              <a:t>Accepted → new record</a:t>
            </a:r>
          </a:p>
        </p:txBody>
      </p:sp>
      <p:cxnSp>
        <p:nvCxnSpPr>
          <p:cNvPr id="24" name="Connector 23"/>
          <p:cNvCxnSpPr/>
          <p:nvPr/>
        </p:nvCxnSpPr>
        <p:spPr>
          <a:xfrm flipV="1">
            <a:off x="7594600" y="3606800"/>
            <a:ext cx="1130300" cy="1054100"/>
          </a:xfrm>
          <a:prstGeom prst="line">
            <a:avLst/>
          </a:prstGeom>
          <a:ln w="25400">
            <a:solidFill>
              <a:srgbClr val="087F8C"/>
            </a:solidFill>
          </a:ln>
        </p:spPr>
        <p:style>
          <a:lnRef idx="2">
            <a:schemeClr val="accent1"/>
          </a:lnRef>
          <a:fillRef idx="0">
            <a:schemeClr val="accent1"/>
          </a:fillRef>
          <a:effectRef idx="1">
            <a:schemeClr val="accent1"/>
          </a:effectRef>
          <a:fontRef idx="minor">
            <a:schemeClr val="tx1"/>
          </a:fontRef>
        </p:style>
      </p:cxnSp>
      <p:sp>
        <p:nvSpPr>
          <p:cNvPr id="25" name="Freeform 24"/>
          <p:cNvSpPr/>
          <p:nvPr/>
        </p:nvSpPr>
        <p:spPr>
          <a:xfrm>
            <a:off x="8626471" y="3606800"/>
            <a:ext cx="98429" cy="96433"/>
          </a:xfrm>
          <a:custGeom>
            <a:avLst/>
            <a:gdLst/>
            <a:ahLst/>
            <a:cxnLst/>
            <a:rect l="l" t="t" r="r" b="b"/>
            <a:pathLst>
              <a:path w="98429" h="96433">
                <a:moveTo>
                  <a:pt x="98429" y="0"/>
                </a:moveTo>
                <a:lnTo>
                  <a:pt x="66443" y="96433"/>
                </a:lnTo>
                <a:lnTo>
                  <a:pt x="0" y="25188"/>
                </a:lnTo>
                <a:close/>
              </a:path>
            </a:pathLst>
          </a:cu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8775700" y="4165600"/>
            <a:ext cx="2857500" cy="546100"/>
          </a:xfrm>
          <a:prstGeom prst="roundRect">
            <a:avLst>
              <a:gd name="adj" fmla="val 8000"/>
            </a:avLst>
          </a:prstGeom>
          <a:solidFill>
            <a:srgbClr val="EF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890000" y="4305300"/>
            <a:ext cx="2628900" cy="295910"/>
          </a:xfrm>
          <a:prstGeom prst="rect">
            <a:avLst/>
          </a:prstGeom>
          <a:noFill/>
        </p:spPr>
        <p:txBody>
          <a:bodyPr wrap="none" lIns="0" rIns="0" tIns="0" bIns="0">
            <a:spAutoFit/>
          </a:bodyPr>
          <a:lstStyle/>
          <a:p>
            <a:pPr>
              <a:lnSpc>
                <a:spcPts val="1830"/>
              </a:lnSpc>
              <a:spcBef>
                <a:spcPts val="0"/>
              </a:spcBef>
              <a:spcAft>
                <a:spcPts val="0"/>
              </a:spcAft>
              <a:defRPr sz="1500" b="1">
                <a:solidFill>
                  <a:srgbClr val="D89B27"/>
                </a:solidFill>
                <a:latin typeface="DejaVu Sans"/>
              </a:defRPr>
            </a:pPr>
            <a:r>
              <a:t>Rejected → old record</a:t>
            </a:r>
          </a:p>
        </p:txBody>
      </p:sp>
      <p:cxnSp>
        <p:nvCxnSpPr>
          <p:cNvPr id="28" name="Connector 27"/>
          <p:cNvCxnSpPr/>
          <p:nvPr/>
        </p:nvCxnSpPr>
        <p:spPr>
          <a:xfrm flipV="1">
            <a:off x="7594600" y="4419600"/>
            <a:ext cx="1130300" cy="241300"/>
          </a:xfrm>
          <a:prstGeom prst="line">
            <a:avLst/>
          </a:prstGeom>
          <a:ln w="25400">
            <a:solidFill>
              <a:srgbClr val="D89B27"/>
            </a:solidFill>
          </a:ln>
        </p:spPr>
        <p:style>
          <a:lnRef idx="2">
            <a:schemeClr val="accent1"/>
          </a:lnRef>
          <a:fillRef idx="0">
            <a:schemeClr val="accent1"/>
          </a:fillRef>
          <a:effectRef idx="1">
            <a:schemeClr val="accent1"/>
          </a:effectRef>
          <a:fontRef idx="minor">
            <a:schemeClr val="tx1"/>
          </a:fontRef>
        </p:style>
      </p:cxnSp>
      <p:sp>
        <p:nvSpPr>
          <p:cNvPr id="29" name="Freeform 28"/>
          <p:cNvSpPr/>
          <p:nvPr/>
        </p:nvSpPr>
        <p:spPr>
          <a:xfrm>
            <a:off x="8627532" y="4390578"/>
            <a:ext cx="97368" cy="95273"/>
          </a:xfrm>
          <a:custGeom>
            <a:avLst/>
            <a:gdLst/>
            <a:ahLst/>
            <a:cxnLst/>
            <a:rect l="l" t="t" r="r" b="b"/>
            <a:pathLst>
              <a:path w="97368" h="95273">
                <a:moveTo>
                  <a:pt x="97368" y="29022"/>
                </a:moveTo>
                <a:lnTo>
                  <a:pt x="20340" y="95273"/>
                </a:lnTo>
                <a:lnTo>
                  <a:pt x="0" y="0"/>
                </a:lnTo>
                <a:close/>
              </a:path>
            </a:pathLst>
          </a:custGeom>
          <a:solidFill>
            <a:srgbClr val="D89B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ounded Rectangle 29"/>
          <p:cNvSpPr/>
          <p:nvPr/>
        </p:nvSpPr>
        <p:spPr>
          <a:xfrm>
            <a:off x="8775700" y="4978400"/>
            <a:ext cx="2857500" cy="546100"/>
          </a:xfrm>
          <a:prstGeom prst="roundRect">
            <a:avLst>
              <a:gd name="adj" fmla="val 8000"/>
            </a:avLst>
          </a:prstGeom>
          <a:solidFill>
            <a:srgbClr val="EF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890000" y="5118100"/>
            <a:ext cx="2628900" cy="528320"/>
          </a:xfrm>
          <a:prstGeom prst="rect">
            <a:avLst/>
          </a:prstGeom>
          <a:noFill/>
        </p:spPr>
        <p:txBody>
          <a:bodyPr wrap="none" lIns="0" rIns="0" tIns="0" bIns="0">
            <a:spAutoFit/>
          </a:bodyPr>
          <a:lstStyle/>
          <a:p>
            <a:pPr>
              <a:lnSpc>
                <a:spcPts val="1830"/>
              </a:lnSpc>
              <a:spcBef>
                <a:spcPts val="0"/>
              </a:spcBef>
              <a:spcAft>
                <a:spcPts val="0"/>
              </a:spcAft>
              <a:defRPr sz="1500" b="1">
                <a:solidFill>
                  <a:srgbClr val="617487"/>
                </a:solidFill>
                <a:latin typeface="DejaVu Sans"/>
              </a:defRPr>
            </a:pPr>
            <a:r>
              <a:t>No detection → old</a:t>
            </a:r>
          </a:p>
          <a:p>
            <a:pPr>
              <a:lnSpc>
                <a:spcPts val="1830"/>
              </a:lnSpc>
              <a:spcBef>
                <a:spcPts val="0"/>
              </a:spcBef>
              <a:spcAft>
                <a:spcPts val="0"/>
              </a:spcAft>
              <a:defRPr sz="1500" b="1">
                <a:solidFill>
                  <a:srgbClr val="617487"/>
                </a:solidFill>
                <a:latin typeface="DejaVu Sans"/>
              </a:defRPr>
            </a:pPr>
            <a:r>
              <a:t>record</a:t>
            </a:r>
          </a:p>
        </p:txBody>
      </p:sp>
      <p:cxnSp>
        <p:nvCxnSpPr>
          <p:cNvPr id="32" name="Connector 31"/>
          <p:cNvCxnSpPr/>
          <p:nvPr/>
        </p:nvCxnSpPr>
        <p:spPr>
          <a:xfrm>
            <a:off x="7594600" y="4660900"/>
            <a:ext cx="1130300" cy="571500"/>
          </a:xfrm>
          <a:prstGeom prst="line">
            <a:avLst/>
          </a:prstGeom>
          <a:ln w="25400">
            <a:solidFill>
              <a:srgbClr val="617487"/>
            </a:solidFill>
          </a:ln>
        </p:spPr>
        <p:style>
          <a:lnRef idx="2">
            <a:schemeClr val="accent1"/>
          </a:lnRef>
          <a:fillRef idx="0">
            <a:schemeClr val="accent1"/>
          </a:fillRef>
          <a:effectRef idx="1">
            <a:schemeClr val="accent1"/>
          </a:effectRef>
          <a:fontRef idx="minor">
            <a:schemeClr val="tx1"/>
          </a:fontRef>
        </p:style>
      </p:cxnSp>
      <p:sp>
        <p:nvSpPr>
          <p:cNvPr id="33" name="Freeform 32"/>
          <p:cNvSpPr/>
          <p:nvPr/>
        </p:nvSpPr>
        <p:spPr>
          <a:xfrm>
            <a:off x="8623351" y="5148699"/>
            <a:ext cx="101549" cy="86938"/>
          </a:xfrm>
          <a:custGeom>
            <a:avLst/>
            <a:gdLst/>
            <a:ahLst/>
            <a:cxnLst/>
            <a:rect l="l" t="t" r="r" b="b"/>
            <a:pathLst>
              <a:path w="101549" h="86938">
                <a:moveTo>
                  <a:pt x="101549" y="83701"/>
                </a:moveTo>
                <a:lnTo>
                  <a:pt x="0" y="86938"/>
                </a:lnTo>
                <a:lnTo>
                  <a:pt x="43958" y="0"/>
                </a:lnTo>
                <a:close/>
              </a:path>
            </a:pathLst>
          </a:custGeom>
          <a:solidFill>
            <a:srgbClr val="6174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712200" y="2895600"/>
            <a:ext cx="2844800" cy="326898"/>
          </a:xfrm>
          <a:prstGeom prst="rect">
            <a:avLst/>
          </a:prstGeom>
          <a:noFill/>
        </p:spPr>
        <p:txBody>
          <a:bodyPr wrap="none" lIns="0" rIns="0" tIns="0" bIns="0">
            <a:spAutoFit/>
          </a:bodyPr>
          <a:lstStyle/>
          <a:p>
            <a:pPr>
              <a:lnSpc>
                <a:spcPts val="2074"/>
              </a:lnSpc>
              <a:spcBef>
                <a:spcPts val="0"/>
              </a:spcBef>
              <a:spcAft>
                <a:spcPts val="0"/>
              </a:spcAft>
              <a:defRPr sz="1700" b="1">
                <a:solidFill>
                  <a:srgbClr val="087F8C"/>
                </a:solidFill>
                <a:latin typeface="DejaVu Sans"/>
              </a:defRPr>
            </a:pPr>
            <a:r>
              <a:t>At release only</a:t>
            </a:r>
          </a:p>
        </p:txBody>
      </p:sp>
      <p:sp>
        <p:nvSpPr>
          <p:cNvPr id="35" name="TextBox 34"/>
          <p:cNvSpPr txBox="1"/>
          <p:nvPr/>
        </p:nvSpPr>
        <p:spPr>
          <a:xfrm>
            <a:off x="558800" y="6553200"/>
            <a:ext cx="10604500" cy="215900"/>
          </a:xfrm>
          <a:prstGeom prst="rect">
            <a:avLst/>
          </a:prstGeom>
          <a:noFill/>
        </p:spPr>
        <p:txBody>
          <a:bodyPr wrap="none" lIns="0" tIns="0">
            <a:spAutoFit/>
          </a:bodyPr>
          <a:lstStyle/>
          <a:p>
            <a:pPr>
              <a:defRPr sz="900">
                <a:solidFill>
                  <a:srgbClr val="617487"/>
                </a:solidFill>
                <a:latin typeface="DejaVu Sans"/>
              </a:defRPr>
            </a:pPr>
            <a:r>
              <a:t>Appendix D.E · eq:joint_history_state · eq:joint_belief_update</a:t>
            </a:r>
          </a:p>
        </p:txBody>
      </p:sp>
      <p:sp>
        <p:nvSpPr>
          <p:cNvPr id="36" name="TextBox 35"/>
          <p:cNvSpPr txBox="1"/>
          <p:nvPr/>
        </p:nvSpPr>
        <p:spPr>
          <a:xfrm>
            <a:off x="11239500" y="6553200"/>
            <a:ext cx="825500" cy="215900"/>
          </a:xfrm>
          <a:prstGeom prst="rect">
            <a:avLst/>
          </a:prstGeom>
          <a:noFill/>
        </p:spPr>
        <p:txBody>
          <a:bodyPr wrap="none" lIns="0" tIns="0">
            <a:spAutoFit/>
          </a:bodyPr>
          <a:lstStyle/>
          <a:p>
            <a:pPr>
              <a:defRPr sz="900">
                <a:solidFill>
                  <a:srgbClr val="617487"/>
                </a:solidFill>
                <a:latin typeface="DejaVu Sans"/>
              </a:defRPr>
            </a:pPr>
            <a:r>
              <a:t>15 / 30</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58800" y="304800"/>
            <a:ext cx="10795000" cy="264922"/>
          </a:xfrm>
          <a:prstGeom prst="rect">
            <a:avLst/>
          </a:prstGeom>
          <a:noFill/>
        </p:spPr>
        <p:txBody>
          <a:bodyPr wrap="none" lIns="0" rIns="0" tIns="0" bIns="0">
            <a:spAutoFit/>
          </a:bodyPr>
          <a:lstStyle/>
          <a:p>
            <a:pPr>
              <a:lnSpc>
                <a:spcPts val="1586"/>
              </a:lnSpc>
              <a:spcBef>
                <a:spcPts val="0"/>
              </a:spcBef>
              <a:spcAft>
                <a:spcPts val="0"/>
              </a:spcAft>
              <a:defRPr sz="1300" b="1">
                <a:solidFill>
                  <a:srgbClr val="087F8C"/>
                </a:solidFill>
                <a:latin typeface="DejaVu Sans"/>
              </a:defRPr>
            </a:pPr>
            <a:r>
              <a:t>E · LINEAR PROGRAM</a:t>
            </a:r>
          </a:p>
        </p:txBody>
      </p:sp>
      <p:sp>
        <p:nvSpPr>
          <p:cNvPr id="4" name="TextBox 3"/>
          <p:cNvSpPr txBox="1"/>
          <p:nvPr/>
        </p:nvSpPr>
        <p:spPr>
          <a:xfrm>
            <a:off x="558800" y="673100"/>
            <a:ext cx="11150600" cy="470934"/>
          </a:xfrm>
          <a:prstGeom prst="rect">
            <a:avLst/>
          </a:prstGeom>
          <a:noFill/>
        </p:spPr>
        <p:txBody>
          <a:bodyPr wrap="none" lIns="0" rIns="0" tIns="0" bIns="0">
            <a:spAutoFit/>
          </a:bodyPr>
          <a:lstStyle/>
          <a:p>
            <a:pPr>
              <a:lnSpc>
                <a:spcPts val="3208"/>
              </a:lnSpc>
              <a:spcBef>
                <a:spcPts val="0"/>
              </a:spcBef>
              <a:spcAft>
                <a:spcPts val="0"/>
              </a:spcAft>
              <a:defRPr sz="2629" b="1">
                <a:solidFill>
                  <a:srgbClr val="152C46"/>
                </a:solidFill>
                <a:latin typeface="DejaVu Sans"/>
              </a:defRPr>
            </a:pPr>
            <a:r>
              <a:t>Occupation measures turn policy optimization into an LP</a:t>
            </a:r>
          </a:p>
        </p:txBody>
      </p:sp>
      <p:sp>
        <p:nvSpPr>
          <p:cNvPr id="5" name="Rectangle 4"/>
          <p:cNvSpPr/>
          <p:nvPr/>
        </p:nvSpPr>
        <p:spPr>
          <a:xfrm>
            <a:off x="558800" y="1320800"/>
            <a:ext cx="698500" cy="50800"/>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58800" y="5765800"/>
            <a:ext cx="11074400" cy="584200"/>
          </a:xfrm>
          <a:prstGeom prst="roundRect">
            <a:avLst>
              <a:gd name="adj" fmla="val 8000"/>
            </a:avLst>
          </a:prstGeom>
          <a:solidFill>
            <a:srgbClr val="E5F3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62000" y="5905500"/>
            <a:ext cx="10693400" cy="326898"/>
          </a:xfrm>
          <a:prstGeom prst="rect">
            <a:avLst/>
          </a:prstGeom>
          <a:noFill/>
        </p:spPr>
        <p:txBody>
          <a:bodyPr wrap="none" lIns="0" rIns="0" tIns="0" bIns="0">
            <a:spAutoFit/>
          </a:bodyPr>
          <a:lstStyle/>
          <a:p>
            <a:pPr>
              <a:lnSpc>
                <a:spcPts val="2074"/>
              </a:lnSpc>
              <a:spcBef>
                <a:spcPts val="0"/>
              </a:spcBef>
              <a:spcAft>
                <a:spcPts val="0"/>
              </a:spcAft>
              <a:defRPr sz="1700" b="1">
                <a:solidFill>
                  <a:srgbClr val="152C46"/>
                </a:solidFill>
                <a:latin typeface="DejaVu Sans"/>
              </a:defRPr>
            </a:pPr>
            <a:r>
              <a:t>Normalize state–action mass to recover the executable randomized policy.</a:t>
            </a:r>
          </a:p>
        </p:txBody>
      </p:sp>
      <p:sp>
        <p:nvSpPr>
          <p:cNvPr id="8" name="TextBox 7"/>
          <p:cNvSpPr txBox="1"/>
          <p:nvPr/>
        </p:nvSpPr>
        <p:spPr>
          <a:xfrm>
            <a:off x="622300" y="1676400"/>
            <a:ext cx="10998200" cy="373380"/>
          </a:xfrm>
          <a:prstGeom prst="rect">
            <a:avLst/>
          </a:prstGeom>
          <a:noFill/>
        </p:spPr>
        <p:txBody>
          <a:bodyPr wrap="none" lIns="0" rIns="0" tIns="0" bIns="0">
            <a:spAutoFit/>
          </a:bodyPr>
          <a:lstStyle/>
          <a:p>
            <a:pPr>
              <a:lnSpc>
                <a:spcPts val="2440"/>
              </a:lnSpc>
              <a:spcBef>
                <a:spcPts val="0"/>
              </a:spcBef>
              <a:spcAft>
                <a:spcPts val="0"/>
              </a:spcAft>
              <a:defRPr sz="2000" b="1">
                <a:solidFill>
                  <a:srgbClr val="087F8C"/>
                </a:solidFill>
                <a:latin typeface="DejaVu Sans"/>
              </a:defRPr>
            </a:pPr>
            <a:r>
              <a:t>x(S,a) = probability of reaching state S and choosing action a</a:t>
            </a:r>
          </a:p>
        </p:txBody>
      </p:sp>
      <p:pic>
        <p:nvPicPr>
          <p:cNvPr id="9" name="Picture 8" descr="eq_c4bcac962dd8c4e.png"/>
          <p:cNvPicPr>
            <a:picLocks noChangeAspect="1"/>
          </p:cNvPicPr>
          <p:nvPr/>
        </p:nvPicPr>
        <p:blipFill>
          <a:blip r:embed="rId2"/>
          <a:stretch>
            <a:fillRect/>
          </a:stretch>
        </p:blipFill>
        <p:spPr>
          <a:xfrm>
            <a:off x="4808550" y="2273300"/>
            <a:ext cx="2536800" cy="533400"/>
          </a:xfrm>
          <a:prstGeom prst="rect">
            <a:avLst/>
          </a:prstGeom>
        </p:spPr>
      </p:pic>
      <p:pic>
        <p:nvPicPr>
          <p:cNvPr id="10" name="Picture 9" descr="eq_1bc1b2f216f5a11.png"/>
          <p:cNvPicPr>
            <a:picLocks noChangeAspect="1"/>
          </p:cNvPicPr>
          <p:nvPr/>
        </p:nvPicPr>
        <p:blipFill>
          <a:blip r:embed="rId3"/>
          <a:stretch>
            <a:fillRect/>
          </a:stretch>
        </p:blipFill>
        <p:spPr>
          <a:xfrm>
            <a:off x="3742534" y="3060700"/>
            <a:ext cx="4668831" cy="584200"/>
          </a:xfrm>
          <a:prstGeom prst="rect">
            <a:avLst/>
          </a:prstGeom>
        </p:spPr>
      </p:pic>
      <p:pic>
        <p:nvPicPr>
          <p:cNvPr id="11" name="Picture 10" descr="eq_100b7f1130eebce.png"/>
          <p:cNvPicPr>
            <a:picLocks noChangeAspect="1"/>
          </p:cNvPicPr>
          <p:nvPr/>
        </p:nvPicPr>
        <p:blipFill>
          <a:blip r:embed="rId4"/>
          <a:stretch>
            <a:fillRect/>
          </a:stretch>
        </p:blipFill>
        <p:spPr>
          <a:xfrm>
            <a:off x="4441811" y="3873500"/>
            <a:ext cx="3270277" cy="495300"/>
          </a:xfrm>
          <a:prstGeom prst="rect">
            <a:avLst/>
          </a:prstGeom>
        </p:spPr>
      </p:pic>
      <p:pic>
        <p:nvPicPr>
          <p:cNvPr id="12" name="Picture 11" descr="eq_cde84a1ff3ee1af.png"/>
          <p:cNvPicPr>
            <a:picLocks noChangeAspect="1"/>
          </p:cNvPicPr>
          <p:nvPr/>
        </p:nvPicPr>
        <p:blipFill>
          <a:blip r:embed="rId5"/>
          <a:stretch>
            <a:fillRect/>
          </a:stretch>
        </p:blipFill>
        <p:spPr>
          <a:xfrm>
            <a:off x="3572998" y="4597400"/>
            <a:ext cx="5007903" cy="546100"/>
          </a:xfrm>
          <a:prstGeom prst="rect">
            <a:avLst/>
          </a:prstGeom>
        </p:spPr>
      </p:pic>
      <p:pic>
        <p:nvPicPr>
          <p:cNvPr id="13" name="Picture 12" descr="eq_eb3f091d833a056.png"/>
          <p:cNvPicPr>
            <a:picLocks noChangeAspect="1"/>
          </p:cNvPicPr>
          <p:nvPr/>
        </p:nvPicPr>
        <p:blipFill>
          <a:blip r:embed="rId6"/>
          <a:stretch>
            <a:fillRect/>
          </a:stretch>
        </p:blipFill>
        <p:spPr>
          <a:xfrm>
            <a:off x="4863468" y="5245100"/>
            <a:ext cx="2452363" cy="342900"/>
          </a:xfrm>
          <a:prstGeom prst="rect">
            <a:avLst/>
          </a:prstGeom>
        </p:spPr>
      </p:pic>
      <p:sp>
        <p:nvSpPr>
          <p:cNvPr id="14" name="TextBox 13"/>
          <p:cNvSpPr txBox="1"/>
          <p:nvPr/>
        </p:nvSpPr>
        <p:spPr>
          <a:xfrm>
            <a:off x="558800" y="6553200"/>
            <a:ext cx="10604500" cy="215900"/>
          </a:xfrm>
          <a:prstGeom prst="rect">
            <a:avLst/>
          </a:prstGeom>
          <a:noFill/>
        </p:spPr>
        <p:txBody>
          <a:bodyPr wrap="none" lIns="0" tIns="0">
            <a:spAutoFit/>
          </a:bodyPr>
          <a:lstStyle/>
          <a:p>
            <a:pPr>
              <a:defRPr sz="900">
                <a:solidFill>
                  <a:srgbClr val="617487"/>
                </a:solidFill>
                <a:latin typeface="DejaVu Sans"/>
              </a:defRPr>
            </a:pPr>
            <a:r>
              <a:t>Appendix D.E · eq:joint_occupancy_objective through eq:joint_policy_extraction</a:t>
            </a:r>
          </a:p>
        </p:txBody>
      </p:sp>
      <p:sp>
        <p:nvSpPr>
          <p:cNvPr id="15" name="TextBox 14"/>
          <p:cNvSpPr txBox="1"/>
          <p:nvPr/>
        </p:nvSpPr>
        <p:spPr>
          <a:xfrm>
            <a:off x="11239500" y="6553200"/>
            <a:ext cx="825500" cy="215900"/>
          </a:xfrm>
          <a:prstGeom prst="rect">
            <a:avLst/>
          </a:prstGeom>
          <a:noFill/>
        </p:spPr>
        <p:txBody>
          <a:bodyPr wrap="none" lIns="0" tIns="0">
            <a:spAutoFit/>
          </a:bodyPr>
          <a:lstStyle/>
          <a:p>
            <a:pPr>
              <a:defRPr sz="900">
                <a:solidFill>
                  <a:srgbClr val="617487"/>
                </a:solidFill>
                <a:latin typeface="DejaVu Sans"/>
              </a:defRPr>
            </a:pPr>
            <a:r>
              <a:t>16 / 30</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58800" y="304800"/>
            <a:ext cx="10795000" cy="264922"/>
          </a:xfrm>
          <a:prstGeom prst="rect">
            <a:avLst/>
          </a:prstGeom>
          <a:noFill/>
        </p:spPr>
        <p:txBody>
          <a:bodyPr wrap="none" lIns="0" rIns="0" tIns="0" bIns="0">
            <a:spAutoFit/>
          </a:bodyPr>
          <a:lstStyle/>
          <a:p>
            <a:pPr>
              <a:lnSpc>
                <a:spcPts val="1586"/>
              </a:lnSpc>
              <a:spcBef>
                <a:spcPts val="0"/>
              </a:spcBef>
              <a:spcAft>
                <a:spcPts val="0"/>
              </a:spcAft>
              <a:defRPr sz="1300" b="1">
                <a:solidFill>
                  <a:srgbClr val="087F8C"/>
                </a:solidFill>
                <a:latin typeface="DejaVu Sans"/>
              </a:defRPr>
            </a:pPr>
            <a:r>
              <a:t>E · POLICY EXECUTION</a:t>
            </a:r>
          </a:p>
        </p:txBody>
      </p:sp>
      <p:sp>
        <p:nvSpPr>
          <p:cNvPr id="4" name="TextBox 3"/>
          <p:cNvSpPr txBox="1"/>
          <p:nvPr/>
        </p:nvSpPr>
        <p:spPr>
          <a:xfrm>
            <a:off x="558800" y="673100"/>
            <a:ext cx="11150600" cy="438740"/>
          </a:xfrm>
          <a:prstGeom prst="rect">
            <a:avLst/>
          </a:prstGeom>
          <a:noFill/>
        </p:spPr>
        <p:txBody>
          <a:bodyPr wrap="none" lIns="0" rIns="0" tIns="0" bIns="0">
            <a:spAutoFit/>
          </a:bodyPr>
          <a:lstStyle/>
          <a:p>
            <a:pPr>
              <a:lnSpc>
                <a:spcPts val="2954"/>
              </a:lnSpc>
              <a:spcBef>
                <a:spcPts val="0"/>
              </a:spcBef>
              <a:spcAft>
                <a:spcPts val="0"/>
              </a:spcAft>
              <a:defRPr sz="2421" b="1">
                <a:solidFill>
                  <a:srgbClr val="152C46"/>
                </a:solidFill>
                <a:latin typeface="DejaVu Sans"/>
              </a:defRPr>
            </a:pPr>
            <a:r>
              <a:t>Randomization is sometimes required, not merely convenient</a:t>
            </a:r>
          </a:p>
        </p:txBody>
      </p:sp>
      <p:sp>
        <p:nvSpPr>
          <p:cNvPr id="5" name="Rectangle 4"/>
          <p:cNvSpPr/>
          <p:nvPr/>
        </p:nvSpPr>
        <p:spPr>
          <a:xfrm>
            <a:off x="558800" y="1320800"/>
            <a:ext cx="698500" cy="50800"/>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58800" y="5765800"/>
            <a:ext cx="11074400" cy="584200"/>
          </a:xfrm>
          <a:prstGeom prst="roundRect">
            <a:avLst>
              <a:gd name="adj" fmla="val 8000"/>
            </a:avLst>
          </a:prstGeom>
          <a:solidFill>
            <a:srgbClr val="E5F3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62000" y="5905500"/>
            <a:ext cx="10693400" cy="326898"/>
          </a:xfrm>
          <a:prstGeom prst="rect">
            <a:avLst/>
          </a:prstGeom>
          <a:noFill/>
        </p:spPr>
        <p:txBody>
          <a:bodyPr wrap="none" lIns="0" rIns="0" tIns="0" bIns="0">
            <a:spAutoFit/>
          </a:bodyPr>
          <a:lstStyle/>
          <a:p>
            <a:pPr>
              <a:lnSpc>
                <a:spcPts val="2074"/>
              </a:lnSpc>
              <a:spcBef>
                <a:spcPts val="0"/>
              </a:spcBef>
              <a:spcAft>
                <a:spcPts val="0"/>
              </a:spcAft>
              <a:defRPr sz="1700" b="1">
                <a:solidFill>
                  <a:srgbClr val="152C46"/>
                </a:solidFill>
                <a:latin typeface="DejaVu Sans"/>
              </a:defRPr>
            </a:pPr>
            <a:r>
              <a:t>Executing only the most likely action can destroy the probability constraints.</a:t>
            </a:r>
          </a:p>
        </p:txBody>
      </p:sp>
      <p:sp>
        <p:nvSpPr>
          <p:cNvPr id="8" name="Rounded Rectangle 7"/>
          <p:cNvSpPr/>
          <p:nvPr/>
        </p:nvSpPr>
        <p:spPr>
          <a:xfrm>
            <a:off x="558800" y="1752600"/>
            <a:ext cx="3327400" cy="1714500"/>
          </a:xfrm>
          <a:prstGeom prst="roundRect">
            <a:avLst>
              <a:gd name="adj" fmla="val 8000"/>
            </a:avLst>
          </a:prstGeom>
          <a:solidFill>
            <a:srgbClr val="FFF3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87400" y="1968500"/>
            <a:ext cx="2870200" cy="345144"/>
          </a:xfrm>
          <a:prstGeom prst="rect">
            <a:avLst/>
          </a:prstGeom>
          <a:noFill/>
        </p:spPr>
        <p:txBody>
          <a:bodyPr wrap="none" lIns="0" rIns="0" tIns="0" bIns="0">
            <a:spAutoFit/>
          </a:bodyPr>
          <a:lstStyle/>
          <a:p>
            <a:pPr>
              <a:lnSpc>
                <a:spcPts val="2217"/>
              </a:lnSpc>
              <a:spcBef>
                <a:spcPts val="0"/>
              </a:spcBef>
              <a:spcAft>
                <a:spcPts val="0"/>
              </a:spcAft>
              <a:defRPr sz="1817" b="1">
                <a:solidFill>
                  <a:srgbClr val="087F8C"/>
                </a:solidFill>
                <a:latin typeface="DejaVu Sans"/>
              </a:defRPr>
            </a:pPr>
            <a:r>
              <a:t>Policy A (illustration)</a:t>
            </a:r>
          </a:p>
        </p:txBody>
      </p:sp>
      <p:sp>
        <p:nvSpPr>
          <p:cNvPr id="10" name="TextBox 9"/>
          <p:cNvSpPr txBox="1"/>
          <p:nvPr/>
        </p:nvSpPr>
        <p:spPr>
          <a:xfrm>
            <a:off x="787400" y="2438400"/>
            <a:ext cx="2870200" cy="621284"/>
          </a:xfrm>
          <a:prstGeom prst="rect">
            <a:avLst/>
          </a:prstGeom>
          <a:noFill/>
        </p:spPr>
        <p:txBody>
          <a:bodyPr wrap="none" lIns="0" rIns="0" tIns="0" bIns="0">
            <a:spAutoFit/>
          </a:bodyPr>
          <a:lstStyle/>
          <a:p>
            <a:pPr>
              <a:lnSpc>
                <a:spcPts val="2196"/>
              </a:lnSpc>
              <a:spcBef>
                <a:spcPts val="0"/>
              </a:spcBef>
              <a:spcAft>
                <a:spcPts val="0"/>
              </a:spcAft>
              <a:defRPr sz="1800" b="0">
                <a:solidFill>
                  <a:srgbClr val="263A50"/>
                </a:solidFill>
                <a:latin typeface="DejaVu Sans"/>
              </a:defRPr>
            </a:pPr>
            <a:r>
              <a:t>NTN cost = 0.02</a:t>
            </a:r>
          </a:p>
          <a:p>
            <a:pPr>
              <a:lnSpc>
                <a:spcPts val="2196"/>
              </a:lnSpc>
              <a:spcBef>
                <a:spcPts val="0"/>
              </a:spcBef>
              <a:spcAft>
                <a:spcPts val="0"/>
              </a:spcAft>
              <a:defRPr sz="1800" b="0">
                <a:solidFill>
                  <a:srgbClr val="263A50"/>
                </a:solidFill>
                <a:latin typeface="DejaVu Sans"/>
              </a:defRPr>
            </a:pPr>
            <a:r>
              <a:t>TN failure = 0.20</a:t>
            </a:r>
          </a:p>
        </p:txBody>
      </p:sp>
      <p:sp>
        <p:nvSpPr>
          <p:cNvPr id="11" name="Rounded Rectangle 10"/>
          <p:cNvSpPr/>
          <p:nvPr/>
        </p:nvSpPr>
        <p:spPr>
          <a:xfrm>
            <a:off x="4483100" y="1752600"/>
            <a:ext cx="3327400" cy="1714500"/>
          </a:xfrm>
          <a:prstGeom prst="roundRect">
            <a:avLst>
              <a:gd name="adj" fmla="val 8000"/>
            </a:avLst>
          </a:prstGeom>
          <a:solidFill>
            <a:srgbClr val="EF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711700" y="1968500"/>
            <a:ext cx="2870200" cy="345421"/>
          </a:xfrm>
          <a:prstGeom prst="rect">
            <a:avLst/>
          </a:prstGeom>
          <a:noFill/>
        </p:spPr>
        <p:txBody>
          <a:bodyPr wrap="none" lIns="0" rIns="0" tIns="0" bIns="0">
            <a:spAutoFit/>
          </a:bodyPr>
          <a:lstStyle/>
          <a:p>
            <a:pPr>
              <a:lnSpc>
                <a:spcPts val="2219"/>
              </a:lnSpc>
              <a:spcBef>
                <a:spcPts val="0"/>
              </a:spcBef>
              <a:spcAft>
                <a:spcPts val="0"/>
              </a:spcAft>
              <a:defRPr sz="1819" b="1">
                <a:solidFill>
                  <a:srgbClr val="087F8C"/>
                </a:solidFill>
                <a:latin typeface="DejaVu Sans"/>
              </a:defRPr>
            </a:pPr>
            <a:r>
              <a:t>Policy B (illustration)</a:t>
            </a:r>
          </a:p>
        </p:txBody>
      </p:sp>
      <p:sp>
        <p:nvSpPr>
          <p:cNvPr id="13" name="TextBox 12"/>
          <p:cNvSpPr txBox="1"/>
          <p:nvPr/>
        </p:nvSpPr>
        <p:spPr>
          <a:xfrm>
            <a:off x="4711700" y="2438400"/>
            <a:ext cx="2870200" cy="621284"/>
          </a:xfrm>
          <a:prstGeom prst="rect">
            <a:avLst/>
          </a:prstGeom>
          <a:noFill/>
        </p:spPr>
        <p:txBody>
          <a:bodyPr wrap="none" lIns="0" rIns="0" tIns="0" bIns="0">
            <a:spAutoFit/>
          </a:bodyPr>
          <a:lstStyle/>
          <a:p>
            <a:pPr>
              <a:lnSpc>
                <a:spcPts val="2196"/>
              </a:lnSpc>
              <a:spcBef>
                <a:spcPts val="0"/>
              </a:spcBef>
              <a:spcAft>
                <a:spcPts val="0"/>
              </a:spcAft>
              <a:defRPr sz="1800" b="0">
                <a:solidFill>
                  <a:srgbClr val="263A50"/>
                </a:solidFill>
                <a:latin typeface="DejaVu Sans"/>
              </a:defRPr>
            </a:pPr>
            <a:r>
              <a:t>NTN cost = 0.08</a:t>
            </a:r>
          </a:p>
          <a:p>
            <a:pPr>
              <a:lnSpc>
                <a:spcPts val="2196"/>
              </a:lnSpc>
              <a:spcBef>
                <a:spcPts val="0"/>
              </a:spcBef>
              <a:spcAft>
                <a:spcPts val="0"/>
              </a:spcAft>
              <a:defRPr sz="1800" b="0">
                <a:solidFill>
                  <a:srgbClr val="263A50"/>
                </a:solidFill>
                <a:latin typeface="DejaVu Sans"/>
              </a:defRPr>
            </a:pPr>
            <a:r>
              <a:t>TN failure = 0.02</a:t>
            </a:r>
          </a:p>
        </p:txBody>
      </p:sp>
      <p:sp>
        <p:nvSpPr>
          <p:cNvPr id="14" name="Rounded Rectangle 13"/>
          <p:cNvSpPr/>
          <p:nvPr/>
        </p:nvSpPr>
        <p:spPr>
          <a:xfrm>
            <a:off x="8420100" y="1752600"/>
            <a:ext cx="3213100" cy="1714500"/>
          </a:xfrm>
          <a:prstGeom prst="roundRect">
            <a:avLst>
              <a:gd name="adj" fmla="val 8000"/>
            </a:avLst>
          </a:prstGeom>
          <a:solidFill>
            <a:srgbClr val="E5F3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648700" y="1968500"/>
            <a:ext cx="2755900" cy="388874"/>
          </a:xfrm>
          <a:prstGeom prst="rect">
            <a:avLst/>
          </a:prstGeom>
          <a:noFill/>
        </p:spPr>
        <p:txBody>
          <a:bodyPr wrap="none" lIns="0" rIns="0" tIns="0" bIns="0">
            <a:spAutoFit/>
          </a:bodyPr>
          <a:lstStyle/>
          <a:p>
            <a:pPr>
              <a:lnSpc>
                <a:spcPts val="2562"/>
              </a:lnSpc>
              <a:spcBef>
                <a:spcPts val="0"/>
              </a:spcBef>
              <a:spcAft>
                <a:spcPts val="0"/>
              </a:spcAft>
              <a:defRPr sz="2100" b="1">
                <a:solidFill>
                  <a:srgbClr val="087F8C"/>
                </a:solidFill>
                <a:latin typeface="DejaVu Sans"/>
              </a:defRPr>
            </a:pPr>
            <a:r>
              <a:t>50 / 50 mixture</a:t>
            </a:r>
          </a:p>
        </p:txBody>
      </p:sp>
      <p:sp>
        <p:nvSpPr>
          <p:cNvPr id="16" name="TextBox 15"/>
          <p:cNvSpPr txBox="1"/>
          <p:nvPr/>
        </p:nvSpPr>
        <p:spPr>
          <a:xfrm>
            <a:off x="8648700" y="2438400"/>
            <a:ext cx="2755900" cy="621284"/>
          </a:xfrm>
          <a:prstGeom prst="rect">
            <a:avLst/>
          </a:prstGeom>
          <a:noFill/>
        </p:spPr>
        <p:txBody>
          <a:bodyPr wrap="none" lIns="0" rIns="0" tIns="0" bIns="0">
            <a:spAutoFit/>
          </a:bodyPr>
          <a:lstStyle/>
          <a:p>
            <a:pPr>
              <a:lnSpc>
                <a:spcPts val="2196"/>
              </a:lnSpc>
              <a:spcBef>
                <a:spcPts val="0"/>
              </a:spcBef>
              <a:spcAft>
                <a:spcPts val="0"/>
              </a:spcAft>
              <a:defRPr sz="1800" b="0">
                <a:solidFill>
                  <a:srgbClr val="263A50"/>
                </a:solidFill>
                <a:latin typeface="DejaVu Sans"/>
              </a:defRPr>
            </a:pPr>
            <a:r>
              <a:t>NTN cost = 0.05</a:t>
            </a:r>
          </a:p>
          <a:p>
            <a:pPr>
              <a:lnSpc>
                <a:spcPts val="2196"/>
              </a:lnSpc>
              <a:spcBef>
                <a:spcPts val="0"/>
              </a:spcBef>
              <a:spcAft>
                <a:spcPts val="0"/>
              </a:spcAft>
              <a:defRPr sz="1800" b="0">
                <a:solidFill>
                  <a:srgbClr val="263A50"/>
                </a:solidFill>
                <a:latin typeface="DejaVu Sans"/>
              </a:defRPr>
            </a:pPr>
            <a:r>
              <a:t>TN failure = 0.11</a:t>
            </a:r>
          </a:p>
        </p:txBody>
      </p:sp>
      <p:sp>
        <p:nvSpPr>
          <p:cNvPr id="17" name="TextBox 16"/>
          <p:cNvSpPr txBox="1"/>
          <p:nvPr/>
        </p:nvSpPr>
        <p:spPr>
          <a:xfrm>
            <a:off x="673100" y="3860800"/>
            <a:ext cx="10795000" cy="714248"/>
          </a:xfrm>
          <a:prstGeom prst="rect">
            <a:avLst/>
          </a:prstGeom>
          <a:noFill/>
        </p:spPr>
        <p:txBody>
          <a:bodyPr wrap="none" lIns="0" rIns="0" tIns="0" bIns="0">
            <a:spAutoFit/>
          </a:bodyPr>
          <a:lstStyle/>
          <a:p>
            <a:pPr>
              <a:lnSpc>
                <a:spcPts val="2562"/>
              </a:lnSpc>
              <a:spcBef>
                <a:spcPts val="0"/>
              </a:spcBef>
              <a:spcAft>
                <a:spcPts val="0"/>
              </a:spcAft>
              <a:defRPr sz="2100" b="0">
                <a:solidFill>
                  <a:srgbClr val="263A50"/>
                </a:solidFill>
                <a:latin typeface="DejaVu Sans"/>
              </a:defRPr>
            </a:pPr>
            <a:r>
              <a:t>Example limits: NTN cost ≤ 0.05 and TN failure ≤ 0.11.</a:t>
            </a:r>
          </a:p>
          <a:p>
            <a:pPr>
              <a:lnSpc>
                <a:spcPts val="2562"/>
              </a:lnSpc>
              <a:spcBef>
                <a:spcPts val="0"/>
              </a:spcBef>
              <a:spcAft>
                <a:spcPts val="0"/>
              </a:spcAft>
              <a:defRPr sz="2100" b="0">
                <a:solidFill>
                  <a:srgbClr val="263A50"/>
                </a:solidFill>
                <a:latin typeface="DejaVu Sans"/>
              </a:defRPr>
            </a:pPr>
            <a:r>
              <a:t>A fails TN, B fails NTN; the mixture satisfies both.</a:t>
            </a:r>
          </a:p>
        </p:txBody>
      </p:sp>
      <p:sp>
        <p:nvSpPr>
          <p:cNvPr id="18" name="Rounded Rectangle 17"/>
          <p:cNvSpPr/>
          <p:nvPr/>
        </p:nvSpPr>
        <p:spPr>
          <a:xfrm>
            <a:off x="558800" y="4851400"/>
            <a:ext cx="11074400" cy="609600"/>
          </a:xfrm>
          <a:prstGeom prst="roundRect">
            <a:avLst>
              <a:gd name="adj" fmla="val 8000"/>
            </a:avLst>
          </a:prstGeom>
          <a:solidFill>
            <a:srgbClr val="EF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36600" y="5016500"/>
            <a:ext cx="10718800" cy="528320"/>
          </a:xfrm>
          <a:prstGeom prst="rect">
            <a:avLst/>
          </a:prstGeom>
          <a:noFill/>
        </p:spPr>
        <p:txBody>
          <a:bodyPr wrap="none" lIns="0" rIns="0" tIns="0" bIns="0">
            <a:spAutoFit/>
          </a:bodyPr>
          <a:lstStyle/>
          <a:p>
            <a:pPr>
              <a:lnSpc>
                <a:spcPts val="1830"/>
              </a:lnSpc>
              <a:spcBef>
                <a:spcPts val="0"/>
              </a:spcBef>
              <a:spcAft>
                <a:spcPts val="0"/>
              </a:spcAft>
              <a:defRPr sz="1500" b="1">
                <a:solidFill>
                  <a:srgbClr val="152C46"/>
                </a:solidFill>
                <a:latin typeface="DejaVu Sans"/>
              </a:defRPr>
            </a:pPr>
            <a:r>
              <a:t>Actual E6 check: 128 deterministic policies; none feasible in the randomization case; mixed</a:t>
            </a:r>
          </a:p>
          <a:p>
            <a:pPr>
              <a:lnSpc>
                <a:spcPts val="1830"/>
              </a:lnSpc>
              <a:spcBef>
                <a:spcPts val="0"/>
              </a:spcBef>
              <a:spcAft>
                <a:spcPts val="0"/>
              </a:spcAft>
              <a:defRPr sz="1500" b="1">
                <a:solidFill>
                  <a:srgbClr val="152C46"/>
                </a:solidFill>
                <a:latin typeface="DejaVu Sans"/>
              </a:defRPr>
            </a:pPr>
            <a:r>
              <a:t>optimum = 1.125.</a:t>
            </a:r>
          </a:p>
        </p:txBody>
      </p:sp>
      <p:sp>
        <p:nvSpPr>
          <p:cNvPr id="20" name="TextBox 19"/>
          <p:cNvSpPr txBox="1"/>
          <p:nvPr/>
        </p:nvSpPr>
        <p:spPr>
          <a:xfrm>
            <a:off x="558800" y="6553200"/>
            <a:ext cx="10604500" cy="215900"/>
          </a:xfrm>
          <a:prstGeom prst="rect">
            <a:avLst/>
          </a:prstGeom>
          <a:noFill/>
        </p:spPr>
        <p:txBody>
          <a:bodyPr wrap="none" lIns="0" tIns="0">
            <a:spAutoFit/>
          </a:bodyPr>
          <a:lstStyle/>
          <a:p>
            <a:pPr>
              <a:defRPr sz="900">
                <a:solidFill>
                  <a:srgbClr val="617487"/>
                </a:solidFill>
                <a:latin typeface="DejaVu Sans"/>
              </a:defRPr>
            </a:pPr>
            <a:r>
              <a:t>Appendix D.E + E6/E6_validation.csv · illustrative mixture below</a:t>
            </a:r>
          </a:p>
        </p:txBody>
      </p:sp>
      <p:sp>
        <p:nvSpPr>
          <p:cNvPr id="21" name="TextBox 20"/>
          <p:cNvSpPr txBox="1"/>
          <p:nvPr/>
        </p:nvSpPr>
        <p:spPr>
          <a:xfrm>
            <a:off x="11239500" y="6553200"/>
            <a:ext cx="825500" cy="215900"/>
          </a:xfrm>
          <a:prstGeom prst="rect">
            <a:avLst/>
          </a:prstGeom>
          <a:noFill/>
        </p:spPr>
        <p:txBody>
          <a:bodyPr wrap="none" lIns="0" tIns="0">
            <a:spAutoFit/>
          </a:bodyPr>
          <a:lstStyle/>
          <a:p>
            <a:pPr>
              <a:defRPr sz="900">
                <a:solidFill>
                  <a:srgbClr val="617487"/>
                </a:solidFill>
                <a:latin typeface="DejaVu Sans"/>
              </a:defRPr>
            </a:pPr>
            <a:r>
              <a:t>17 / 30</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58800" y="304800"/>
            <a:ext cx="10795000" cy="264922"/>
          </a:xfrm>
          <a:prstGeom prst="rect">
            <a:avLst/>
          </a:prstGeom>
          <a:noFill/>
        </p:spPr>
        <p:txBody>
          <a:bodyPr wrap="none" lIns="0" rIns="0" tIns="0" bIns="0">
            <a:spAutoFit/>
          </a:bodyPr>
          <a:lstStyle/>
          <a:p>
            <a:pPr>
              <a:lnSpc>
                <a:spcPts val="1586"/>
              </a:lnSpc>
              <a:spcBef>
                <a:spcPts val="0"/>
              </a:spcBef>
              <a:spcAft>
                <a:spcPts val="0"/>
              </a:spcAft>
              <a:defRPr sz="1300" b="1">
                <a:solidFill>
                  <a:srgbClr val="087F8C"/>
                </a:solidFill>
                <a:latin typeface="DejaVu Sans"/>
              </a:defRPr>
            </a:pPr>
            <a:r>
              <a:t>THEOREM &amp; SCOPE</a:t>
            </a:r>
          </a:p>
        </p:txBody>
      </p:sp>
      <p:sp>
        <p:nvSpPr>
          <p:cNvPr id="4" name="TextBox 3"/>
          <p:cNvSpPr txBox="1"/>
          <p:nvPr/>
        </p:nvSpPr>
        <p:spPr>
          <a:xfrm>
            <a:off x="558800" y="673100"/>
            <a:ext cx="11150600" cy="528320"/>
          </a:xfrm>
          <a:prstGeom prst="rect">
            <a:avLst/>
          </a:prstGeom>
          <a:noFill/>
        </p:spPr>
        <p:txBody>
          <a:bodyPr wrap="none" lIns="0" rIns="0" tIns="0" bIns="0">
            <a:spAutoFit/>
          </a:bodyPr>
          <a:lstStyle/>
          <a:p>
            <a:pPr>
              <a:lnSpc>
                <a:spcPts val="3660"/>
              </a:lnSpc>
              <a:spcBef>
                <a:spcPts val="0"/>
              </a:spcBef>
              <a:spcAft>
                <a:spcPts val="0"/>
              </a:spcAft>
              <a:defRPr sz="3000" b="1">
                <a:solidFill>
                  <a:srgbClr val="152C46"/>
                </a:solidFill>
                <a:latin typeface="DejaVu Sans"/>
              </a:defRPr>
            </a:pPr>
            <a:r>
              <a:t>There are three distinct levels of guarantee</a:t>
            </a:r>
          </a:p>
        </p:txBody>
      </p:sp>
      <p:sp>
        <p:nvSpPr>
          <p:cNvPr id="5" name="Rectangle 4"/>
          <p:cNvSpPr/>
          <p:nvPr/>
        </p:nvSpPr>
        <p:spPr>
          <a:xfrm>
            <a:off x="558800" y="1320800"/>
            <a:ext cx="698500" cy="50800"/>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58800" y="1739900"/>
            <a:ext cx="11074400" cy="1079500"/>
          </a:xfrm>
          <a:prstGeom prst="roundRect">
            <a:avLst>
              <a:gd name="adj" fmla="val 8000"/>
            </a:avLst>
          </a:prstGeom>
          <a:solidFill>
            <a:srgbClr val="E5F3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87400" y="1955800"/>
            <a:ext cx="10617200" cy="388874"/>
          </a:xfrm>
          <a:prstGeom prst="rect">
            <a:avLst/>
          </a:prstGeom>
          <a:noFill/>
        </p:spPr>
        <p:txBody>
          <a:bodyPr wrap="none" lIns="0" rIns="0" tIns="0" bIns="0">
            <a:spAutoFit/>
          </a:bodyPr>
          <a:lstStyle/>
          <a:p>
            <a:pPr>
              <a:lnSpc>
                <a:spcPts val="2562"/>
              </a:lnSpc>
              <a:spcBef>
                <a:spcPts val="0"/>
              </a:spcBef>
              <a:spcAft>
                <a:spcPts val="0"/>
              </a:spcAft>
              <a:defRPr sz="2100" b="1">
                <a:solidFill>
                  <a:srgbClr val="087F8C"/>
                </a:solidFill>
                <a:latin typeface="DejaVu Sans"/>
              </a:defRPr>
            </a:pPr>
            <a:r>
              <a:t>1 Set-wise protection</a:t>
            </a:r>
          </a:p>
        </p:txBody>
      </p:sp>
      <p:sp>
        <p:nvSpPr>
          <p:cNvPr id="8" name="TextBox 7"/>
          <p:cNvSpPr txBox="1"/>
          <p:nvPr/>
        </p:nvSpPr>
        <p:spPr>
          <a:xfrm>
            <a:off x="787400" y="2425700"/>
            <a:ext cx="10617200" cy="342392"/>
          </a:xfrm>
          <a:prstGeom prst="rect">
            <a:avLst/>
          </a:prstGeom>
          <a:noFill/>
        </p:spPr>
        <p:txBody>
          <a:bodyPr wrap="none" lIns="0" rIns="0" tIns="0" bIns="0">
            <a:spAutoFit/>
          </a:bodyPr>
          <a:lstStyle/>
          <a:p>
            <a:pPr>
              <a:lnSpc>
                <a:spcPts val="2196"/>
              </a:lnSpc>
              <a:spcBef>
                <a:spcPts val="0"/>
              </a:spcBef>
              <a:spcAft>
                <a:spcPts val="0"/>
              </a:spcAft>
              <a:defRPr sz="1800" b="0">
                <a:solidFill>
                  <a:srgbClr val="263A50"/>
                </a:solidFill>
                <a:latin typeface="DejaVu Sans"/>
              </a:defRPr>
            </a:pPr>
            <a:r>
              <a:t>Every channel inside an imposed set satisfies the INR limit.</a:t>
            </a:r>
          </a:p>
        </p:txBody>
      </p:sp>
      <p:sp>
        <p:nvSpPr>
          <p:cNvPr id="9" name="Rounded Rectangle 8"/>
          <p:cNvSpPr/>
          <p:nvPr/>
        </p:nvSpPr>
        <p:spPr>
          <a:xfrm>
            <a:off x="558800" y="3035300"/>
            <a:ext cx="11074400" cy="1079500"/>
          </a:xfrm>
          <a:prstGeom prst="roundRect">
            <a:avLst>
              <a:gd name="adj" fmla="val 8000"/>
            </a:avLst>
          </a:prstGeom>
          <a:solidFill>
            <a:srgbClr val="EF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87400" y="3251200"/>
            <a:ext cx="10617200" cy="388874"/>
          </a:xfrm>
          <a:prstGeom prst="rect">
            <a:avLst/>
          </a:prstGeom>
          <a:noFill/>
        </p:spPr>
        <p:txBody>
          <a:bodyPr wrap="none" lIns="0" rIns="0" tIns="0" bIns="0">
            <a:spAutoFit/>
          </a:bodyPr>
          <a:lstStyle/>
          <a:p>
            <a:pPr>
              <a:lnSpc>
                <a:spcPts val="2562"/>
              </a:lnSpc>
              <a:spcBef>
                <a:spcPts val="0"/>
              </a:spcBef>
              <a:spcAft>
                <a:spcPts val="0"/>
              </a:spcAft>
              <a:defRPr sz="2100" b="1">
                <a:solidFill>
                  <a:srgbClr val="087F8C"/>
                </a:solidFill>
                <a:latin typeface="DejaVu Sans"/>
              </a:defRPr>
            </a:pPr>
            <a:r>
              <a:t>2 Finite-model optimality</a:t>
            </a:r>
          </a:p>
        </p:txBody>
      </p:sp>
      <p:sp>
        <p:nvSpPr>
          <p:cNvPr id="11" name="TextBox 10"/>
          <p:cNvSpPr txBox="1"/>
          <p:nvPr/>
        </p:nvSpPr>
        <p:spPr>
          <a:xfrm>
            <a:off x="787400" y="3721100"/>
            <a:ext cx="10617200" cy="342392"/>
          </a:xfrm>
          <a:prstGeom prst="rect">
            <a:avLst/>
          </a:prstGeom>
          <a:noFill/>
        </p:spPr>
        <p:txBody>
          <a:bodyPr wrap="none" lIns="0" rIns="0" tIns="0" bIns="0">
            <a:spAutoFit/>
          </a:bodyPr>
          <a:lstStyle/>
          <a:p>
            <a:pPr>
              <a:lnSpc>
                <a:spcPts val="2196"/>
              </a:lnSpc>
              <a:spcBef>
                <a:spcPts val="0"/>
              </a:spcBef>
              <a:spcAft>
                <a:spcPts val="0"/>
              </a:spcAft>
              <a:defRPr sz="1800" b="0">
                <a:solidFill>
                  <a:srgbClr val="263A50"/>
                </a:solidFill>
                <a:latin typeface="DejaVu Sans"/>
              </a:defRPr>
            </a:pPr>
            <a:r>
              <a:t>Exact SOCP + complete finite history + exact transitions/costs → optimal certified policy.</a:t>
            </a:r>
          </a:p>
        </p:txBody>
      </p:sp>
      <p:sp>
        <p:nvSpPr>
          <p:cNvPr id="12" name="Rounded Rectangle 11"/>
          <p:cNvSpPr/>
          <p:nvPr/>
        </p:nvSpPr>
        <p:spPr>
          <a:xfrm>
            <a:off x="558800" y="4330700"/>
            <a:ext cx="11074400" cy="1181100"/>
          </a:xfrm>
          <a:prstGeom prst="roundRect">
            <a:avLst>
              <a:gd name="adj" fmla="val 8000"/>
            </a:avLst>
          </a:prstGeom>
          <a:solidFill>
            <a:srgbClr val="FFF3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87400" y="4546600"/>
            <a:ext cx="10617200" cy="388874"/>
          </a:xfrm>
          <a:prstGeom prst="rect">
            <a:avLst/>
          </a:prstGeom>
          <a:noFill/>
        </p:spPr>
        <p:txBody>
          <a:bodyPr wrap="none" lIns="0" rIns="0" tIns="0" bIns="0">
            <a:spAutoFit/>
          </a:bodyPr>
          <a:lstStyle/>
          <a:p>
            <a:pPr>
              <a:lnSpc>
                <a:spcPts val="2562"/>
              </a:lnSpc>
              <a:spcBef>
                <a:spcPts val="0"/>
              </a:spcBef>
              <a:spcAft>
                <a:spcPts val="0"/>
              </a:spcAft>
              <a:defRPr sz="2100" b="1">
                <a:solidFill>
                  <a:srgbClr val="087F8C"/>
                </a:solidFill>
                <a:latin typeface="DejaVu Sans"/>
              </a:defRPr>
            </a:pPr>
            <a:r>
              <a:t>3 Physical-system protection</a:t>
            </a:r>
          </a:p>
        </p:txBody>
      </p:sp>
      <p:sp>
        <p:nvSpPr>
          <p:cNvPr id="14" name="TextBox 13"/>
          <p:cNvSpPr txBox="1"/>
          <p:nvPr/>
        </p:nvSpPr>
        <p:spPr>
          <a:xfrm>
            <a:off x="787400" y="5016500"/>
            <a:ext cx="10617200" cy="342392"/>
          </a:xfrm>
          <a:prstGeom prst="rect">
            <a:avLst/>
          </a:prstGeom>
          <a:noFill/>
        </p:spPr>
        <p:txBody>
          <a:bodyPr wrap="none" lIns="0" rIns="0" tIns="0" bIns="0">
            <a:spAutoFit/>
          </a:bodyPr>
          <a:lstStyle/>
          <a:p>
            <a:pPr>
              <a:lnSpc>
                <a:spcPts val="2196"/>
              </a:lnSpc>
              <a:spcBef>
                <a:spcPts val="0"/>
              </a:spcBef>
              <a:spcAft>
                <a:spcPts val="0"/>
              </a:spcAft>
              <a:defRPr sz="1800" b="0">
                <a:solidFill>
                  <a:srgbClr val="263A50"/>
                </a:solidFill>
                <a:latin typeface="DejaVu Sans"/>
              </a:defRPr>
            </a:pPr>
            <a:r>
              <a:t>Also requires valid physical state laws, active-time expectations and conditional certificates.</a:t>
            </a:r>
          </a:p>
        </p:txBody>
      </p:sp>
      <p:sp>
        <p:nvSpPr>
          <p:cNvPr id="15" name="TextBox 14"/>
          <p:cNvSpPr txBox="1"/>
          <p:nvPr/>
        </p:nvSpPr>
        <p:spPr>
          <a:xfrm>
            <a:off x="558800" y="6553200"/>
            <a:ext cx="10604500" cy="215900"/>
          </a:xfrm>
          <a:prstGeom prst="rect">
            <a:avLst/>
          </a:prstGeom>
          <a:noFill/>
        </p:spPr>
        <p:txBody>
          <a:bodyPr wrap="none" lIns="0" tIns="0">
            <a:spAutoFit/>
          </a:bodyPr>
          <a:lstStyle/>
          <a:p>
            <a:pPr>
              <a:defRPr sz="900">
                <a:solidFill>
                  <a:srgbClr val="617487"/>
                </a:solidFill>
                <a:latin typeface="DejaVu Sans"/>
              </a:defRPr>
            </a:pPr>
            <a:r>
              <a:t>Appendix D.B/D/E · robust support, beam elimination, finite optimality theorem</a:t>
            </a:r>
          </a:p>
        </p:txBody>
      </p:sp>
      <p:sp>
        <p:nvSpPr>
          <p:cNvPr id="16" name="TextBox 15"/>
          <p:cNvSpPr txBox="1"/>
          <p:nvPr/>
        </p:nvSpPr>
        <p:spPr>
          <a:xfrm>
            <a:off x="11239500" y="6553200"/>
            <a:ext cx="825500" cy="215900"/>
          </a:xfrm>
          <a:prstGeom prst="rect">
            <a:avLst/>
          </a:prstGeom>
          <a:noFill/>
        </p:spPr>
        <p:txBody>
          <a:bodyPr wrap="none" lIns="0" tIns="0">
            <a:spAutoFit/>
          </a:bodyPr>
          <a:lstStyle/>
          <a:p>
            <a:pPr>
              <a:defRPr sz="900">
                <a:solidFill>
                  <a:srgbClr val="617487"/>
                </a:solidFill>
                <a:latin typeface="DejaVu Sans"/>
              </a:defRPr>
            </a:pPr>
            <a:r>
              <a:t>18 / 30</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58800" y="304800"/>
            <a:ext cx="10795000" cy="264922"/>
          </a:xfrm>
          <a:prstGeom prst="rect">
            <a:avLst/>
          </a:prstGeom>
          <a:noFill/>
        </p:spPr>
        <p:txBody>
          <a:bodyPr wrap="none" lIns="0" rIns="0" tIns="0" bIns="0">
            <a:spAutoFit/>
          </a:bodyPr>
          <a:lstStyle/>
          <a:p>
            <a:pPr>
              <a:lnSpc>
                <a:spcPts val="1586"/>
              </a:lnSpc>
              <a:spcBef>
                <a:spcPts val="0"/>
              </a:spcBef>
              <a:spcAft>
                <a:spcPts val="0"/>
              </a:spcAft>
              <a:defRPr sz="1300" b="1">
                <a:solidFill>
                  <a:srgbClr val="087F8C"/>
                </a:solidFill>
                <a:latin typeface="DejaVu Sans"/>
              </a:defRPr>
            </a:pPr>
            <a:r>
              <a:t>IMPLEMENTATION</a:t>
            </a:r>
          </a:p>
        </p:txBody>
      </p:sp>
      <p:sp>
        <p:nvSpPr>
          <p:cNvPr id="4" name="TextBox 3"/>
          <p:cNvSpPr txBox="1"/>
          <p:nvPr/>
        </p:nvSpPr>
        <p:spPr>
          <a:xfrm>
            <a:off x="558800" y="673100"/>
            <a:ext cx="11150600" cy="432024"/>
          </a:xfrm>
          <a:prstGeom prst="rect">
            <a:avLst/>
          </a:prstGeom>
          <a:noFill/>
        </p:spPr>
        <p:txBody>
          <a:bodyPr wrap="none" lIns="0" rIns="0" tIns="0" bIns="0">
            <a:spAutoFit/>
          </a:bodyPr>
          <a:lstStyle/>
          <a:p>
            <a:pPr>
              <a:lnSpc>
                <a:spcPts val="2901"/>
              </a:lnSpc>
              <a:spcBef>
                <a:spcPts val="0"/>
              </a:spcBef>
              <a:spcAft>
                <a:spcPts val="0"/>
              </a:spcAft>
              <a:defRPr sz="2378" b="1">
                <a:solidFill>
                  <a:srgbClr val="152C46"/>
                </a:solidFill>
                <a:latin typeface="DejaVu Sans"/>
              </a:defRPr>
            </a:pPr>
            <a:r>
              <a:t>Most optimization is offline; execution follows released events</a:t>
            </a:r>
          </a:p>
        </p:txBody>
      </p:sp>
      <p:sp>
        <p:nvSpPr>
          <p:cNvPr id="5" name="Rectangle 4"/>
          <p:cNvSpPr/>
          <p:nvPr/>
        </p:nvSpPr>
        <p:spPr>
          <a:xfrm>
            <a:off x="558800" y="1320800"/>
            <a:ext cx="698500" cy="50800"/>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58800" y="5765800"/>
            <a:ext cx="11074400" cy="584200"/>
          </a:xfrm>
          <a:prstGeom prst="roundRect">
            <a:avLst>
              <a:gd name="adj" fmla="val 8000"/>
            </a:avLst>
          </a:prstGeom>
          <a:solidFill>
            <a:srgbClr val="E5F3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62000" y="5905500"/>
            <a:ext cx="10693400" cy="590296"/>
          </a:xfrm>
          <a:prstGeom prst="rect">
            <a:avLst/>
          </a:prstGeom>
          <a:noFill/>
        </p:spPr>
        <p:txBody>
          <a:bodyPr wrap="none" lIns="0" rIns="0" tIns="0" bIns="0">
            <a:spAutoFit/>
          </a:bodyPr>
          <a:lstStyle/>
          <a:p>
            <a:pPr>
              <a:lnSpc>
                <a:spcPts val="2074"/>
              </a:lnSpc>
              <a:spcBef>
                <a:spcPts val="0"/>
              </a:spcBef>
              <a:spcAft>
                <a:spcPts val="0"/>
              </a:spcAft>
              <a:defRPr sz="1700" b="1">
                <a:solidFill>
                  <a:srgbClr val="152C46"/>
                </a:solidFill>
                <a:latin typeface="DejaVu Sans"/>
              </a:defRPr>
            </a:pPr>
            <a:r>
              <a:t>The complete history can be exponential even though the explicit LP is polynomial in</a:t>
            </a:r>
          </a:p>
          <a:p>
            <a:pPr>
              <a:lnSpc>
                <a:spcPts val="2074"/>
              </a:lnSpc>
              <a:spcBef>
                <a:spcPts val="0"/>
              </a:spcBef>
              <a:spcAft>
                <a:spcPts val="0"/>
              </a:spcAft>
              <a:defRPr sz="1700" b="1">
                <a:solidFill>
                  <a:srgbClr val="152C46"/>
                </a:solidFill>
                <a:latin typeface="DejaVu Sans"/>
              </a:defRPr>
            </a:pPr>
            <a:r>
              <a:t>size.</a:t>
            </a:r>
          </a:p>
        </p:txBody>
      </p:sp>
      <p:sp>
        <p:nvSpPr>
          <p:cNvPr id="8" name="Rounded Rectangle 7"/>
          <p:cNvSpPr/>
          <p:nvPr/>
        </p:nvSpPr>
        <p:spPr>
          <a:xfrm>
            <a:off x="558800" y="2006600"/>
            <a:ext cx="3479800" cy="2184400"/>
          </a:xfrm>
          <a:prstGeom prst="roundRect">
            <a:avLst>
              <a:gd name="adj" fmla="val 8000"/>
            </a:avLst>
          </a:prstGeom>
          <a:solidFill>
            <a:srgbClr val="EF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87400" y="2222500"/>
            <a:ext cx="3022600" cy="388874"/>
          </a:xfrm>
          <a:prstGeom prst="rect">
            <a:avLst/>
          </a:prstGeom>
          <a:noFill/>
        </p:spPr>
        <p:txBody>
          <a:bodyPr wrap="none" lIns="0" rIns="0" tIns="0" bIns="0">
            <a:spAutoFit/>
          </a:bodyPr>
          <a:lstStyle/>
          <a:p>
            <a:pPr>
              <a:lnSpc>
                <a:spcPts val="2562"/>
              </a:lnSpc>
              <a:spcBef>
                <a:spcPts val="0"/>
              </a:spcBef>
              <a:spcAft>
                <a:spcPts val="0"/>
              </a:spcAft>
              <a:defRPr sz="2100" b="1">
                <a:solidFill>
                  <a:srgbClr val="087F8C"/>
                </a:solidFill>
                <a:latin typeface="DejaVu Sans"/>
              </a:defRPr>
            </a:pPr>
            <a:r>
              <a:t>Freeze the model</a:t>
            </a:r>
          </a:p>
        </p:txBody>
      </p:sp>
      <p:sp>
        <p:nvSpPr>
          <p:cNvPr id="10" name="TextBox 9"/>
          <p:cNvSpPr txBox="1"/>
          <p:nvPr/>
        </p:nvSpPr>
        <p:spPr>
          <a:xfrm>
            <a:off x="787400" y="2692400"/>
            <a:ext cx="3022600" cy="621284"/>
          </a:xfrm>
          <a:prstGeom prst="rect">
            <a:avLst/>
          </a:prstGeom>
          <a:noFill/>
        </p:spPr>
        <p:txBody>
          <a:bodyPr wrap="none" lIns="0" rIns="0" tIns="0" bIns="0">
            <a:spAutoFit/>
          </a:bodyPr>
          <a:lstStyle/>
          <a:p>
            <a:pPr>
              <a:lnSpc>
                <a:spcPts val="2196"/>
              </a:lnSpc>
              <a:spcBef>
                <a:spcPts val="0"/>
              </a:spcBef>
              <a:spcAft>
                <a:spcPts val="0"/>
              </a:spcAft>
              <a:defRPr sz="1800" b="0">
                <a:solidFill>
                  <a:srgbClr val="263A50"/>
                </a:solidFill>
                <a:latin typeface="DejaVu Sans"/>
              </a:defRPr>
            </a:pPr>
            <a:r>
              <a:t>Calendar, demands,</a:t>
            </a:r>
          </a:p>
          <a:p>
            <a:pPr>
              <a:lnSpc>
                <a:spcPts val="2196"/>
              </a:lnSpc>
              <a:spcBef>
                <a:spcPts val="0"/>
              </a:spcBef>
              <a:spcAft>
                <a:spcPts val="0"/>
              </a:spcAft>
              <a:defRPr sz="1800" b="0">
                <a:solidFill>
                  <a:srgbClr val="263A50"/>
                </a:solidFill>
                <a:latin typeface="DejaVu Sans"/>
              </a:defRPr>
            </a:pPr>
            <a:r>
              <a:t>kernels and risk bounds</a:t>
            </a:r>
          </a:p>
        </p:txBody>
      </p:sp>
      <p:cxnSp>
        <p:nvCxnSpPr>
          <p:cNvPr id="11" name="Connector 10"/>
          <p:cNvCxnSpPr/>
          <p:nvPr/>
        </p:nvCxnSpPr>
        <p:spPr>
          <a:xfrm>
            <a:off x="4064000" y="3073400"/>
            <a:ext cx="241300" cy="0"/>
          </a:xfrm>
          <a:prstGeom prst="line">
            <a:avLst/>
          </a:prstGeom>
          <a:ln w="25400">
            <a:solidFill>
              <a:srgbClr val="087F8C"/>
            </a:solidFill>
          </a:ln>
        </p:spPr>
        <p:style>
          <a:lnRef idx="2">
            <a:schemeClr val="accent1"/>
          </a:lnRef>
          <a:fillRef idx="0">
            <a:schemeClr val="accent1"/>
          </a:fillRef>
          <a:effectRef idx="1">
            <a:schemeClr val="accent1"/>
          </a:effectRef>
          <a:fontRef idx="minor">
            <a:schemeClr val="tx1"/>
          </a:fontRef>
        </p:style>
      </p:cxnSp>
      <p:sp>
        <p:nvSpPr>
          <p:cNvPr id="12" name="Freeform 11"/>
          <p:cNvSpPr/>
          <p:nvPr/>
        </p:nvSpPr>
        <p:spPr>
          <a:xfrm>
            <a:off x="4216137" y="3024690"/>
            <a:ext cx="89163" cy="97419"/>
          </a:xfrm>
          <a:custGeom>
            <a:avLst/>
            <a:gdLst/>
            <a:ahLst/>
            <a:cxnLst/>
            <a:rect l="l" t="t" r="r" b="b"/>
            <a:pathLst>
              <a:path w="89163" h="97419">
                <a:moveTo>
                  <a:pt x="89163" y="48710"/>
                </a:moveTo>
                <a:lnTo>
                  <a:pt x="0" y="97419"/>
                </a:lnTo>
                <a:lnTo>
                  <a:pt x="0" y="0"/>
                </a:lnTo>
                <a:close/>
              </a:path>
            </a:pathLst>
          </a:cu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4356100" y="2006600"/>
            <a:ext cx="3479800" cy="2184400"/>
          </a:xfrm>
          <a:prstGeom prst="roundRect">
            <a:avLst>
              <a:gd name="adj" fmla="val 8000"/>
            </a:avLst>
          </a:prstGeom>
          <a:solidFill>
            <a:srgbClr val="EF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84700" y="2222500"/>
            <a:ext cx="3022600" cy="388874"/>
          </a:xfrm>
          <a:prstGeom prst="rect">
            <a:avLst/>
          </a:prstGeom>
          <a:noFill/>
        </p:spPr>
        <p:txBody>
          <a:bodyPr wrap="none" lIns="0" rIns="0" tIns="0" bIns="0">
            <a:spAutoFit/>
          </a:bodyPr>
          <a:lstStyle/>
          <a:p>
            <a:pPr>
              <a:lnSpc>
                <a:spcPts val="2562"/>
              </a:lnSpc>
              <a:spcBef>
                <a:spcPts val="0"/>
              </a:spcBef>
              <a:spcAft>
                <a:spcPts val="0"/>
              </a:spcAft>
              <a:defRPr sz="2100" b="1">
                <a:solidFill>
                  <a:srgbClr val="087F8C"/>
                </a:solidFill>
                <a:latin typeface="DejaVu Sans"/>
              </a:defRPr>
            </a:pPr>
            <a:r>
              <a:t>Build and solve</a:t>
            </a:r>
          </a:p>
        </p:txBody>
      </p:sp>
      <p:sp>
        <p:nvSpPr>
          <p:cNvPr id="15" name="TextBox 14"/>
          <p:cNvSpPr txBox="1"/>
          <p:nvPr/>
        </p:nvSpPr>
        <p:spPr>
          <a:xfrm>
            <a:off x="4584700" y="2692400"/>
            <a:ext cx="3022600" cy="621284"/>
          </a:xfrm>
          <a:prstGeom prst="rect">
            <a:avLst/>
          </a:prstGeom>
          <a:noFill/>
        </p:spPr>
        <p:txBody>
          <a:bodyPr wrap="none" lIns="0" rIns="0" tIns="0" bIns="0">
            <a:spAutoFit/>
          </a:bodyPr>
          <a:lstStyle/>
          <a:p>
            <a:pPr>
              <a:lnSpc>
                <a:spcPts val="2196"/>
              </a:lnSpc>
              <a:spcBef>
                <a:spcPts val="0"/>
              </a:spcBef>
              <a:spcAft>
                <a:spcPts val="0"/>
              </a:spcAft>
              <a:defRPr sz="1800" b="0">
                <a:solidFill>
                  <a:srgbClr val="263A50"/>
                </a:solidFill>
                <a:latin typeface="DejaVu Sans"/>
              </a:defRPr>
            </a:pPr>
            <a:r>
              <a:t>Reachable histories</a:t>
            </a:r>
          </a:p>
          <a:p>
            <a:pPr>
              <a:lnSpc>
                <a:spcPts val="2196"/>
              </a:lnSpc>
              <a:spcBef>
                <a:spcPts val="0"/>
              </a:spcBef>
              <a:spcAft>
                <a:spcPts val="0"/>
              </a:spcAft>
              <a:defRPr sz="1800" b="0">
                <a:solidFill>
                  <a:srgbClr val="263A50"/>
                </a:solidFill>
                <a:latin typeface="DejaVu Sans"/>
              </a:defRPr>
            </a:pPr>
            <a:r>
              <a:t>SOCP values → LP</a:t>
            </a:r>
          </a:p>
        </p:txBody>
      </p:sp>
      <p:cxnSp>
        <p:nvCxnSpPr>
          <p:cNvPr id="16" name="Connector 15"/>
          <p:cNvCxnSpPr/>
          <p:nvPr/>
        </p:nvCxnSpPr>
        <p:spPr>
          <a:xfrm>
            <a:off x="7861300" y="3073400"/>
            <a:ext cx="241300" cy="0"/>
          </a:xfrm>
          <a:prstGeom prst="line">
            <a:avLst/>
          </a:prstGeom>
          <a:ln w="25400">
            <a:solidFill>
              <a:srgbClr val="087F8C"/>
            </a:solidFill>
          </a:ln>
        </p:spPr>
        <p:style>
          <a:lnRef idx="2">
            <a:schemeClr val="accent1"/>
          </a:lnRef>
          <a:fillRef idx="0">
            <a:schemeClr val="accent1"/>
          </a:fillRef>
          <a:effectRef idx="1">
            <a:schemeClr val="accent1"/>
          </a:effectRef>
          <a:fontRef idx="minor">
            <a:schemeClr val="tx1"/>
          </a:fontRef>
        </p:style>
      </p:cxnSp>
      <p:sp>
        <p:nvSpPr>
          <p:cNvPr id="17" name="Freeform 16"/>
          <p:cNvSpPr/>
          <p:nvPr/>
        </p:nvSpPr>
        <p:spPr>
          <a:xfrm>
            <a:off x="8013437" y="3024690"/>
            <a:ext cx="89163" cy="97419"/>
          </a:xfrm>
          <a:custGeom>
            <a:avLst/>
            <a:gdLst/>
            <a:ahLst/>
            <a:cxnLst/>
            <a:rect l="l" t="t" r="r" b="b"/>
            <a:pathLst>
              <a:path w="89163" h="97419">
                <a:moveTo>
                  <a:pt x="89163" y="48710"/>
                </a:moveTo>
                <a:lnTo>
                  <a:pt x="0" y="97419"/>
                </a:lnTo>
                <a:lnTo>
                  <a:pt x="0" y="0"/>
                </a:lnTo>
                <a:close/>
              </a:path>
            </a:pathLst>
          </a:cu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8153400" y="2006600"/>
            <a:ext cx="3479800" cy="2184400"/>
          </a:xfrm>
          <a:prstGeom prst="roundRect">
            <a:avLst>
              <a:gd name="adj" fmla="val 8000"/>
            </a:avLst>
          </a:prstGeom>
          <a:solidFill>
            <a:srgbClr val="E5F3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382000" y="2222500"/>
            <a:ext cx="3022600" cy="388874"/>
          </a:xfrm>
          <a:prstGeom prst="rect">
            <a:avLst/>
          </a:prstGeom>
          <a:noFill/>
        </p:spPr>
        <p:txBody>
          <a:bodyPr wrap="none" lIns="0" rIns="0" tIns="0" bIns="0">
            <a:spAutoFit/>
          </a:bodyPr>
          <a:lstStyle/>
          <a:p>
            <a:pPr>
              <a:lnSpc>
                <a:spcPts val="2562"/>
              </a:lnSpc>
              <a:spcBef>
                <a:spcPts val="0"/>
              </a:spcBef>
              <a:spcAft>
                <a:spcPts val="0"/>
              </a:spcAft>
              <a:defRPr sz="2100" b="1">
                <a:solidFill>
                  <a:srgbClr val="087F8C"/>
                </a:solidFill>
                <a:latin typeface="DejaVu Sans"/>
              </a:defRPr>
            </a:pPr>
            <a:r>
              <a:t>Execute causally</a:t>
            </a:r>
          </a:p>
        </p:txBody>
      </p:sp>
      <p:sp>
        <p:nvSpPr>
          <p:cNvPr id="20" name="TextBox 19"/>
          <p:cNvSpPr txBox="1"/>
          <p:nvPr/>
        </p:nvSpPr>
        <p:spPr>
          <a:xfrm>
            <a:off x="8382000" y="2692400"/>
            <a:ext cx="3022600" cy="900176"/>
          </a:xfrm>
          <a:prstGeom prst="rect">
            <a:avLst/>
          </a:prstGeom>
          <a:noFill/>
        </p:spPr>
        <p:txBody>
          <a:bodyPr wrap="none" lIns="0" rIns="0" tIns="0" bIns="0">
            <a:spAutoFit/>
          </a:bodyPr>
          <a:lstStyle/>
          <a:p>
            <a:pPr>
              <a:lnSpc>
                <a:spcPts val="2196"/>
              </a:lnSpc>
              <a:spcBef>
                <a:spcPts val="0"/>
              </a:spcBef>
              <a:spcAft>
                <a:spcPts val="0"/>
              </a:spcAft>
              <a:defRPr sz="1800" b="0">
                <a:solidFill>
                  <a:srgbClr val="263A50"/>
                </a:solidFill>
                <a:latin typeface="DejaVu Sans"/>
              </a:defRPr>
            </a:pPr>
            <a:r>
              <a:t>Sample an action</a:t>
            </a:r>
          </a:p>
          <a:p>
            <a:pPr>
              <a:lnSpc>
                <a:spcPts val="2196"/>
              </a:lnSpc>
              <a:spcBef>
                <a:spcPts val="0"/>
              </a:spcBef>
              <a:spcAft>
                <a:spcPts val="0"/>
              </a:spcAft>
              <a:defRPr sz="1800" b="0">
                <a:solidFill>
                  <a:srgbClr val="263A50"/>
                </a:solidFill>
                <a:latin typeface="DejaVu Sans"/>
              </a:defRPr>
            </a:pPr>
            <a:r>
              <a:t>Reveal only released</a:t>
            </a:r>
          </a:p>
          <a:p>
            <a:pPr>
              <a:lnSpc>
                <a:spcPts val="2196"/>
              </a:lnSpc>
              <a:spcBef>
                <a:spcPts val="0"/>
              </a:spcBef>
              <a:spcAft>
                <a:spcPts val="0"/>
              </a:spcAft>
              <a:defRPr sz="1800" b="0">
                <a:solidFill>
                  <a:srgbClr val="263A50"/>
                </a:solidFill>
                <a:latin typeface="DejaVu Sans"/>
              </a:defRPr>
            </a:pPr>
            <a:r>
              <a:t>results</a:t>
            </a:r>
          </a:p>
        </p:txBody>
      </p:sp>
      <p:sp>
        <p:nvSpPr>
          <p:cNvPr id="21" name="TextBox 20"/>
          <p:cNvSpPr txBox="1"/>
          <p:nvPr/>
        </p:nvSpPr>
        <p:spPr>
          <a:xfrm>
            <a:off x="749300" y="4648200"/>
            <a:ext cx="10642600" cy="993140"/>
          </a:xfrm>
          <a:prstGeom prst="rect">
            <a:avLst/>
          </a:prstGeom>
          <a:noFill/>
        </p:spPr>
        <p:txBody>
          <a:bodyPr wrap="none" lIns="0" rIns="0" tIns="0" bIns="0">
            <a:spAutoFit/>
          </a:bodyPr>
          <a:lstStyle/>
          <a:p>
            <a:pPr>
              <a:lnSpc>
                <a:spcPts val="2440"/>
              </a:lnSpc>
              <a:spcBef>
                <a:spcPts val="0"/>
              </a:spcBef>
              <a:spcAft>
                <a:spcPts val="0"/>
              </a:spcAft>
              <a:defRPr sz="2000" b="0">
                <a:solidFill>
                  <a:srgbClr val="263A50"/>
                </a:solidFill>
                <a:latin typeface="DejaVu Sans"/>
              </a:defRPr>
            </a:pPr>
            <a:r>
              <a:t>Carry pending jobs, record ages and service counters through deadlines.</a:t>
            </a:r>
          </a:p>
          <a:p>
            <a:pPr>
              <a:lnSpc>
                <a:spcPts val="2440"/>
              </a:lnSpc>
              <a:spcBef>
                <a:spcPts val="0"/>
              </a:spcBef>
              <a:spcAft>
                <a:spcPts val="0"/>
              </a:spcAft>
              <a:defRPr sz="2000" b="0">
                <a:solidFill>
                  <a:srgbClr val="263A50"/>
                </a:solidFill>
                <a:latin typeface="DejaVu Sans"/>
              </a:defRPr>
            </a:pPr>
            <a:r>
              <a:t>Charge online computation latency. Report infeasibility separately from solver</a:t>
            </a:r>
          </a:p>
          <a:p>
            <a:pPr>
              <a:lnSpc>
                <a:spcPts val="2440"/>
              </a:lnSpc>
              <a:spcBef>
                <a:spcPts val="0"/>
              </a:spcBef>
              <a:spcAft>
                <a:spcPts val="0"/>
              </a:spcAft>
              <a:defRPr sz="2000" b="0">
                <a:solidFill>
                  <a:srgbClr val="263A50"/>
                </a:solidFill>
                <a:latin typeface="DejaVu Sans"/>
              </a:defRPr>
            </a:pPr>
            <a:r>
              <a:t>failure.</a:t>
            </a:r>
          </a:p>
        </p:txBody>
      </p:sp>
      <p:sp>
        <p:nvSpPr>
          <p:cNvPr id="22" name="TextBox 21"/>
          <p:cNvSpPr txBox="1"/>
          <p:nvPr/>
        </p:nvSpPr>
        <p:spPr>
          <a:xfrm>
            <a:off x="558800" y="6553200"/>
            <a:ext cx="10604500" cy="215900"/>
          </a:xfrm>
          <a:prstGeom prst="rect">
            <a:avLst/>
          </a:prstGeom>
          <a:noFill/>
        </p:spPr>
        <p:txBody>
          <a:bodyPr wrap="none" lIns="0" tIns="0">
            <a:spAutoFit/>
          </a:bodyPr>
          <a:lstStyle/>
          <a:p>
            <a:pPr>
              <a:defRPr sz="900">
                <a:solidFill>
                  <a:srgbClr val="617487"/>
                </a:solidFill>
                <a:latin typeface="DejaVu Sans"/>
              </a:defRPr>
            </a:pPr>
            <a:r>
              <a:t>Appendix D.E · finite-model construction and execution</a:t>
            </a:r>
          </a:p>
        </p:txBody>
      </p:sp>
      <p:sp>
        <p:nvSpPr>
          <p:cNvPr id="23" name="TextBox 22"/>
          <p:cNvSpPr txBox="1"/>
          <p:nvPr/>
        </p:nvSpPr>
        <p:spPr>
          <a:xfrm>
            <a:off x="11239500" y="6553200"/>
            <a:ext cx="825500" cy="215900"/>
          </a:xfrm>
          <a:prstGeom prst="rect">
            <a:avLst/>
          </a:prstGeom>
          <a:noFill/>
        </p:spPr>
        <p:txBody>
          <a:bodyPr wrap="none" lIns="0" tIns="0">
            <a:spAutoFit/>
          </a:bodyPr>
          <a:lstStyle/>
          <a:p>
            <a:pPr>
              <a:defRPr sz="900">
                <a:solidFill>
                  <a:srgbClr val="617487"/>
                </a:solidFill>
                <a:latin typeface="DejaVu Sans"/>
              </a:defRPr>
            </a:pPr>
            <a:r>
              <a:t>19 / 30</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58800" y="304800"/>
            <a:ext cx="10795000" cy="264922"/>
          </a:xfrm>
          <a:prstGeom prst="rect">
            <a:avLst/>
          </a:prstGeom>
          <a:noFill/>
        </p:spPr>
        <p:txBody>
          <a:bodyPr wrap="none" lIns="0" rIns="0" tIns="0" bIns="0">
            <a:spAutoFit/>
          </a:bodyPr>
          <a:lstStyle/>
          <a:p>
            <a:pPr>
              <a:lnSpc>
                <a:spcPts val="1586"/>
              </a:lnSpc>
              <a:spcBef>
                <a:spcPts val="0"/>
              </a:spcBef>
              <a:spcAft>
                <a:spcPts val="0"/>
              </a:spcAft>
              <a:defRPr sz="1300" b="1">
                <a:solidFill>
                  <a:srgbClr val="087F8C"/>
                </a:solidFill>
                <a:latin typeface="DejaVu Sans"/>
              </a:defRPr>
            </a:pPr>
            <a:r>
              <a:t>EVIDENCE MAP</a:t>
            </a:r>
          </a:p>
        </p:txBody>
      </p:sp>
      <p:sp>
        <p:nvSpPr>
          <p:cNvPr id="4" name="TextBox 3"/>
          <p:cNvSpPr txBox="1"/>
          <p:nvPr/>
        </p:nvSpPr>
        <p:spPr>
          <a:xfrm>
            <a:off x="558800" y="673100"/>
            <a:ext cx="11150600" cy="528320"/>
          </a:xfrm>
          <a:prstGeom prst="rect">
            <a:avLst/>
          </a:prstGeom>
          <a:noFill/>
        </p:spPr>
        <p:txBody>
          <a:bodyPr wrap="none" lIns="0" rIns="0" tIns="0" bIns="0">
            <a:spAutoFit/>
          </a:bodyPr>
          <a:lstStyle/>
          <a:p>
            <a:pPr>
              <a:lnSpc>
                <a:spcPts val="3660"/>
              </a:lnSpc>
              <a:spcBef>
                <a:spcPts val="0"/>
              </a:spcBef>
              <a:spcAft>
                <a:spcPts val="0"/>
              </a:spcAft>
              <a:defRPr sz="3000" b="1">
                <a:solidFill>
                  <a:srgbClr val="152C46"/>
                </a:solidFill>
                <a:latin typeface="DejaVu Sans"/>
              </a:defRPr>
            </a:pPr>
            <a:r>
              <a:t>What the current experiments validate</a:t>
            </a:r>
          </a:p>
        </p:txBody>
      </p:sp>
      <p:sp>
        <p:nvSpPr>
          <p:cNvPr id="5" name="Rectangle 4"/>
          <p:cNvSpPr/>
          <p:nvPr/>
        </p:nvSpPr>
        <p:spPr>
          <a:xfrm>
            <a:off x="558800" y="1320800"/>
            <a:ext cx="698500" cy="50800"/>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58800" y="1739900"/>
            <a:ext cx="11074400" cy="584200"/>
          </a:xfrm>
          <a:prstGeom prst="roundRect">
            <a:avLst>
              <a:gd name="adj" fmla="val 8000"/>
            </a:avLst>
          </a:prstGeom>
          <a:solidFill>
            <a:srgbClr val="EF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6600" y="1905000"/>
            <a:ext cx="1371600" cy="326898"/>
          </a:xfrm>
          <a:prstGeom prst="rect">
            <a:avLst/>
          </a:prstGeom>
          <a:noFill/>
        </p:spPr>
        <p:txBody>
          <a:bodyPr wrap="none" lIns="0" rIns="0" tIns="0" bIns="0">
            <a:spAutoFit/>
          </a:bodyPr>
          <a:lstStyle/>
          <a:p>
            <a:pPr>
              <a:lnSpc>
                <a:spcPts val="2074"/>
              </a:lnSpc>
              <a:spcBef>
                <a:spcPts val="0"/>
              </a:spcBef>
              <a:spcAft>
                <a:spcPts val="0"/>
              </a:spcAft>
              <a:defRPr sz="1700" b="1">
                <a:solidFill>
                  <a:srgbClr val="087F8C"/>
                </a:solidFill>
                <a:latin typeface="DejaVu Sans"/>
              </a:defRPr>
            </a:pPr>
            <a:r>
              <a:t>E4</a:t>
            </a:r>
          </a:p>
        </p:txBody>
      </p:sp>
      <p:sp>
        <p:nvSpPr>
          <p:cNvPr id="8" name="TextBox 7"/>
          <p:cNvSpPr txBox="1"/>
          <p:nvPr/>
        </p:nvSpPr>
        <p:spPr>
          <a:xfrm>
            <a:off x="2209800" y="1905000"/>
            <a:ext cx="5295900" cy="311404"/>
          </a:xfrm>
          <a:prstGeom prst="rect">
            <a:avLst/>
          </a:prstGeom>
          <a:noFill/>
        </p:spPr>
        <p:txBody>
          <a:bodyPr wrap="none" lIns="0" rIns="0" tIns="0" bIns="0">
            <a:spAutoFit/>
          </a:bodyPr>
          <a:lstStyle/>
          <a:p>
            <a:pPr>
              <a:lnSpc>
                <a:spcPts val="1952"/>
              </a:lnSpc>
              <a:spcBef>
                <a:spcPts val="0"/>
              </a:spcBef>
              <a:spcAft>
                <a:spcPts val="0"/>
              </a:spcAft>
              <a:defRPr sz="1600" b="0">
                <a:solidFill>
                  <a:srgbClr val="263A50"/>
                </a:solidFill>
                <a:latin typeface="DejaVu Sans"/>
              </a:defRPr>
            </a:pPr>
            <a:r>
              <a:t>Set calibration and coverage</a:t>
            </a:r>
          </a:p>
        </p:txBody>
      </p:sp>
      <p:sp>
        <p:nvSpPr>
          <p:cNvPr id="9" name="TextBox 8"/>
          <p:cNvSpPr txBox="1"/>
          <p:nvPr/>
        </p:nvSpPr>
        <p:spPr>
          <a:xfrm>
            <a:off x="7518400" y="1905000"/>
            <a:ext cx="3937000" cy="280416"/>
          </a:xfrm>
          <a:prstGeom prst="rect">
            <a:avLst/>
          </a:prstGeom>
          <a:noFill/>
        </p:spPr>
        <p:txBody>
          <a:bodyPr wrap="none" lIns="0" rIns="0" tIns="0" bIns="0">
            <a:spAutoFit/>
          </a:bodyPr>
          <a:lstStyle/>
          <a:p>
            <a:pPr>
              <a:lnSpc>
                <a:spcPts val="1707"/>
              </a:lnSpc>
              <a:spcBef>
                <a:spcPts val="0"/>
              </a:spcBef>
              <a:spcAft>
                <a:spcPts val="0"/>
              </a:spcAft>
              <a:defRPr sz="1400" b="0">
                <a:solidFill>
                  <a:srgbClr val="617487"/>
                </a:solidFill>
                <a:latin typeface="DejaVu Sans"/>
              </a:defRPr>
            </a:pPr>
            <a:r>
              <a:t>Synthetic whole-scene split</a:t>
            </a:r>
          </a:p>
        </p:txBody>
      </p:sp>
      <p:sp>
        <p:nvSpPr>
          <p:cNvPr id="10" name="Rounded Rectangle 9"/>
          <p:cNvSpPr/>
          <p:nvPr/>
        </p:nvSpPr>
        <p:spPr>
          <a:xfrm>
            <a:off x="558800" y="2374900"/>
            <a:ext cx="11074400" cy="58420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6600" y="2540000"/>
            <a:ext cx="1371600" cy="326898"/>
          </a:xfrm>
          <a:prstGeom prst="rect">
            <a:avLst/>
          </a:prstGeom>
          <a:noFill/>
        </p:spPr>
        <p:txBody>
          <a:bodyPr wrap="none" lIns="0" rIns="0" tIns="0" bIns="0">
            <a:spAutoFit/>
          </a:bodyPr>
          <a:lstStyle/>
          <a:p>
            <a:pPr>
              <a:lnSpc>
                <a:spcPts val="2074"/>
              </a:lnSpc>
              <a:spcBef>
                <a:spcPts val="0"/>
              </a:spcBef>
              <a:spcAft>
                <a:spcPts val="0"/>
              </a:spcAft>
              <a:defRPr sz="1700" b="1">
                <a:solidFill>
                  <a:srgbClr val="087F8C"/>
                </a:solidFill>
                <a:latin typeface="DejaVu Sans"/>
              </a:defRPr>
            </a:pPr>
            <a:r>
              <a:t>E5</a:t>
            </a:r>
          </a:p>
        </p:txBody>
      </p:sp>
      <p:sp>
        <p:nvSpPr>
          <p:cNvPr id="12" name="TextBox 11"/>
          <p:cNvSpPr txBox="1"/>
          <p:nvPr/>
        </p:nvSpPr>
        <p:spPr>
          <a:xfrm>
            <a:off x="2209800" y="2540000"/>
            <a:ext cx="5295900" cy="311404"/>
          </a:xfrm>
          <a:prstGeom prst="rect">
            <a:avLst/>
          </a:prstGeom>
          <a:noFill/>
        </p:spPr>
        <p:txBody>
          <a:bodyPr wrap="none" lIns="0" rIns="0" tIns="0" bIns="0">
            <a:spAutoFit/>
          </a:bodyPr>
          <a:lstStyle/>
          <a:p>
            <a:pPr>
              <a:lnSpc>
                <a:spcPts val="1952"/>
              </a:lnSpc>
              <a:spcBef>
                <a:spcPts val="0"/>
              </a:spcBef>
              <a:spcAft>
                <a:spcPts val="0"/>
              </a:spcAft>
              <a:defRPr sz="1600" b="0">
                <a:solidFill>
                  <a:srgbClr val="263A50"/>
                </a:solidFill>
                <a:latin typeface="DejaVu Sans"/>
              </a:defRPr>
            </a:pPr>
            <a:r>
              <a:t>Worst leakage and robust SOCP</a:t>
            </a:r>
          </a:p>
        </p:txBody>
      </p:sp>
      <p:sp>
        <p:nvSpPr>
          <p:cNvPr id="13" name="TextBox 12"/>
          <p:cNvSpPr txBox="1"/>
          <p:nvPr/>
        </p:nvSpPr>
        <p:spPr>
          <a:xfrm>
            <a:off x="7518400" y="2540000"/>
            <a:ext cx="3937000" cy="280416"/>
          </a:xfrm>
          <a:prstGeom prst="rect">
            <a:avLst/>
          </a:prstGeom>
          <a:noFill/>
        </p:spPr>
        <p:txBody>
          <a:bodyPr wrap="none" lIns="0" rIns="0" tIns="0" bIns="0">
            <a:spAutoFit/>
          </a:bodyPr>
          <a:lstStyle/>
          <a:p>
            <a:pPr>
              <a:lnSpc>
                <a:spcPts val="1707"/>
              </a:lnSpc>
              <a:spcBef>
                <a:spcPts val="0"/>
              </a:spcBef>
              <a:spcAft>
                <a:spcPts val="0"/>
              </a:spcAft>
              <a:defRPr sz="1400" b="0">
                <a:solidFill>
                  <a:srgbClr val="617487"/>
                </a:solidFill>
                <a:latin typeface="DejaVu Sans"/>
              </a:defRPr>
            </a:pPr>
            <a:r>
              <a:t>Numerical identities + geometry tests</a:t>
            </a:r>
          </a:p>
        </p:txBody>
      </p:sp>
      <p:sp>
        <p:nvSpPr>
          <p:cNvPr id="14" name="Rounded Rectangle 13"/>
          <p:cNvSpPr/>
          <p:nvPr/>
        </p:nvSpPr>
        <p:spPr>
          <a:xfrm>
            <a:off x="558800" y="3009900"/>
            <a:ext cx="11074400" cy="584200"/>
          </a:xfrm>
          <a:prstGeom prst="roundRect">
            <a:avLst>
              <a:gd name="adj" fmla="val 8000"/>
            </a:avLst>
          </a:prstGeom>
          <a:solidFill>
            <a:srgbClr val="EF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36600" y="3175000"/>
            <a:ext cx="1371600" cy="326898"/>
          </a:xfrm>
          <a:prstGeom prst="rect">
            <a:avLst/>
          </a:prstGeom>
          <a:noFill/>
        </p:spPr>
        <p:txBody>
          <a:bodyPr wrap="none" lIns="0" rIns="0" tIns="0" bIns="0">
            <a:spAutoFit/>
          </a:bodyPr>
          <a:lstStyle/>
          <a:p>
            <a:pPr>
              <a:lnSpc>
                <a:spcPts val="2074"/>
              </a:lnSpc>
              <a:spcBef>
                <a:spcPts val="0"/>
              </a:spcBef>
              <a:spcAft>
                <a:spcPts val="0"/>
              </a:spcAft>
              <a:defRPr sz="1700" b="1">
                <a:solidFill>
                  <a:srgbClr val="087F8C"/>
                </a:solidFill>
                <a:latin typeface="DejaVu Sans"/>
              </a:defRPr>
            </a:pPr>
            <a:r>
              <a:t>E6</a:t>
            </a:r>
          </a:p>
        </p:txBody>
      </p:sp>
      <p:sp>
        <p:nvSpPr>
          <p:cNvPr id="16" name="TextBox 15"/>
          <p:cNvSpPr txBox="1"/>
          <p:nvPr/>
        </p:nvSpPr>
        <p:spPr>
          <a:xfrm>
            <a:off x="2209800" y="3175000"/>
            <a:ext cx="5295900" cy="311404"/>
          </a:xfrm>
          <a:prstGeom prst="rect">
            <a:avLst/>
          </a:prstGeom>
          <a:noFill/>
        </p:spPr>
        <p:txBody>
          <a:bodyPr wrap="none" lIns="0" rIns="0" tIns="0" bIns="0">
            <a:spAutoFit/>
          </a:bodyPr>
          <a:lstStyle/>
          <a:p>
            <a:pPr>
              <a:lnSpc>
                <a:spcPts val="1952"/>
              </a:lnSpc>
              <a:spcBef>
                <a:spcPts val="0"/>
              </a:spcBef>
              <a:spcAft>
                <a:spcPts val="0"/>
              </a:spcAft>
              <a:defRPr sz="1600" b="0">
                <a:solidFill>
                  <a:srgbClr val="263A50"/>
                </a:solidFill>
                <a:latin typeface="DejaVu Sans"/>
              </a:defRPr>
            </a:pPr>
            <a:r>
              <a:t>Beam reduction and policy LP</a:t>
            </a:r>
          </a:p>
        </p:txBody>
      </p:sp>
      <p:sp>
        <p:nvSpPr>
          <p:cNvPr id="17" name="TextBox 16"/>
          <p:cNvSpPr txBox="1"/>
          <p:nvPr/>
        </p:nvSpPr>
        <p:spPr>
          <a:xfrm>
            <a:off x="7518400" y="3175000"/>
            <a:ext cx="3937000" cy="280416"/>
          </a:xfrm>
          <a:prstGeom prst="rect">
            <a:avLst/>
          </a:prstGeom>
          <a:noFill/>
        </p:spPr>
        <p:txBody>
          <a:bodyPr wrap="none" lIns="0" rIns="0" tIns="0" bIns="0">
            <a:spAutoFit/>
          </a:bodyPr>
          <a:lstStyle/>
          <a:p>
            <a:pPr>
              <a:lnSpc>
                <a:spcPts val="1707"/>
              </a:lnSpc>
              <a:spcBef>
                <a:spcPts val="0"/>
              </a:spcBef>
              <a:spcAft>
                <a:spcPts val="0"/>
              </a:spcAft>
              <a:defRPr sz="1400" b="0">
                <a:solidFill>
                  <a:srgbClr val="617487"/>
                </a:solidFill>
                <a:latin typeface="DejaVu Sans"/>
              </a:defRPr>
            </a:pPr>
            <a:r>
              <a:t>Complete-policy enumeration</a:t>
            </a:r>
          </a:p>
        </p:txBody>
      </p:sp>
      <p:sp>
        <p:nvSpPr>
          <p:cNvPr id="18" name="Rounded Rectangle 17"/>
          <p:cNvSpPr/>
          <p:nvPr/>
        </p:nvSpPr>
        <p:spPr>
          <a:xfrm>
            <a:off x="558800" y="3644900"/>
            <a:ext cx="11074400" cy="58420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36600" y="3810000"/>
            <a:ext cx="1371600" cy="326898"/>
          </a:xfrm>
          <a:prstGeom prst="rect">
            <a:avLst/>
          </a:prstGeom>
          <a:noFill/>
        </p:spPr>
        <p:txBody>
          <a:bodyPr wrap="none" lIns="0" rIns="0" tIns="0" bIns="0">
            <a:spAutoFit/>
          </a:bodyPr>
          <a:lstStyle/>
          <a:p>
            <a:pPr>
              <a:lnSpc>
                <a:spcPts val="2074"/>
              </a:lnSpc>
              <a:spcBef>
                <a:spcPts val="0"/>
              </a:spcBef>
              <a:spcAft>
                <a:spcPts val="0"/>
              </a:spcAft>
              <a:defRPr sz="1700" b="1">
                <a:solidFill>
                  <a:srgbClr val="087F8C"/>
                </a:solidFill>
                <a:latin typeface="DejaVu Sans"/>
              </a:defRPr>
            </a:pPr>
            <a:r>
              <a:t>E7</a:t>
            </a:r>
          </a:p>
        </p:txBody>
      </p:sp>
      <p:sp>
        <p:nvSpPr>
          <p:cNvPr id="20" name="TextBox 19"/>
          <p:cNvSpPr txBox="1"/>
          <p:nvPr/>
        </p:nvSpPr>
        <p:spPr>
          <a:xfrm>
            <a:off x="2209800" y="3810000"/>
            <a:ext cx="5295900" cy="311404"/>
          </a:xfrm>
          <a:prstGeom prst="rect">
            <a:avLst/>
          </a:prstGeom>
          <a:noFill/>
        </p:spPr>
        <p:txBody>
          <a:bodyPr wrap="none" lIns="0" rIns="0" tIns="0" bIns="0">
            <a:spAutoFit/>
          </a:bodyPr>
          <a:lstStyle/>
          <a:p>
            <a:pPr>
              <a:lnSpc>
                <a:spcPts val="1952"/>
              </a:lnSpc>
              <a:spcBef>
                <a:spcPts val="0"/>
              </a:spcBef>
              <a:spcAft>
                <a:spcPts val="0"/>
              </a:spcAft>
              <a:defRPr sz="1600" b="0">
                <a:solidFill>
                  <a:srgbClr val="263A50"/>
                </a:solidFill>
                <a:latin typeface="DejaVu Sans"/>
              </a:defRPr>
            </a:pPr>
            <a:r>
              <a:t>F / T / L / J service tradeoff</a:t>
            </a:r>
          </a:p>
        </p:txBody>
      </p:sp>
      <p:sp>
        <p:nvSpPr>
          <p:cNvPr id="21" name="TextBox 20"/>
          <p:cNvSpPr txBox="1"/>
          <p:nvPr/>
        </p:nvSpPr>
        <p:spPr>
          <a:xfrm>
            <a:off x="7518400" y="3810000"/>
            <a:ext cx="3937000" cy="280416"/>
          </a:xfrm>
          <a:prstGeom prst="rect">
            <a:avLst/>
          </a:prstGeom>
          <a:noFill/>
        </p:spPr>
        <p:txBody>
          <a:bodyPr wrap="none" lIns="0" rIns="0" tIns="0" bIns="0">
            <a:spAutoFit/>
          </a:bodyPr>
          <a:lstStyle/>
          <a:p>
            <a:pPr>
              <a:lnSpc>
                <a:spcPts val="1707"/>
              </a:lnSpc>
              <a:spcBef>
                <a:spcPts val="0"/>
              </a:spcBef>
              <a:spcAft>
                <a:spcPts val="0"/>
              </a:spcAft>
              <a:defRPr sz="1400" b="0">
                <a:solidFill>
                  <a:srgbClr val="617487"/>
                </a:solidFill>
                <a:latin typeface="DejaVu Sans"/>
              </a:defRPr>
            </a:pPr>
            <a:r>
              <a:t>Declared finite dynamic model</a:t>
            </a:r>
          </a:p>
        </p:txBody>
      </p:sp>
      <p:sp>
        <p:nvSpPr>
          <p:cNvPr id="22" name="Rounded Rectangle 21"/>
          <p:cNvSpPr/>
          <p:nvPr/>
        </p:nvSpPr>
        <p:spPr>
          <a:xfrm>
            <a:off x="558800" y="4279900"/>
            <a:ext cx="11074400" cy="584200"/>
          </a:xfrm>
          <a:prstGeom prst="roundRect">
            <a:avLst>
              <a:gd name="adj" fmla="val 8000"/>
            </a:avLst>
          </a:prstGeom>
          <a:solidFill>
            <a:srgbClr val="EF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36600" y="4445000"/>
            <a:ext cx="1371600" cy="326898"/>
          </a:xfrm>
          <a:prstGeom prst="rect">
            <a:avLst/>
          </a:prstGeom>
          <a:noFill/>
        </p:spPr>
        <p:txBody>
          <a:bodyPr wrap="none" lIns="0" rIns="0" tIns="0" bIns="0">
            <a:spAutoFit/>
          </a:bodyPr>
          <a:lstStyle/>
          <a:p>
            <a:pPr>
              <a:lnSpc>
                <a:spcPts val="2074"/>
              </a:lnSpc>
              <a:spcBef>
                <a:spcPts val="0"/>
              </a:spcBef>
              <a:spcAft>
                <a:spcPts val="0"/>
              </a:spcAft>
              <a:defRPr sz="1700" b="1">
                <a:solidFill>
                  <a:srgbClr val="087F8C"/>
                </a:solidFill>
                <a:latin typeface="DejaVu Sans"/>
              </a:defRPr>
            </a:pPr>
            <a:r>
              <a:t>E8</a:t>
            </a:r>
          </a:p>
        </p:txBody>
      </p:sp>
      <p:sp>
        <p:nvSpPr>
          <p:cNvPr id="24" name="TextBox 23"/>
          <p:cNvSpPr txBox="1"/>
          <p:nvPr/>
        </p:nvSpPr>
        <p:spPr>
          <a:xfrm>
            <a:off x="2209800" y="4445000"/>
            <a:ext cx="5295900" cy="311404"/>
          </a:xfrm>
          <a:prstGeom prst="rect">
            <a:avLst/>
          </a:prstGeom>
          <a:noFill/>
        </p:spPr>
        <p:txBody>
          <a:bodyPr wrap="none" lIns="0" rIns="0" tIns="0" bIns="0">
            <a:spAutoFit/>
          </a:bodyPr>
          <a:lstStyle/>
          <a:p>
            <a:pPr>
              <a:lnSpc>
                <a:spcPts val="1952"/>
              </a:lnSpc>
              <a:spcBef>
                <a:spcPts val="0"/>
              </a:spcBef>
              <a:spcAft>
                <a:spcPts val="0"/>
              </a:spcAft>
              <a:defRPr sz="1600" b="0">
                <a:solidFill>
                  <a:srgbClr val="263A50"/>
                </a:solidFill>
                <a:latin typeface="DejaVu Sans"/>
              </a:defRPr>
            </a:pPr>
            <a:r>
              <a:t>Failure, delay, arrivals, correlation</a:t>
            </a:r>
          </a:p>
        </p:txBody>
      </p:sp>
      <p:sp>
        <p:nvSpPr>
          <p:cNvPr id="25" name="TextBox 24"/>
          <p:cNvSpPr txBox="1"/>
          <p:nvPr/>
        </p:nvSpPr>
        <p:spPr>
          <a:xfrm>
            <a:off x="7518400" y="4445000"/>
            <a:ext cx="3937000" cy="280416"/>
          </a:xfrm>
          <a:prstGeom prst="rect">
            <a:avLst/>
          </a:prstGeom>
          <a:noFill/>
        </p:spPr>
        <p:txBody>
          <a:bodyPr wrap="none" lIns="0" rIns="0" tIns="0" bIns="0">
            <a:spAutoFit/>
          </a:bodyPr>
          <a:lstStyle/>
          <a:p>
            <a:pPr>
              <a:lnSpc>
                <a:spcPts val="1707"/>
              </a:lnSpc>
              <a:spcBef>
                <a:spcPts val="0"/>
              </a:spcBef>
              <a:spcAft>
                <a:spcPts val="0"/>
              </a:spcAft>
              <a:defRPr sz="1400" b="0">
                <a:solidFill>
                  <a:srgbClr val="617487"/>
                </a:solidFill>
                <a:latin typeface="DejaVu Sans"/>
              </a:defRPr>
            </a:pPr>
            <a:r>
              <a:t>Model stress + fixed causal diagnostics</a:t>
            </a:r>
          </a:p>
        </p:txBody>
      </p:sp>
      <p:sp>
        <p:nvSpPr>
          <p:cNvPr id="26" name="Rounded Rectangle 25"/>
          <p:cNvSpPr/>
          <p:nvPr/>
        </p:nvSpPr>
        <p:spPr>
          <a:xfrm>
            <a:off x="558800" y="4914900"/>
            <a:ext cx="11074400" cy="584200"/>
          </a:xfrm>
          <a:prstGeom prst="roundRect">
            <a:avLst>
              <a:gd name="adj" fmla="val 8000"/>
            </a:avLst>
          </a:prstGeom>
          <a:solidFill>
            <a:srgbClr val="E5F3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36600" y="5080000"/>
            <a:ext cx="1371600" cy="326898"/>
          </a:xfrm>
          <a:prstGeom prst="rect">
            <a:avLst/>
          </a:prstGeom>
          <a:noFill/>
        </p:spPr>
        <p:txBody>
          <a:bodyPr wrap="none" lIns="0" rIns="0" tIns="0" bIns="0">
            <a:spAutoFit/>
          </a:bodyPr>
          <a:lstStyle/>
          <a:p>
            <a:pPr>
              <a:lnSpc>
                <a:spcPts val="2074"/>
              </a:lnSpc>
              <a:spcBef>
                <a:spcPts val="0"/>
              </a:spcBef>
              <a:spcAft>
                <a:spcPts val="0"/>
              </a:spcAft>
              <a:defRPr sz="1700" b="1">
                <a:solidFill>
                  <a:srgbClr val="087F8C"/>
                </a:solidFill>
                <a:latin typeface="DejaVu Sans"/>
              </a:defRPr>
            </a:pPr>
            <a:r>
              <a:t>Fresh RT</a:t>
            </a:r>
          </a:p>
        </p:txBody>
      </p:sp>
      <p:sp>
        <p:nvSpPr>
          <p:cNvPr id="28" name="TextBox 27"/>
          <p:cNvSpPr txBox="1"/>
          <p:nvPr/>
        </p:nvSpPr>
        <p:spPr>
          <a:xfrm>
            <a:off x="2209800" y="5080000"/>
            <a:ext cx="5295900" cy="311404"/>
          </a:xfrm>
          <a:prstGeom prst="rect">
            <a:avLst/>
          </a:prstGeom>
          <a:noFill/>
        </p:spPr>
        <p:txBody>
          <a:bodyPr wrap="none" lIns="0" rIns="0" tIns="0" bIns="0">
            <a:spAutoFit/>
          </a:bodyPr>
          <a:lstStyle/>
          <a:p>
            <a:pPr>
              <a:lnSpc>
                <a:spcPts val="1952"/>
              </a:lnSpc>
              <a:spcBef>
                <a:spcPts val="0"/>
              </a:spcBef>
              <a:spcAft>
                <a:spcPts val="0"/>
              </a:spcAft>
              <a:defRPr sz="1600" b="0">
                <a:solidFill>
                  <a:srgbClr val="263A50"/>
                </a:solidFill>
                <a:latin typeface="DejaVu Sans"/>
              </a:defRPr>
            </a:pPr>
            <a:r>
              <a:t>New drops + DL/UL tracing + Γ-CDF</a:t>
            </a:r>
          </a:p>
        </p:txBody>
      </p:sp>
      <p:sp>
        <p:nvSpPr>
          <p:cNvPr id="29" name="TextBox 28"/>
          <p:cNvSpPr txBox="1"/>
          <p:nvPr/>
        </p:nvSpPr>
        <p:spPr>
          <a:xfrm>
            <a:off x="7518400" y="5080000"/>
            <a:ext cx="3937000" cy="280416"/>
          </a:xfrm>
          <a:prstGeom prst="rect">
            <a:avLst/>
          </a:prstGeom>
          <a:noFill/>
        </p:spPr>
        <p:txBody>
          <a:bodyPr wrap="none" lIns="0" rIns="0" tIns="0" bIns="0">
            <a:spAutoFit/>
          </a:bodyPr>
          <a:lstStyle/>
          <a:p>
            <a:pPr>
              <a:lnSpc>
                <a:spcPts val="1707"/>
              </a:lnSpc>
              <a:spcBef>
                <a:spcPts val="0"/>
              </a:spcBef>
              <a:spcAft>
                <a:spcPts val="0"/>
              </a:spcAft>
              <a:defRPr sz="1400" b="0">
                <a:solidFill>
                  <a:srgbClr val="617487"/>
                </a:solidFill>
                <a:latin typeface="DejaVu Sans"/>
              </a:defRPr>
            </a:pPr>
            <a:r>
              <a:t>Static held-out physical channels</a:t>
            </a:r>
          </a:p>
        </p:txBody>
      </p:sp>
      <p:sp>
        <p:nvSpPr>
          <p:cNvPr id="30" name="TextBox 29"/>
          <p:cNvSpPr txBox="1"/>
          <p:nvPr/>
        </p:nvSpPr>
        <p:spPr>
          <a:xfrm>
            <a:off x="558800" y="6553200"/>
            <a:ext cx="10604500" cy="215900"/>
          </a:xfrm>
          <a:prstGeom prst="rect">
            <a:avLst/>
          </a:prstGeom>
          <a:noFill/>
        </p:spPr>
        <p:txBody>
          <a:bodyPr wrap="none" lIns="0" tIns="0">
            <a:spAutoFit/>
          </a:bodyPr>
          <a:lstStyle/>
          <a:p>
            <a:pPr>
              <a:defRPr sz="900">
                <a:solidFill>
                  <a:srgbClr val="617487"/>
                </a:solidFill>
                <a:latin typeface="DejaVu Sans"/>
              </a:defRPr>
            </a:pPr>
            <a:r>
              <a:t>Run 20260921_235448_775259 · E4–E8 + fresh_rt_spatial</a:t>
            </a:r>
          </a:p>
        </p:txBody>
      </p:sp>
      <p:sp>
        <p:nvSpPr>
          <p:cNvPr id="31" name="TextBox 30"/>
          <p:cNvSpPr txBox="1"/>
          <p:nvPr/>
        </p:nvSpPr>
        <p:spPr>
          <a:xfrm>
            <a:off x="11239500" y="6553200"/>
            <a:ext cx="825500" cy="215900"/>
          </a:xfrm>
          <a:prstGeom prst="rect">
            <a:avLst/>
          </a:prstGeom>
          <a:noFill/>
        </p:spPr>
        <p:txBody>
          <a:bodyPr wrap="none" lIns="0" tIns="0">
            <a:spAutoFit/>
          </a:bodyPr>
          <a:lstStyle/>
          <a:p>
            <a:pPr>
              <a:defRPr sz="900">
                <a:solidFill>
                  <a:srgbClr val="617487"/>
                </a:solidFill>
                <a:latin typeface="DejaVu Sans"/>
              </a:defRPr>
            </a:pPr>
            <a:r>
              <a:t>20 / 30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58800" y="304800"/>
            <a:ext cx="10795000" cy="264922"/>
          </a:xfrm>
          <a:prstGeom prst="rect">
            <a:avLst/>
          </a:prstGeom>
          <a:noFill/>
        </p:spPr>
        <p:txBody>
          <a:bodyPr wrap="none" lIns="0" rIns="0" tIns="0" bIns="0">
            <a:spAutoFit/>
          </a:bodyPr>
          <a:lstStyle/>
          <a:p>
            <a:pPr>
              <a:lnSpc>
                <a:spcPts val="1586"/>
              </a:lnSpc>
              <a:spcBef>
                <a:spcPts val="0"/>
              </a:spcBef>
              <a:spcAft>
                <a:spcPts val="0"/>
              </a:spcAft>
              <a:defRPr sz="1300" b="1">
                <a:solidFill>
                  <a:srgbClr val="087F8C"/>
                </a:solidFill>
                <a:latin typeface="DejaVu Sans"/>
              </a:defRPr>
            </a:pPr>
            <a:r>
              <a:t>RESULTS · E7</a:t>
            </a:r>
          </a:p>
        </p:txBody>
      </p:sp>
      <p:sp>
        <p:nvSpPr>
          <p:cNvPr id="4" name="TextBox 3"/>
          <p:cNvSpPr txBox="1"/>
          <p:nvPr/>
        </p:nvSpPr>
        <p:spPr>
          <a:xfrm>
            <a:off x="558800" y="673100"/>
            <a:ext cx="11150600" cy="528320"/>
          </a:xfrm>
          <a:prstGeom prst="rect">
            <a:avLst/>
          </a:prstGeom>
          <a:noFill/>
        </p:spPr>
        <p:txBody>
          <a:bodyPr wrap="none" lIns="0" rIns="0" tIns="0" bIns="0">
            <a:spAutoFit/>
          </a:bodyPr>
          <a:lstStyle/>
          <a:p>
            <a:pPr>
              <a:lnSpc>
                <a:spcPts val="3660"/>
              </a:lnSpc>
              <a:spcBef>
                <a:spcPts val="0"/>
              </a:spcBef>
              <a:spcAft>
                <a:spcPts val="0"/>
              </a:spcAft>
              <a:defRPr sz="3000" b="1">
                <a:solidFill>
                  <a:srgbClr val="152C46"/>
                </a:solidFill>
                <a:latin typeface="DejaVu Sans"/>
              </a:defRPr>
            </a:pPr>
            <a:r>
              <a:t>Finite-model gains are positive, but small</a:t>
            </a:r>
          </a:p>
        </p:txBody>
      </p:sp>
      <p:sp>
        <p:nvSpPr>
          <p:cNvPr id="5" name="Rectangle 4"/>
          <p:cNvSpPr/>
          <p:nvPr/>
        </p:nvSpPr>
        <p:spPr>
          <a:xfrm>
            <a:off x="558800" y="1320800"/>
            <a:ext cx="698500" cy="50800"/>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58800" y="5765800"/>
            <a:ext cx="11074400" cy="584200"/>
          </a:xfrm>
          <a:prstGeom prst="roundRect">
            <a:avLst>
              <a:gd name="adj" fmla="val 8000"/>
            </a:avLst>
          </a:prstGeom>
          <a:solidFill>
            <a:srgbClr val="E5F3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62000" y="5905500"/>
            <a:ext cx="10693400" cy="590296"/>
          </a:xfrm>
          <a:prstGeom prst="rect">
            <a:avLst/>
          </a:prstGeom>
          <a:noFill/>
        </p:spPr>
        <p:txBody>
          <a:bodyPr wrap="none" lIns="0" rIns="0" tIns="0" bIns="0">
            <a:spAutoFit/>
          </a:bodyPr>
          <a:lstStyle/>
          <a:p>
            <a:pPr>
              <a:lnSpc>
                <a:spcPts val="2074"/>
              </a:lnSpc>
              <a:spcBef>
                <a:spcPts val="0"/>
              </a:spcBef>
              <a:spcAft>
                <a:spcPts val="0"/>
              </a:spcAft>
              <a:defRPr sz="1700" b="1">
                <a:solidFill>
                  <a:srgbClr val="152C46"/>
                </a:solidFill>
                <a:latin typeface="DejaVu Sans"/>
              </a:defRPr>
            </a:pPr>
            <a:r>
              <a:t>J = T at three Γ values; current evidence does not show a broad duration-adaptation</a:t>
            </a:r>
          </a:p>
          <a:p>
            <a:pPr>
              <a:lnSpc>
                <a:spcPts val="2074"/>
              </a:lnSpc>
              <a:spcBef>
                <a:spcPts val="0"/>
              </a:spcBef>
              <a:spcAft>
                <a:spcPts val="0"/>
              </a:spcAft>
              <a:defRPr sz="1700" b="1">
                <a:solidFill>
                  <a:srgbClr val="152C46"/>
                </a:solidFill>
                <a:latin typeface="DejaVu Sans"/>
              </a:defRPr>
            </a:pPr>
            <a:r>
              <a:t>gain.</a:t>
            </a:r>
          </a:p>
        </p:txBody>
      </p:sp>
      <p:sp>
        <p:nvSpPr>
          <p:cNvPr id="8" name="TextBox 7"/>
          <p:cNvSpPr txBox="1"/>
          <p:nvPr/>
        </p:nvSpPr>
        <p:spPr>
          <a:xfrm>
            <a:off x="635000" y="1638300"/>
            <a:ext cx="10922000" cy="326898"/>
          </a:xfrm>
          <a:prstGeom prst="rect">
            <a:avLst/>
          </a:prstGeom>
          <a:noFill/>
        </p:spPr>
        <p:txBody>
          <a:bodyPr wrap="none" lIns="0" rIns="0" tIns="0" bIns="0">
            <a:spAutoFit/>
          </a:bodyPr>
          <a:lstStyle/>
          <a:p>
            <a:pPr>
              <a:lnSpc>
                <a:spcPts val="2074"/>
              </a:lnSpc>
              <a:spcBef>
                <a:spcPts val="0"/>
              </a:spcBef>
              <a:spcAft>
                <a:spcPts val="0"/>
              </a:spcAft>
              <a:defRPr sz="1700" b="0">
                <a:solidFill>
                  <a:srgbClr val="617487"/>
                </a:solidFill>
                <a:latin typeface="DejaVu Sans"/>
              </a:defRPr>
            </a:pPr>
            <a:r>
              <a:t>F: fixed T: timing only L: duration only J: joint adaptation</a:t>
            </a:r>
          </a:p>
        </p:txBody>
      </p:sp>
      <p:pic>
        <p:nvPicPr>
          <p:cNvPr id="9" name="Picture 8" descr="finite_service.png"/>
          <p:cNvPicPr>
            <a:picLocks noChangeAspect="1"/>
          </p:cNvPicPr>
          <p:nvPr/>
        </p:nvPicPr>
        <p:blipFill>
          <a:blip r:embed="rId2"/>
          <a:stretch>
            <a:fillRect/>
          </a:stretch>
        </p:blipFill>
        <p:spPr>
          <a:xfrm>
            <a:off x="1058639" y="2019300"/>
            <a:ext cx="10074720" cy="3416300"/>
          </a:xfrm>
          <a:prstGeom prst="rect">
            <a:avLst/>
          </a:prstGeom>
        </p:spPr>
      </p:pic>
      <p:sp>
        <p:nvSpPr>
          <p:cNvPr id="10" name="TextBox 9"/>
          <p:cNvSpPr txBox="1"/>
          <p:nvPr/>
        </p:nvSpPr>
        <p:spPr>
          <a:xfrm>
            <a:off x="558800" y="6553200"/>
            <a:ext cx="10604500" cy="215900"/>
          </a:xfrm>
          <a:prstGeom prst="rect">
            <a:avLst/>
          </a:prstGeom>
          <a:noFill/>
        </p:spPr>
        <p:txBody>
          <a:bodyPr wrap="none" lIns="0" tIns="0">
            <a:spAutoFit/>
          </a:bodyPr>
          <a:lstStyle/>
          <a:p>
            <a:pPr>
              <a:defRPr sz="900">
                <a:solidFill>
                  <a:srgbClr val="617487"/>
                </a:solidFill>
                <a:latin typeface="DejaVu Sans"/>
              </a:defRPr>
            </a:pPr>
            <a:r>
              <a:t>E7/strategy_summary.csv · exact model expectations; Monte Carlo: 400 episodes per setting</a:t>
            </a:r>
          </a:p>
        </p:txBody>
      </p:sp>
      <p:sp>
        <p:nvSpPr>
          <p:cNvPr id="11" name="TextBox 10"/>
          <p:cNvSpPr txBox="1"/>
          <p:nvPr/>
        </p:nvSpPr>
        <p:spPr>
          <a:xfrm>
            <a:off x="11239500" y="6553200"/>
            <a:ext cx="825500" cy="215900"/>
          </a:xfrm>
          <a:prstGeom prst="rect">
            <a:avLst/>
          </a:prstGeom>
          <a:noFill/>
        </p:spPr>
        <p:txBody>
          <a:bodyPr wrap="none" lIns="0" tIns="0">
            <a:spAutoFit/>
          </a:bodyPr>
          <a:lstStyle/>
          <a:p>
            <a:pPr>
              <a:defRPr sz="900">
                <a:solidFill>
                  <a:srgbClr val="617487"/>
                </a:solidFill>
                <a:latin typeface="DejaVu Sans"/>
              </a:defRPr>
            </a:pPr>
            <a:r>
              <a:t>21 / 30</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58800" y="304800"/>
            <a:ext cx="10795000" cy="264922"/>
          </a:xfrm>
          <a:prstGeom prst="rect">
            <a:avLst/>
          </a:prstGeom>
          <a:noFill/>
        </p:spPr>
        <p:txBody>
          <a:bodyPr wrap="none" lIns="0" rIns="0" tIns="0" bIns="0">
            <a:spAutoFit/>
          </a:bodyPr>
          <a:lstStyle/>
          <a:p>
            <a:pPr>
              <a:lnSpc>
                <a:spcPts val="1586"/>
              </a:lnSpc>
              <a:spcBef>
                <a:spcPts val="0"/>
              </a:spcBef>
              <a:spcAft>
                <a:spcPts val="0"/>
              </a:spcAft>
              <a:defRPr sz="1300" b="1">
                <a:solidFill>
                  <a:srgbClr val="087F8C"/>
                </a:solidFill>
                <a:latin typeface="DejaVu Sans"/>
              </a:defRPr>
            </a:pPr>
            <a:r>
              <a:t>RESULTS · PHYSICAL SPATIAL TEST</a:t>
            </a:r>
          </a:p>
        </p:txBody>
      </p:sp>
      <p:sp>
        <p:nvSpPr>
          <p:cNvPr id="4" name="TextBox 3"/>
          <p:cNvSpPr txBox="1"/>
          <p:nvPr/>
        </p:nvSpPr>
        <p:spPr>
          <a:xfrm>
            <a:off x="558800" y="673100"/>
            <a:ext cx="11150600" cy="515024"/>
          </a:xfrm>
          <a:prstGeom prst="rect">
            <a:avLst/>
          </a:prstGeom>
          <a:noFill/>
        </p:spPr>
        <p:txBody>
          <a:bodyPr wrap="none" lIns="0" rIns="0" tIns="0" bIns="0">
            <a:spAutoFit/>
          </a:bodyPr>
          <a:lstStyle/>
          <a:p>
            <a:pPr>
              <a:lnSpc>
                <a:spcPts val="3555"/>
              </a:lnSpc>
              <a:spcBef>
                <a:spcPts val="0"/>
              </a:spcBef>
              <a:spcAft>
                <a:spcPts val="0"/>
              </a:spcAft>
              <a:defRPr sz="2914" b="1">
                <a:solidFill>
                  <a:srgbClr val="152C46"/>
                </a:solidFill>
                <a:latin typeface="DejaVu Sans"/>
              </a:defRPr>
            </a:pPr>
            <a:r>
              <a:t>Fresh ray tracing reveals a substantial service cost</a:t>
            </a:r>
          </a:p>
        </p:txBody>
      </p:sp>
      <p:sp>
        <p:nvSpPr>
          <p:cNvPr id="5" name="Rectangle 4"/>
          <p:cNvSpPr/>
          <p:nvPr/>
        </p:nvSpPr>
        <p:spPr>
          <a:xfrm>
            <a:off x="558800" y="1320800"/>
            <a:ext cx="698500" cy="50800"/>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58800" y="5765800"/>
            <a:ext cx="11074400" cy="584200"/>
          </a:xfrm>
          <a:prstGeom prst="roundRect">
            <a:avLst>
              <a:gd name="adj" fmla="val 8000"/>
            </a:avLst>
          </a:prstGeom>
          <a:solidFill>
            <a:srgbClr val="E5F3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62000" y="5905500"/>
            <a:ext cx="10693400" cy="326898"/>
          </a:xfrm>
          <a:prstGeom prst="rect">
            <a:avLst/>
          </a:prstGeom>
          <a:noFill/>
        </p:spPr>
        <p:txBody>
          <a:bodyPr wrap="none" lIns="0" rIns="0" tIns="0" bIns="0">
            <a:spAutoFit/>
          </a:bodyPr>
          <a:lstStyle/>
          <a:p>
            <a:pPr>
              <a:lnSpc>
                <a:spcPts val="2074"/>
              </a:lnSpc>
              <a:spcBef>
                <a:spcPts val="0"/>
              </a:spcBef>
              <a:spcAft>
                <a:spcPts val="0"/>
              </a:spcAft>
              <a:defRPr sz="1700" b="1">
                <a:solidFill>
                  <a:srgbClr val="152C46"/>
                </a:solidFill>
                <a:latin typeface="DejaVu Sans"/>
              </a:defRPr>
            </a:pPr>
            <a:r>
              <a:t>Low INR alone is insufficient: the current empirical envelope is conservative.</a:t>
            </a:r>
          </a:p>
        </p:txBody>
      </p:sp>
      <p:sp>
        <p:nvSpPr>
          <p:cNvPr id="8" name="TextBox 7"/>
          <p:cNvSpPr txBox="1"/>
          <p:nvPr/>
        </p:nvSpPr>
        <p:spPr>
          <a:xfrm>
            <a:off x="635000" y="1638300"/>
            <a:ext cx="10960100" cy="311404"/>
          </a:xfrm>
          <a:prstGeom prst="rect">
            <a:avLst/>
          </a:prstGeom>
          <a:noFill/>
        </p:spPr>
        <p:txBody>
          <a:bodyPr wrap="none" lIns="0" rIns="0" tIns="0" bIns="0">
            <a:spAutoFit/>
          </a:bodyPr>
          <a:lstStyle/>
          <a:p>
            <a:pPr>
              <a:lnSpc>
                <a:spcPts val="1952"/>
              </a:lnSpc>
              <a:spcBef>
                <a:spcPts val="0"/>
              </a:spcBef>
              <a:spcAft>
                <a:spcPts val="0"/>
              </a:spcAft>
              <a:defRPr sz="1600" b="0">
                <a:solidFill>
                  <a:srgbClr val="617487"/>
                </a:solidFill>
                <a:latin typeface="DejaVu Sans"/>
              </a:defRPr>
            </a:pPr>
            <a:r>
              <a:t>7 GHz DL / 6.3 GHz UL · 64 antennas · depth 3 · 800-snapshot MDL-MUSIC</a:t>
            </a:r>
          </a:p>
        </p:txBody>
      </p:sp>
      <p:pic>
        <p:nvPicPr>
          <p:cNvPr id="9" name="Picture 8" descr="rt_tradeoff.png"/>
          <p:cNvPicPr>
            <a:picLocks noChangeAspect="1"/>
          </p:cNvPicPr>
          <p:nvPr/>
        </p:nvPicPr>
        <p:blipFill>
          <a:blip r:embed="rId2"/>
          <a:stretch>
            <a:fillRect/>
          </a:stretch>
        </p:blipFill>
        <p:spPr>
          <a:xfrm>
            <a:off x="847471" y="2044700"/>
            <a:ext cx="10497056" cy="3365500"/>
          </a:xfrm>
          <a:prstGeom prst="rect">
            <a:avLst/>
          </a:prstGeom>
        </p:spPr>
      </p:pic>
      <p:sp>
        <p:nvSpPr>
          <p:cNvPr id="10" name="TextBox 9"/>
          <p:cNvSpPr txBox="1"/>
          <p:nvPr/>
        </p:nvSpPr>
        <p:spPr>
          <a:xfrm>
            <a:off x="558800" y="6553200"/>
            <a:ext cx="10604500" cy="215900"/>
          </a:xfrm>
          <a:prstGeom prst="rect">
            <a:avLst/>
          </a:prstGeom>
          <a:noFill/>
        </p:spPr>
        <p:txBody>
          <a:bodyPr wrap="none" lIns="0" tIns="0">
            <a:spAutoFit/>
          </a:bodyPr>
          <a:lstStyle/>
          <a:p>
            <a:pPr>
              <a:defRPr sz="900">
                <a:solidFill>
                  <a:srgbClr val="617487"/>
                </a:solidFill>
                <a:latin typeface="DejaVu Sans"/>
              </a:defRPr>
            </a:pPr>
            <a:r>
              <a:t>fresh_rt_spatial/gamma_summary.csv · 6 drops, 2/2/2 split; 24 test sectors</a:t>
            </a:r>
          </a:p>
        </p:txBody>
      </p:sp>
      <p:sp>
        <p:nvSpPr>
          <p:cNvPr id="11" name="TextBox 10"/>
          <p:cNvSpPr txBox="1"/>
          <p:nvPr/>
        </p:nvSpPr>
        <p:spPr>
          <a:xfrm>
            <a:off x="11239500" y="6553200"/>
            <a:ext cx="825500" cy="215900"/>
          </a:xfrm>
          <a:prstGeom prst="rect">
            <a:avLst/>
          </a:prstGeom>
          <a:noFill/>
        </p:spPr>
        <p:txBody>
          <a:bodyPr wrap="none" lIns="0" tIns="0">
            <a:spAutoFit/>
          </a:bodyPr>
          <a:lstStyle/>
          <a:p>
            <a:pPr>
              <a:defRPr sz="900">
                <a:solidFill>
                  <a:srgbClr val="617487"/>
                </a:solidFill>
                <a:latin typeface="DejaVu Sans"/>
              </a:defRPr>
            </a:pPr>
            <a:r>
              <a:t>22 / 30</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58800" y="304800"/>
            <a:ext cx="10795000" cy="264922"/>
          </a:xfrm>
          <a:prstGeom prst="rect">
            <a:avLst/>
          </a:prstGeom>
          <a:noFill/>
        </p:spPr>
        <p:txBody>
          <a:bodyPr wrap="none" lIns="0" rIns="0" tIns="0" bIns="0">
            <a:spAutoFit/>
          </a:bodyPr>
          <a:lstStyle/>
          <a:p>
            <a:pPr>
              <a:lnSpc>
                <a:spcPts val="1586"/>
              </a:lnSpc>
              <a:spcBef>
                <a:spcPts val="0"/>
              </a:spcBef>
              <a:spcAft>
                <a:spcPts val="0"/>
              </a:spcAft>
              <a:defRPr sz="1300" b="1">
                <a:solidFill>
                  <a:srgbClr val="087F8C"/>
                </a:solidFill>
                <a:latin typeface="DejaVu Sans"/>
              </a:defRPr>
            </a:pPr>
            <a:r>
              <a:t>RESULTS · CAUSAL ARRIVAL DIAGNOSTIC</a:t>
            </a:r>
          </a:p>
        </p:txBody>
      </p:sp>
      <p:sp>
        <p:nvSpPr>
          <p:cNvPr id="4" name="TextBox 3"/>
          <p:cNvSpPr txBox="1"/>
          <p:nvPr/>
        </p:nvSpPr>
        <p:spPr>
          <a:xfrm>
            <a:off x="558800" y="673100"/>
            <a:ext cx="11150600" cy="448556"/>
          </a:xfrm>
          <a:prstGeom prst="rect">
            <a:avLst/>
          </a:prstGeom>
          <a:noFill/>
        </p:spPr>
        <p:txBody>
          <a:bodyPr wrap="none" lIns="0" rIns="0" tIns="0" bIns="0">
            <a:spAutoFit/>
          </a:bodyPr>
          <a:lstStyle/>
          <a:p>
            <a:pPr>
              <a:lnSpc>
                <a:spcPts val="3031"/>
              </a:lnSpc>
              <a:spcBef>
                <a:spcPts val="0"/>
              </a:spcBef>
              <a:spcAft>
                <a:spcPts val="0"/>
              </a:spcAft>
              <a:defRPr sz="2485" b="1">
                <a:solidFill>
                  <a:srgbClr val="152C46"/>
                </a:solidFill>
                <a:latin typeface="DejaVu Sans"/>
              </a:defRPr>
            </a:pPr>
            <a:r>
              <a:t>Unknown arrivals expose the gap before usable information</a:t>
            </a:r>
          </a:p>
        </p:txBody>
      </p:sp>
      <p:sp>
        <p:nvSpPr>
          <p:cNvPr id="5" name="Rectangle 4"/>
          <p:cNvSpPr/>
          <p:nvPr/>
        </p:nvSpPr>
        <p:spPr>
          <a:xfrm>
            <a:off x="558800" y="1320800"/>
            <a:ext cx="698500" cy="50800"/>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58800" y="5765800"/>
            <a:ext cx="11074400" cy="584200"/>
          </a:xfrm>
          <a:prstGeom prst="roundRect">
            <a:avLst>
              <a:gd name="adj" fmla="val 8000"/>
            </a:avLst>
          </a:prstGeom>
          <a:solidFill>
            <a:srgbClr val="E5F3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62000" y="5905500"/>
            <a:ext cx="10693400" cy="590296"/>
          </a:xfrm>
          <a:prstGeom prst="rect">
            <a:avLst/>
          </a:prstGeom>
          <a:noFill/>
        </p:spPr>
        <p:txBody>
          <a:bodyPr wrap="none" lIns="0" rIns="0" tIns="0" bIns="0">
            <a:spAutoFit/>
          </a:bodyPr>
          <a:lstStyle/>
          <a:p>
            <a:pPr>
              <a:lnSpc>
                <a:spcPts val="2074"/>
              </a:lnSpc>
              <a:spcBef>
                <a:spcPts val="0"/>
              </a:spcBef>
              <a:spcAft>
                <a:spcPts val="0"/>
              </a:spcAft>
              <a:defRPr sz="1700" b="1">
                <a:solidFill>
                  <a:srgbClr val="152C46"/>
                </a:solidFill>
                <a:latin typeface="DejaVu Sans"/>
              </a:defRPr>
            </a:pPr>
            <a:r>
              <a:t>UL-silent arrivals require prior coverage; delayed discovery cannot protect the unseen</a:t>
            </a:r>
          </a:p>
          <a:p>
            <a:pPr>
              <a:lnSpc>
                <a:spcPts val="2074"/>
              </a:lnSpc>
              <a:spcBef>
                <a:spcPts val="0"/>
              </a:spcBef>
              <a:spcAft>
                <a:spcPts val="0"/>
              </a:spcAft>
              <a:defRPr sz="1700" b="1">
                <a:solidFill>
                  <a:srgbClr val="152C46"/>
                </a:solidFill>
                <a:latin typeface="DejaVu Sans"/>
              </a:defRPr>
            </a:pPr>
            <a:r>
              <a:t>past.</a:t>
            </a:r>
          </a:p>
        </p:txBody>
      </p:sp>
      <p:pic>
        <p:nvPicPr>
          <p:cNvPr id="8" name="Picture 7" descr="arrival.png"/>
          <p:cNvPicPr>
            <a:picLocks noChangeAspect="1"/>
          </p:cNvPicPr>
          <p:nvPr/>
        </p:nvPicPr>
        <p:blipFill>
          <a:blip r:embed="rId2"/>
          <a:stretch>
            <a:fillRect/>
          </a:stretch>
        </p:blipFill>
        <p:spPr>
          <a:xfrm>
            <a:off x="1674446" y="1727200"/>
            <a:ext cx="8855807" cy="3111500"/>
          </a:xfrm>
          <a:prstGeom prst="rect">
            <a:avLst/>
          </a:prstGeom>
        </p:spPr>
      </p:pic>
      <p:sp>
        <p:nvSpPr>
          <p:cNvPr id="9" name="TextBox 8"/>
          <p:cNvSpPr txBox="1"/>
          <p:nvPr/>
        </p:nvSpPr>
        <p:spPr>
          <a:xfrm>
            <a:off x="711200" y="4826000"/>
            <a:ext cx="10782300" cy="559308"/>
          </a:xfrm>
          <a:prstGeom prst="rect">
            <a:avLst/>
          </a:prstGeom>
          <a:noFill/>
        </p:spPr>
        <p:txBody>
          <a:bodyPr wrap="none" lIns="0" rIns="0" tIns="0" bIns="0">
            <a:spAutoFit/>
          </a:bodyPr>
          <a:lstStyle/>
          <a:p>
            <a:pPr>
              <a:lnSpc>
                <a:spcPts val="1952"/>
              </a:lnSpc>
              <a:spcBef>
                <a:spcPts val="0"/>
              </a:spcBef>
              <a:spcAft>
                <a:spcPts val="0"/>
              </a:spcAft>
              <a:defRPr sz="1600" b="0">
                <a:solidFill>
                  <a:srgbClr val="263A50"/>
                </a:solidFill>
                <a:latin typeface="DejaVu Sans"/>
              </a:defRPr>
            </a:pPr>
            <a:r>
              <a:t>Only released detections reach the controller.</a:t>
            </a:r>
          </a:p>
          <a:p>
            <a:pPr>
              <a:lnSpc>
                <a:spcPts val="1952"/>
              </a:lnSpc>
              <a:spcBef>
                <a:spcPts val="0"/>
              </a:spcBef>
              <a:spcAft>
                <a:spcPts val="0"/>
              </a:spcAft>
              <a:defRPr sz="1600" b="0">
                <a:solidFill>
                  <a:srgbClr val="263A50"/>
                </a:solidFill>
                <a:latin typeface="DejaVu Sans"/>
              </a:defRPr>
            </a:pPr>
            <a:r>
              <a:t>UL-active case: detection 67.5%; observed exceedance after protection activates = 0.</a:t>
            </a:r>
          </a:p>
        </p:txBody>
      </p:sp>
      <p:sp>
        <p:nvSpPr>
          <p:cNvPr id="10" name="TextBox 9"/>
          <p:cNvSpPr txBox="1"/>
          <p:nvPr/>
        </p:nvSpPr>
        <p:spPr>
          <a:xfrm>
            <a:off x="711200" y="5410200"/>
            <a:ext cx="10782300" cy="280416"/>
          </a:xfrm>
          <a:prstGeom prst="rect">
            <a:avLst/>
          </a:prstGeom>
          <a:noFill/>
        </p:spPr>
        <p:txBody>
          <a:bodyPr wrap="none" lIns="0" rIns="0" tIns="0" bIns="0">
            <a:spAutoFit/>
          </a:bodyPr>
          <a:lstStyle/>
          <a:p>
            <a:pPr>
              <a:lnSpc>
                <a:spcPts val="1707"/>
              </a:lnSpc>
              <a:spcBef>
                <a:spcPts val="0"/>
              </a:spcBef>
              <a:spcAft>
                <a:spcPts val="0"/>
              </a:spcAft>
              <a:defRPr sz="1400" b="1">
                <a:solidFill>
                  <a:srgbClr val="BC4B51"/>
                </a:solidFill>
                <a:latin typeface="DejaVu Sans"/>
              </a:defRPr>
            </a:pPr>
            <a:r>
              <a:t>Fixed diagnostics violate the main TN QoS budget; these are not optimized J policies.</a:t>
            </a:r>
          </a:p>
        </p:txBody>
      </p:sp>
      <p:sp>
        <p:nvSpPr>
          <p:cNvPr id="11" name="TextBox 10"/>
          <p:cNvSpPr txBox="1"/>
          <p:nvPr/>
        </p:nvSpPr>
        <p:spPr>
          <a:xfrm>
            <a:off x="558800" y="6553200"/>
            <a:ext cx="10604500" cy="215900"/>
          </a:xfrm>
          <a:prstGeom prst="rect">
            <a:avLst/>
          </a:prstGeom>
          <a:noFill/>
        </p:spPr>
        <p:txBody>
          <a:bodyPr wrap="none" lIns="0" tIns="0">
            <a:spAutoFit/>
          </a:bodyPr>
          <a:lstStyle/>
          <a:p>
            <a:pPr>
              <a:defRPr sz="900">
                <a:solidFill>
                  <a:srgbClr val="617487"/>
                </a:solidFill>
                <a:latin typeface="DejaVu Sans"/>
              </a:defRPr>
            </a:pPr>
            <a:r>
              <a:t>E8/random_arrival/summary.csv · fixed policies, 400 paired episodes per case</a:t>
            </a:r>
          </a:p>
        </p:txBody>
      </p:sp>
      <p:sp>
        <p:nvSpPr>
          <p:cNvPr id="12" name="TextBox 11"/>
          <p:cNvSpPr txBox="1"/>
          <p:nvPr/>
        </p:nvSpPr>
        <p:spPr>
          <a:xfrm>
            <a:off x="11239500" y="6553200"/>
            <a:ext cx="825500" cy="215900"/>
          </a:xfrm>
          <a:prstGeom prst="rect">
            <a:avLst/>
          </a:prstGeom>
          <a:noFill/>
        </p:spPr>
        <p:txBody>
          <a:bodyPr wrap="none" lIns="0" tIns="0">
            <a:spAutoFit/>
          </a:bodyPr>
          <a:lstStyle/>
          <a:p>
            <a:pPr>
              <a:defRPr sz="900">
                <a:solidFill>
                  <a:srgbClr val="617487"/>
                </a:solidFill>
                <a:latin typeface="DejaVu Sans"/>
              </a:defRPr>
            </a:pPr>
            <a:r>
              <a:t>23 / 30</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58800" y="304800"/>
            <a:ext cx="10795000" cy="264922"/>
          </a:xfrm>
          <a:prstGeom prst="rect">
            <a:avLst/>
          </a:prstGeom>
          <a:noFill/>
        </p:spPr>
        <p:txBody>
          <a:bodyPr wrap="none" lIns="0" rIns="0" tIns="0" bIns="0">
            <a:spAutoFit/>
          </a:bodyPr>
          <a:lstStyle/>
          <a:p>
            <a:pPr>
              <a:lnSpc>
                <a:spcPts val="1586"/>
              </a:lnSpc>
              <a:spcBef>
                <a:spcPts val="0"/>
              </a:spcBef>
              <a:spcAft>
                <a:spcPts val="0"/>
              </a:spcAft>
              <a:defRPr sz="1300" b="1">
                <a:solidFill>
                  <a:srgbClr val="087F8C"/>
                </a:solidFill>
                <a:latin typeface="DejaVu Sans"/>
              </a:defRPr>
            </a:pPr>
            <a:r>
              <a:t>RESULTS · CORRELATION DIAGNOSTIC</a:t>
            </a:r>
          </a:p>
        </p:txBody>
      </p:sp>
      <p:sp>
        <p:nvSpPr>
          <p:cNvPr id="4" name="TextBox 3"/>
          <p:cNvSpPr txBox="1"/>
          <p:nvPr/>
        </p:nvSpPr>
        <p:spPr>
          <a:xfrm>
            <a:off x="558800" y="673100"/>
            <a:ext cx="11150600" cy="424459"/>
          </a:xfrm>
          <a:prstGeom prst="rect">
            <a:avLst/>
          </a:prstGeom>
          <a:noFill/>
        </p:spPr>
        <p:txBody>
          <a:bodyPr wrap="none" lIns="0" rIns="0" tIns="0" bIns="0">
            <a:spAutoFit/>
          </a:bodyPr>
          <a:lstStyle/>
          <a:p>
            <a:pPr>
              <a:lnSpc>
                <a:spcPts val="2842"/>
              </a:lnSpc>
              <a:spcBef>
                <a:spcPts val="0"/>
              </a:spcBef>
              <a:spcAft>
                <a:spcPts val="0"/>
              </a:spcAft>
              <a:defRPr sz="2329" b="1">
                <a:solidFill>
                  <a:srgbClr val="152C46"/>
                </a:solidFill>
                <a:latin typeface="DejaVu Sans"/>
              </a:defRPr>
            </a:pPr>
            <a:r>
              <a:t>Repeated observations now genuinely test temporal correlation</a:t>
            </a:r>
          </a:p>
        </p:txBody>
      </p:sp>
      <p:sp>
        <p:nvSpPr>
          <p:cNvPr id="5" name="Rectangle 4"/>
          <p:cNvSpPr/>
          <p:nvPr/>
        </p:nvSpPr>
        <p:spPr>
          <a:xfrm>
            <a:off x="558800" y="1320800"/>
            <a:ext cx="698500" cy="50800"/>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58800" y="5765800"/>
            <a:ext cx="11074400" cy="584200"/>
          </a:xfrm>
          <a:prstGeom prst="roundRect">
            <a:avLst>
              <a:gd name="adj" fmla="val 8000"/>
            </a:avLst>
          </a:prstGeom>
          <a:solidFill>
            <a:srgbClr val="E5F3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62000" y="5905500"/>
            <a:ext cx="10693400" cy="590296"/>
          </a:xfrm>
          <a:prstGeom prst="rect">
            <a:avLst/>
          </a:prstGeom>
          <a:noFill/>
        </p:spPr>
        <p:txBody>
          <a:bodyPr wrap="none" lIns="0" rIns="0" tIns="0" bIns="0">
            <a:spAutoFit/>
          </a:bodyPr>
          <a:lstStyle/>
          <a:p>
            <a:pPr>
              <a:lnSpc>
                <a:spcPts val="2074"/>
              </a:lnSpc>
              <a:spcBef>
                <a:spcPts val="0"/>
              </a:spcBef>
              <a:spcAft>
                <a:spcPts val="0"/>
              </a:spcAft>
              <a:defRPr sz="1700" b="1">
                <a:solidFill>
                  <a:srgbClr val="152C46"/>
                </a:solidFill>
                <a:latin typeface="DejaVu Sans"/>
              </a:defRPr>
            </a:pPr>
            <a:r>
              <a:t>Correlation is present; this run does not show a statistically significant performance</a:t>
            </a:r>
          </a:p>
          <a:p>
            <a:pPr>
              <a:lnSpc>
                <a:spcPts val="2074"/>
              </a:lnSpc>
              <a:spcBef>
                <a:spcPts val="0"/>
              </a:spcBef>
              <a:spcAft>
                <a:spcPts val="0"/>
              </a:spcAft>
              <a:defRPr sz="1700" b="1">
                <a:solidFill>
                  <a:srgbClr val="152C46"/>
                </a:solidFill>
                <a:latin typeface="DejaVu Sans"/>
              </a:defRPr>
            </a:pPr>
            <a:r>
              <a:t>loss.</a:t>
            </a:r>
          </a:p>
        </p:txBody>
      </p:sp>
      <p:pic>
        <p:nvPicPr>
          <p:cNvPr id="8" name="Picture 7" descr="correlation.png"/>
          <p:cNvPicPr>
            <a:picLocks noChangeAspect="1"/>
          </p:cNvPicPr>
          <p:nvPr/>
        </p:nvPicPr>
        <p:blipFill>
          <a:blip r:embed="rId2"/>
          <a:stretch>
            <a:fillRect/>
          </a:stretch>
        </p:blipFill>
        <p:spPr>
          <a:xfrm>
            <a:off x="869181" y="1816100"/>
            <a:ext cx="10466337" cy="3314700"/>
          </a:xfrm>
          <a:prstGeom prst="rect">
            <a:avLst/>
          </a:prstGeom>
        </p:spPr>
      </p:pic>
      <p:sp>
        <p:nvSpPr>
          <p:cNvPr id="9" name="TextBox 8"/>
          <p:cNvSpPr txBox="1"/>
          <p:nvPr/>
        </p:nvSpPr>
        <p:spPr>
          <a:xfrm>
            <a:off x="673100" y="5194300"/>
            <a:ext cx="10871200" cy="559308"/>
          </a:xfrm>
          <a:prstGeom prst="rect">
            <a:avLst/>
          </a:prstGeom>
          <a:noFill/>
        </p:spPr>
        <p:txBody>
          <a:bodyPr wrap="none" lIns="0" rIns="0" tIns="0" bIns="0">
            <a:spAutoFit/>
          </a:bodyPr>
          <a:lstStyle/>
          <a:p>
            <a:pPr>
              <a:lnSpc>
                <a:spcPts val="1952"/>
              </a:lnSpc>
              <a:spcBef>
                <a:spcPts val="0"/>
              </a:spcBef>
              <a:spcAft>
                <a:spcPts val="0"/>
              </a:spcAft>
              <a:defRPr sz="1600" b="0">
                <a:solidFill>
                  <a:srgbClr val="BC4B51"/>
                </a:solidFill>
                <a:latin typeface="DejaVu Sans"/>
              </a:defRPr>
            </a:pPr>
            <a:r>
              <a:t>Every path executes two listens. The fixed diagnostic violates the main TN budget;</a:t>
            </a:r>
          </a:p>
          <a:p>
            <a:pPr>
              <a:lnSpc>
                <a:spcPts val="1952"/>
              </a:lnSpc>
              <a:spcBef>
                <a:spcPts val="0"/>
              </a:spcBef>
              <a:spcAft>
                <a:spcPts val="0"/>
              </a:spcAft>
              <a:defRPr sz="1600" b="0">
                <a:solidFill>
                  <a:srgbClr val="BC4B51"/>
                </a:solidFill>
                <a:latin typeface="DejaVu Sans"/>
              </a:defRPr>
            </a:pPr>
            <a:r>
              <a:t>it tests the observation mechanism, not a feasible optimized-J service gain.</a:t>
            </a:r>
          </a:p>
        </p:txBody>
      </p:sp>
      <p:sp>
        <p:nvSpPr>
          <p:cNvPr id="10" name="TextBox 9"/>
          <p:cNvSpPr txBox="1"/>
          <p:nvPr/>
        </p:nvSpPr>
        <p:spPr>
          <a:xfrm>
            <a:off x="558800" y="6553200"/>
            <a:ext cx="10604500" cy="215900"/>
          </a:xfrm>
          <a:prstGeom prst="rect">
            <a:avLst/>
          </a:prstGeom>
          <a:noFill/>
        </p:spPr>
        <p:txBody>
          <a:bodyPr wrap="none" lIns="0" tIns="0">
            <a:spAutoFit/>
          </a:bodyPr>
          <a:lstStyle/>
          <a:p>
            <a:pPr>
              <a:defRPr sz="900">
                <a:solidFill>
                  <a:srgbClr val="617487"/>
                </a:solidFill>
                <a:latin typeface="DejaVu Sans"/>
              </a:defRPr>
            </a:pPr>
            <a:r>
              <a:t>E8/repeated_observation/summary.json · fixed two-listen policy, 400 paired episodes</a:t>
            </a:r>
          </a:p>
        </p:txBody>
      </p:sp>
      <p:sp>
        <p:nvSpPr>
          <p:cNvPr id="11" name="TextBox 10"/>
          <p:cNvSpPr txBox="1"/>
          <p:nvPr/>
        </p:nvSpPr>
        <p:spPr>
          <a:xfrm>
            <a:off x="11239500" y="6553200"/>
            <a:ext cx="825500" cy="215900"/>
          </a:xfrm>
          <a:prstGeom prst="rect">
            <a:avLst/>
          </a:prstGeom>
          <a:noFill/>
        </p:spPr>
        <p:txBody>
          <a:bodyPr wrap="none" lIns="0" tIns="0">
            <a:spAutoFit/>
          </a:bodyPr>
          <a:lstStyle/>
          <a:p>
            <a:pPr>
              <a:defRPr sz="900">
                <a:solidFill>
                  <a:srgbClr val="617487"/>
                </a:solidFill>
                <a:latin typeface="DejaVu Sans"/>
              </a:defRPr>
            </a:pPr>
            <a:r>
              <a:t>24 / 30</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58800" y="304800"/>
            <a:ext cx="10795000" cy="264922"/>
          </a:xfrm>
          <a:prstGeom prst="rect">
            <a:avLst/>
          </a:prstGeom>
          <a:noFill/>
        </p:spPr>
        <p:txBody>
          <a:bodyPr wrap="none" lIns="0" rIns="0" tIns="0" bIns="0">
            <a:spAutoFit/>
          </a:bodyPr>
          <a:lstStyle/>
          <a:p>
            <a:pPr>
              <a:lnSpc>
                <a:spcPts val="1586"/>
              </a:lnSpc>
              <a:spcBef>
                <a:spcPts val="0"/>
              </a:spcBef>
              <a:spcAft>
                <a:spcPts val="0"/>
              </a:spcAft>
              <a:defRPr sz="1300" b="1">
                <a:solidFill>
                  <a:srgbClr val="087F8C"/>
                </a:solidFill>
                <a:latin typeface="DejaVu Sans"/>
              </a:defRPr>
            </a:pPr>
            <a:r>
              <a:t>TAKEAWAYS</a:t>
            </a:r>
          </a:p>
        </p:txBody>
      </p:sp>
      <p:sp>
        <p:nvSpPr>
          <p:cNvPr id="4" name="TextBox 3"/>
          <p:cNvSpPr txBox="1"/>
          <p:nvPr/>
        </p:nvSpPr>
        <p:spPr>
          <a:xfrm>
            <a:off x="558800" y="673100"/>
            <a:ext cx="11150600" cy="428663"/>
          </a:xfrm>
          <a:prstGeom prst="rect">
            <a:avLst/>
          </a:prstGeom>
          <a:noFill/>
        </p:spPr>
        <p:txBody>
          <a:bodyPr wrap="none" lIns="0" rIns="0" tIns="0" bIns="0">
            <a:spAutoFit/>
          </a:bodyPr>
          <a:lstStyle/>
          <a:p>
            <a:pPr>
              <a:lnSpc>
                <a:spcPts val="2875"/>
              </a:lnSpc>
              <a:spcBef>
                <a:spcPts val="0"/>
              </a:spcBef>
              <a:spcAft>
                <a:spcPts val="0"/>
              </a:spcAft>
              <a:defRPr sz="2356" b="1">
                <a:solidFill>
                  <a:srgbClr val="152C46"/>
                </a:solidFill>
                <a:latin typeface="DejaVu Sans"/>
              </a:defRPr>
            </a:pPr>
            <a:r>
              <a:t>The contribution is a causal connection from sensing to service</a:t>
            </a:r>
          </a:p>
        </p:txBody>
      </p:sp>
      <p:sp>
        <p:nvSpPr>
          <p:cNvPr id="5" name="Rectangle 4"/>
          <p:cNvSpPr/>
          <p:nvPr/>
        </p:nvSpPr>
        <p:spPr>
          <a:xfrm>
            <a:off x="558800" y="1320800"/>
            <a:ext cx="698500" cy="50800"/>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58800" y="1765300"/>
            <a:ext cx="11074400" cy="1041400"/>
          </a:xfrm>
          <a:prstGeom prst="roundRect">
            <a:avLst>
              <a:gd name="adj" fmla="val 8000"/>
            </a:avLst>
          </a:prstGeom>
          <a:solidFill>
            <a:srgbClr val="E5F3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87400" y="1981200"/>
            <a:ext cx="10617200" cy="388874"/>
          </a:xfrm>
          <a:prstGeom prst="rect">
            <a:avLst/>
          </a:prstGeom>
          <a:noFill/>
        </p:spPr>
        <p:txBody>
          <a:bodyPr wrap="none" lIns="0" rIns="0" tIns="0" bIns="0">
            <a:spAutoFit/>
          </a:bodyPr>
          <a:lstStyle/>
          <a:p>
            <a:pPr>
              <a:lnSpc>
                <a:spcPts val="2562"/>
              </a:lnSpc>
              <a:spcBef>
                <a:spcPts val="0"/>
              </a:spcBef>
              <a:spcAft>
                <a:spcPts val="0"/>
              </a:spcAft>
              <a:defRPr sz="2100" b="1">
                <a:solidFill>
                  <a:srgbClr val="087F8C"/>
                </a:solidFill>
                <a:latin typeface="DejaVu Sans"/>
              </a:defRPr>
            </a:pPr>
            <a:r>
              <a:t>One channel-set model</a:t>
            </a:r>
          </a:p>
        </p:txBody>
      </p:sp>
      <p:sp>
        <p:nvSpPr>
          <p:cNvPr id="8" name="TextBox 7"/>
          <p:cNvSpPr txBox="1"/>
          <p:nvPr/>
        </p:nvSpPr>
        <p:spPr>
          <a:xfrm>
            <a:off x="787400" y="2451100"/>
            <a:ext cx="10617200" cy="342392"/>
          </a:xfrm>
          <a:prstGeom prst="rect">
            <a:avLst/>
          </a:prstGeom>
          <a:noFill/>
        </p:spPr>
        <p:txBody>
          <a:bodyPr wrap="none" lIns="0" rIns="0" tIns="0" bIns="0">
            <a:spAutoFit/>
          </a:bodyPr>
          <a:lstStyle/>
          <a:p>
            <a:pPr>
              <a:lnSpc>
                <a:spcPts val="2196"/>
              </a:lnSpc>
              <a:spcBef>
                <a:spcPts val="0"/>
              </a:spcBef>
              <a:spcAft>
                <a:spcPts val="0"/>
              </a:spcAft>
              <a:defRPr sz="1800" b="0">
                <a:solidFill>
                  <a:srgbClr val="263A50"/>
                </a:solidFill>
                <a:latin typeface="DejaVu Sans"/>
              </a:defRPr>
            </a:pPr>
            <a:r>
              <a:t>Single paths, coherent multipath and background uncertainty share a robust constraint.</a:t>
            </a:r>
          </a:p>
        </p:txBody>
      </p:sp>
      <p:sp>
        <p:nvSpPr>
          <p:cNvPr id="9" name="Rounded Rectangle 8"/>
          <p:cNvSpPr/>
          <p:nvPr/>
        </p:nvSpPr>
        <p:spPr>
          <a:xfrm>
            <a:off x="558800" y="2997200"/>
            <a:ext cx="11074400" cy="1041400"/>
          </a:xfrm>
          <a:prstGeom prst="roundRect">
            <a:avLst>
              <a:gd name="adj" fmla="val 8000"/>
            </a:avLst>
          </a:prstGeom>
          <a:solidFill>
            <a:srgbClr val="EF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87400" y="3213100"/>
            <a:ext cx="10617200" cy="388874"/>
          </a:xfrm>
          <a:prstGeom prst="rect">
            <a:avLst/>
          </a:prstGeom>
          <a:noFill/>
        </p:spPr>
        <p:txBody>
          <a:bodyPr wrap="none" lIns="0" rIns="0" tIns="0" bIns="0">
            <a:spAutoFit/>
          </a:bodyPr>
          <a:lstStyle/>
          <a:p>
            <a:pPr>
              <a:lnSpc>
                <a:spcPts val="2562"/>
              </a:lnSpc>
              <a:spcBef>
                <a:spcPts val="0"/>
              </a:spcBef>
              <a:spcAft>
                <a:spcPts val="0"/>
              </a:spcAft>
              <a:defRPr sz="2100" b="1">
                <a:solidFill>
                  <a:srgbClr val="087F8C"/>
                </a:solidFill>
                <a:latin typeface="DejaVu Sans"/>
              </a:defRPr>
            </a:pPr>
            <a:r>
              <a:t>One structured optimization</a:t>
            </a:r>
          </a:p>
        </p:txBody>
      </p:sp>
      <p:sp>
        <p:nvSpPr>
          <p:cNvPr id="11" name="TextBox 10"/>
          <p:cNvSpPr txBox="1"/>
          <p:nvPr/>
        </p:nvSpPr>
        <p:spPr>
          <a:xfrm>
            <a:off x="787400" y="3683000"/>
            <a:ext cx="10617200" cy="342392"/>
          </a:xfrm>
          <a:prstGeom prst="rect">
            <a:avLst/>
          </a:prstGeom>
          <a:noFill/>
        </p:spPr>
        <p:txBody>
          <a:bodyPr wrap="none" lIns="0" rIns="0" tIns="0" bIns="0">
            <a:spAutoFit/>
          </a:bodyPr>
          <a:lstStyle/>
          <a:p>
            <a:pPr>
              <a:lnSpc>
                <a:spcPts val="2196"/>
              </a:lnSpc>
              <a:spcBef>
                <a:spcPts val="0"/>
              </a:spcBef>
              <a:spcAft>
                <a:spcPts val="0"/>
              </a:spcAft>
              <a:defRPr sz="1800" b="0">
                <a:solidFill>
                  <a:srgbClr val="263A50"/>
                </a:solidFill>
                <a:latin typeface="DejaVu Sans"/>
              </a:defRPr>
            </a:pPr>
            <a:r>
              <a:t>SOCP supplies protected service values; an occupation LP chooses a causal policy.</a:t>
            </a:r>
          </a:p>
        </p:txBody>
      </p:sp>
      <p:sp>
        <p:nvSpPr>
          <p:cNvPr id="12" name="Rounded Rectangle 11"/>
          <p:cNvSpPr/>
          <p:nvPr/>
        </p:nvSpPr>
        <p:spPr>
          <a:xfrm>
            <a:off x="558800" y="4229100"/>
            <a:ext cx="11074400" cy="1282700"/>
          </a:xfrm>
          <a:prstGeom prst="roundRect">
            <a:avLst>
              <a:gd name="adj" fmla="val 8000"/>
            </a:avLst>
          </a:prstGeom>
          <a:solidFill>
            <a:srgbClr val="FFF3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87400" y="4445000"/>
            <a:ext cx="10617200" cy="388874"/>
          </a:xfrm>
          <a:prstGeom prst="rect">
            <a:avLst/>
          </a:prstGeom>
          <a:noFill/>
        </p:spPr>
        <p:txBody>
          <a:bodyPr wrap="none" lIns="0" rIns="0" tIns="0" bIns="0">
            <a:spAutoFit/>
          </a:bodyPr>
          <a:lstStyle/>
          <a:p>
            <a:pPr>
              <a:lnSpc>
                <a:spcPts val="2562"/>
              </a:lnSpc>
              <a:spcBef>
                <a:spcPts val="0"/>
              </a:spcBef>
              <a:spcAft>
                <a:spcPts val="0"/>
              </a:spcAft>
              <a:defRPr sz="2100" b="1">
                <a:solidFill>
                  <a:srgbClr val="087F8C"/>
                </a:solidFill>
                <a:latin typeface="DejaVu Sans"/>
              </a:defRPr>
            </a:pPr>
            <a:r>
              <a:t>One clear validation boundary</a:t>
            </a:r>
          </a:p>
        </p:txBody>
      </p:sp>
      <p:sp>
        <p:nvSpPr>
          <p:cNvPr id="14" name="TextBox 13"/>
          <p:cNvSpPr txBox="1"/>
          <p:nvPr/>
        </p:nvSpPr>
        <p:spPr>
          <a:xfrm>
            <a:off x="787400" y="4914900"/>
            <a:ext cx="10617200" cy="621284"/>
          </a:xfrm>
          <a:prstGeom prst="rect">
            <a:avLst/>
          </a:prstGeom>
          <a:noFill/>
        </p:spPr>
        <p:txBody>
          <a:bodyPr wrap="none" lIns="0" rIns="0" tIns="0" bIns="0">
            <a:spAutoFit/>
          </a:bodyPr>
          <a:lstStyle/>
          <a:p>
            <a:pPr>
              <a:lnSpc>
                <a:spcPts val="2196"/>
              </a:lnSpc>
              <a:spcBef>
                <a:spcPts val="0"/>
              </a:spcBef>
              <a:spcAft>
                <a:spcPts val="0"/>
              </a:spcAft>
              <a:defRPr sz="1800" b="0">
                <a:solidFill>
                  <a:srgbClr val="263A50"/>
                </a:solidFill>
                <a:latin typeface="DejaVu Sans"/>
              </a:defRPr>
            </a:pPr>
            <a:r>
              <a:t>Finite-model optimality is established conditionally; physical dynamic calibration remains to</a:t>
            </a:r>
          </a:p>
          <a:p>
            <a:pPr>
              <a:lnSpc>
                <a:spcPts val="2196"/>
              </a:lnSpc>
              <a:spcBef>
                <a:spcPts val="0"/>
              </a:spcBef>
              <a:spcAft>
                <a:spcPts val="0"/>
              </a:spcAft>
              <a:defRPr sz="1800" b="0">
                <a:solidFill>
                  <a:srgbClr val="263A50"/>
                </a:solidFill>
                <a:latin typeface="DejaVu Sans"/>
              </a:defRPr>
            </a:pPr>
            <a:r>
              <a:t>be built.</a:t>
            </a:r>
          </a:p>
        </p:txBody>
      </p:sp>
      <p:sp>
        <p:nvSpPr>
          <p:cNvPr id="15" name="TextBox 14"/>
          <p:cNvSpPr txBox="1"/>
          <p:nvPr/>
        </p:nvSpPr>
        <p:spPr>
          <a:xfrm>
            <a:off x="558800" y="6553200"/>
            <a:ext cx="10604500" cy="215900"/>
          </a:xfrm>
          <a:prstGeom prst="rect">
            <a:avLst/>
          </a:prstGeom>
          <a:noFill/>
        </p:spPr>
        <p:txBody>
          <a:bodyPr wrap="none" lIns="0" tIns="0">
            <a:spAutoFit/>
          </a:bodyPr>
          <a:lstStyle/>
          <a:p>
            <a:pPr>
              <a:defRPr sz="900">
                <a:solidFill>
                  <a:srgbClr val="617487"/>
                </a:solidFill>
                <a:latin typeface="DejaVu Sans"/>
              </a:defRPr>
            </a:pPr>
            <a:r>
              <a:t>Appendix D + current implementation scope</a:t>
            </a:r>
          </a:p>
        </p:txBody>
      </p:sp>
      <p:sp>
        <p:nvSpPr>
          <p:cNvPr id="16" name="TextBox 15"/>
          <p:cNvSpPr txBox="1"/>
          <p:nvPr/>
        </p:nvSpPr>
        <p:spPr>
          <a:xfrm>
            <a:off x="11239500" y="6553200"/>
            <a:ext cx="825500" cy="215900"/>
          </a:xfrm>
          <a:prstGeom prst="rect">
            <a:avLst/>
          </a:prstGeom>
          <a:noFill/>
        </p:spPr>
        <p:txBody>
          <a:bodyPr wrap="none" lIns="0" tIns="0">
            <a:spAutoFit/>
          </a:bodyPr>
          <a:lstStyle/>
          <a:p>
            <a:pPr>
              <a:defRPr sz="900">
                <a:solidFill>
                  <a:srgbClr val="617487"/>
                </a:solidFill>
                <a:latin typeface="DejaVu Sans"/>
              </a:defRPr>
            </a:pPr>
            <a:r>
              <a:t>25 / 30</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58800" y="304800"/>
            <a:ext cx="10795000" cy="264922"/>
          </a:xfrm>
          <a:prstGeom prst="rect">
            <a:avLst/>
          </a:prstGeom>
          <a:noFill/>
        </p:spPr>
        <p:txBody>
          <a:bodyPr wrap="none" lIns="0" rIns="0" tIns="0" bIns="0">
            <a:spAutoFit/>
          </a:bodyPr>
          <a:lstStyle/>
          <a:p>
            <a:pPr>
              <a:lnSpc>
                <a:spcPts val="1586"/>
              </a:lnSpc>
              <a:spcBef>
                <a:spcPts val="0"/>
              </a:spcBef>
              <a:spcAft>
                <a:spcPts val="0"/>
              </a:spcAft>
              <a:defRPr sz="1300" b="1">
                <a:solidFill>
                  <a:srgbClr val="087F8C"/>
                </a:solidFill>
                <a:latin typeface="DejaVu Sans"/>
              </a:defRPr>
            </a:pPr>
            <a:r>
              <a:t>BACKUP · B</a:t>
            </a:r>
          </a:p>
        </p:txBody>
      </p:sp>
      <p:sp>
        <p:nvSpPr>
          <p:cNvPr id="4" name="TextBox 3"/>
          <p:cNvSpPr txBox="1"/>
          <p:nvPr/>
        </p:nvSpPr>
        <p:spPr>
          <a:xfrm>
            <a:off x="558800" y="673100"/>
            <a:ext cx="11150600" cy="514924"/>
          </a:xfrm>
          <a:prstGeom prst="rect">
            <a:avLst/>
          </a:prstGeom>
          <a:noFill/>
        </p:spPr>
        <p:txBody>
          <a:bodyPr wrap="none" lIns="0" rIns="0" tIns="0" bIns="0">
            <a:spAutoFit/>
          </a:bodyPr>
          <a:lstStyle/>
          <a:p>
            <a:pPr>
              <a:lnSpc>
                <a:spcPts val="3554"/>
              </a:lnSpc>
              <a:spcBef>
                <a:spcPts val="0"/>
              </a:spcBef>
              <a:spcAft>
                <a:spcPts val="0"/>
              </a:spcAft>
              <a:defRPr sz="2913" b="1">
                <a:solidFill>
                  <a:srgbClr val="152C46"/>
                </a:solidFill>
                <a:latin typeface="DejaVu Sans"/>
              </a:defRPr>
            </a:pPr>
            <a:r>
              <a:t>How listening quality enters the multipath residual</a:t>
            </a:r>
          </a:p>
        </p:txBody>
      </p:sp>
      <p:sp>
        <p:nvSpPr>
          <p:cNvPr id="5" name="Rectangle 4"/>
          <p:cNvSpPr/>
          <p:nvPr/>
        </p:nvSpPr>
        <p:spPr>
          <a:xfrm>
            <a:off x="558800" y="1320800"/>
            <a:ext cx="698500" cy="50800"/>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58800" y="5765800"/>
            <a:ext cx="11074400" cy="584200"/>
          </a:xfrm>
          <a:prstGeom prst="roundRect">
            <a:avLst>
              <a:gd name="adj" fmla="val 8000"/>
            </a:avLst>
          </a:prstGeom>
          <a:solidFill>
            <a:srgbClr val="E5F3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62000" y="5905500"/>
            <a:ext cx="10693400" cy="326898"/>
          </a:xfrm>
          <a:prstGeom prst="rect">
            <a:avLst/>
          </a:prstGeom>
          <a:noFill/>
        </p:spPr>
        <p:txBody>
          <a:bodyPr wrap="none" lIns="0" rIns="0" tIns="0" bIns="0">
            <a:spAutoFit/>
          </a:bodyPr>
          <a:lstStyle/>
          <a:p>
            <a:pPr>
              <a:lnSpc>
                <a:spcPts val="2074"/>
              </a:lnSpc>
              <a:spcBef>
                <a:spcPts val="0"/>
              </a:spcBef>
              <a:spcAft>
                <a:spcPts val="0"/>
              </a:spcAft>
              <a:defRPr sz="1700" b="1">
                <a:solidFill>
                  <a:srgbClr val="152C46"/>
                </a:solidFill>
                <a:latin typeface="DejaVu Sans"/>
              </a:defRPr>
            </a:pPr>
            <a:r>
              <a:t>Raw UL MUSIC weights do not certify protected-band gain or noise bounds.</a:t>
            </a:r>
          </a:p>
        </p:txBody>
      </p:sp>
      <p:pic>
        <p:nvPicPr>
          <p:cNvPr id="8" name="Picture 7" descr="eq_fdbb28ffbe7a4c2.png"/>
          <p:cNvPicPr>
            <a:picLocks noChangeAspect="1"/>
          </p:cNvPicPr>
          <p:nvPr/>
        </p:nvPicPr>
        <p:blipFill>
          <a:blip r:embed="rId2"/>
          <a:stretch>
            <a:fillRect/>
          </a:stretch>
        </p:blipFill>
        <p:spPr>
          <a:xfrm>
            <a:off x="3638856" y="1765300"/>
            <a:ext cx="4863486" cy="558800"/>
          </a:xfrm>
          <a:prstGeom prst="rect">
            <a:avLst/>
          </a:prstGeom>
        </p:spPr>
      </p:pic>
      <p:pic>
        <p:nvPicPr>
          <p:cNvPr id="9" name="Picture 8" descr="eq_90d413051b725aa.png"/>
          <p:cNvPicPr>
            <a:picLocks noChangeAspect="1"/>
          </p:cNvPicPr>
          <p:nvPr/>
        </p:nvPicPr>
        <p:blipFill>
          <a:blip r:embed="rId3"/>
          <a:stretch>
            <a:fillRect/>
          </a:stretch>
        </p:blipFill>
        <p:spPr>
          <a:xfrm>
            <a:off x="4395086" y="2590800"/>
            <a:ext cx="3389127" cy="647700"/>
          </a:xfrm>
          <a:prstGeom prst="rect">
            <a:avLst/>
          </a:prstGeom>
        </p:spPr>
      </p:pic>
      <p:pic>
        <p:nvPicPr>
          <p:cNvPr id="10" name="Picture 9" descr="eq_e2d786acc4cdcb0.png"/>
          <p:cNvPicPr>
            <a:picLocks noChangeAspect="1"/>
          </p:cNvPicPr>
          <p:nvPr/>
        </p:nvPicPr>
        <p:blipFill>
          <a:blip r:embed="rId4"/>
          <a:stretch>
            <a:fillRect/>
          </a:stretch>
        </p:blipFill>
        <p:spPr>
          <a:xfrm>
            <a:off x="1455369" y="3581400"/>
            <a:ext cx="9293961" cy="558800"/>
          </a:xfrm>
          <a:prstGeom prst="rect">
            <a:avLst/>
          </a:prstGeom>
        </p:spPr>
      </p:pic>
      <p:sp>
        <p:nvSpPr>
          <p:cNvPr id="11" name="TextBox 10"/>
          <p:cNvSpPr txBox="1"/>
          <p:nvPr/>
        </p:nvSpPr>
        <p:spPr>
          <a:xfrm>
            <a:off x="749300" y="4495800"/>
            <a:ext cx="10718800" cy="946657"/>
          </a:xfrm>
          <a:prstGeom prst="rect">
            <a:avLst/>
          </a:prstGeom>
          <a:noFill/>
        </p:spPr>
        <p:txBody>
          <a:bodyPr wrap="none" lIns="0" rIns="0" tIns="0" bIns="0">
            <a:spAutoFit/>
          </a:bodyPr>
          <a:lstStyle/>
          <a:p>
            <a:pPr>
              <a:lnSpc>
                <a:spcPts val="2318"/>
              </a:lnSpc>
              <a:spcBef>
                <a:spcPts val="0"/>
              </a:spcBef>
              <a:spcAft>
                <a:spcPts val="0"/>
              </a:spcAft>
              <a:defRPr sz="1900" b="0">
                <a:solidFill>
                  <a:srgbClr val="263A50"/>
                </a:solidFill>
                <a:latin typeface="DejaVu Sans"/>
              </a:defRPr>
            </a:pPr>
            <a:r>
              <a:t>Finite observation error + directional aging + calibration / multipath mismatch.</a:t>
            </a:r>
          </a:p>
          <a:p>
            <a:pPr>
              <a:lnSpc>
                <a:spcPts val="2318"/>
              </a:lnSpc>
              <a:spcBef>
                <a:spcPts val="0"/>
              </a:spcBef>
              <a:spcAft>
                <a:spcPts val="0"/>
              </a:spcAft>
              <a:defRPr sz="1900" b="0">
                <a:solidFill>
                  <a:srgbClr val="263A50"/>
                </a:solidFill>
                <a:latin typeface="DejaVu Sans"/>
              </a:defRPr>
            </a:pPr>
            <a:r>
              <a:t>Cᵣ requires path-power bounds or independent calibration: coherent cancellation</a:t>
            </a:r>
          </a:p>
          <a:p>
            <a:pPr>
              <a:lnSpc>
                <a:spcPts val="2318"/>
              </a:lnSpc>
              <a:spcBef>
                <a:spcPts val="0"/>
              </a:spcBef>
              <a:spcAft>
                <a:spcPts val="0"/>
              </a:spcAft>
              <a:defRPr sz="1900" b="0">
                <a:solidFill>
                  <a:srgbClr val="263A50"/>
                </a:solidFill>
                <a:latin typeface="DejaVu Sans"/>
              </a:defRPr>
            </a:pPr>
            <a:r>
              <a:t>can hide large path coefficients in a small total channel.</a:t>
            </a:r>
          </a:p>
        </p:txBody>
      </p:sp>
      <p:sp>
        <p:nvSpPr>
          <p:cNvPr id="12" name="TextBox 11"/>
          <p:cNvSpPr txBox="1"/>
          <p:nvPr/>
        </p:nvSpPr>
        <p:spPr>
          <a:xfrm>
            <a:off x="558800" y="6553200"/>
            <a:ext cx="10604500" cy="215900"/>
          </a:xfrm>
          <a:prstGeom prst="rect">
            <a:avLst/>
          </a:prstGeom>
          <a:noFill/>
        </p:spPr>
        <p:txBody>
          <a:bodyPr wrap="none" lIns="0" tIns="0">
            <a:spAutoFit/>
          </a:bodyPr>
          <a:lstStyle/>
          <a:p>
            <a:pPr>
              <a:defRPr sz="900">
                <a:solidFill>
                  <a:srgbClr val="617487"/>
                </a:solidFill>
                <a:latin typeface="DejaVu Sans"/>
              </a:defRPr>
            </a:pPr>
            <a:r>
              <a:t>Appendix D.B · eq:joint_error_envelope · eq:joint_multipath_radius</a:t>
            </a:r>
          </a:p>
        </p:txBody>
      </p:sp>
      <p:sp>
        <p:nvSpPr>
          <p:cNvPr id="13" name="TextBox 12"/>
          <p:cNvSpPr txBox="1"/>
          <p:nvPr/>
        </p:nvSpPr>
        <p:spPr>
          <a:xfrm>
            <a:off x="11239500" y="6553200"/>
            <a:ext cx="825500" cy="215900"/>
          </a:xfrm>
          <a:prstGeom prst="rect">
            <a:avLst/>
          </a:prstGeom>
          <a:noFill/>
        </p:spPr>
        <p:txBody>
          <a:bodyPr wrap="none" lIns="0" tIns="0">
            <a:spAutoFit/>
          </a:bodyPr>
          <a:lstStyle/>
          <a:p>
            <a:pPr>
              <a:defRPr sz="900">
                <a:solidFill>
                  <a:srgbClr val="617487"/>
                </a:solidFill>
                <a:latin typeface="DejaVu Sans"/>
              </a:defRPr>
            </a:pPr>
            <a:r>
              <a:t>26 / 30</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58800" y="304800"/>
            <a:ext cx="10795000" cy="264922"/>
          </a:xfrm>
          <a:prstGeom prst="rect">
            <a:avLst/>
          </a:prstGeom>
          <a:noFill/>
        </p:spPr>
        <p:txBody>
          <a:bodyPr wrap="none" lIns="0" rIns="0" tIns="0" bIns="0">
            <a:spAutoFit/>
          </a:bodyPr>
          <a:lstStyle/>
          <a:p>
            <a:pPr>
              <a:lnSpc>
                <a:spcPts val="1586"/>
              </a:lnSpc>
              <a:spcBef>
                <a:spcPts val="0"/>
              </a:spcBef>
              <a:spcAft>
                <a:spcPts val="0"/>
              </a:spcAft>
              <a:defRPr sz="1300" b="1">
                <a:solidFill>
                  <a:srgbClr val="087F8C"/>
                </a:solidFill>
                <a:latin typeface="DejaVu Sans"/>
              </a:defRPr>
            </a:pPr>
            <a:r>
              <a:t>BACKUP · D</a:t>
            </a:r>
          </a:p>
        </p:txBody>
      </p:sp>
      <p:sp>
        <p:nvSpPr>
          <p:cNvPr id="4" name="TextBox 3"/>
          <p:cNvSpPr txBox="1"/>
          <p:nvPr/>
        </p:nvSpPr>
        <p:spPr>
          <a:xfrm>
            <a:off x="558800" y="673100"/>
            <a:ext cx="11150600" cy="475776"/>
          </a:xfrm>
          <a:prstGeom prst="rect">
            <a:avLst/>
          </a:prstGeom>
          <a:noFill/>
        </p:spPr>
        <p:txBody>
          <a:bodyPr wrap="none" lIns="0" rIns="0" tIns="0" bIns="0">
            <a:spAutoFit/>
          </a:bodyPr>
          <a:lstStyle/>
          <a:p>
            <a:pPr>
              <a:lnSpc>
                <a:spcPts val="3246"/>
              </a:lnSpc>
              <a:spcBef>
                <a:spcPts val="0"/>
              </a:spcBef>
              <a:spcAft>
                <a:spcPts val="0"/>
              </a:spcAft>
              <a:defRPr sz="2660" b="1">
                <a:solidFill>
                  <a:srgbClr val="152C46"/>
                </a:solidFill>
                <a:latin typeface="DejaVu Sans"/>
              </a:defRPr>
            </a:pPr>
            <a:r>
              <a:t>Silence is feasible; positive deadline service may not be</a:t>
            </a:r>
          </a:p>
        </p:txBody>
      </p:sp>
      <p:sp>
        <p:nvSpPr>
          <p:cNvPr id="5" name="Rectangle 4"/>
          <p:cNvSpPr/>
          <p:nvPr/>
        </p:nvSpPr>
        <p:spPr>
          <a:xfrm>
            <a:off x="558800" y="1320800"/>
            <a:ext cx="698500" cy="50800"/>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58800" y="5765800"/>
            <a:ext cx="11074400" cy="584200"/>
          </a:xfrm>
          <a:prstGeom prst="roundRect">
            <a:avLst>
              <a:gd name="adj" fmla="val 8000"/>
            </a:avLst>
          </a:prstGeom>
          <a:solidFill>
            <a:srgbClr val="E5F3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62000" y="5905500"/>
            <a:ext cx="10693400" cy="326898"/>
          </a:xfrm>
          <a:prstGeom prst="rect">
            <a:avLst/>
          </a:prstGeom>
          <a:noFill/>
        </p:spPr>
        <p:txBody>
          <a:bodyPr wrap="none" lIns="0" rIns="0" tIns="0" bIns="0">
            <a:spAutoFit/>
          </a:bodyPr>
          <a:lstStyle/>
          <a:p>
            <a:pPr>
              <a:lnSpc>
                <a:spcPts val="2074"/>
              </a:lnSpc>
              <a:spcBef>
                <a:spcPts val="0"/>
              </a:spcBef>
              <a:spcAft>
                <a:spcPts val="0"/>
              </a:spcAft>
              <a:defRPr sz="1700" b="1">
                <a:solidFill>
                  <a:srgbClr val="152C46"/>
                </a:solidFill>
                <a:latin typeface="DejaVu Sans"/>
              </a:defRPr>
            </a:pPr>
            <a:r>
              <a:t>This is a constant-input screening bound, not a universal per-symbol QoS constraint.</a:t>
            </a:r>
          </a:p>
        </p:txBody>
      </p:sp>
      <p:pic>
        <p:nvPicPr>
          <p:cNvPr id="8" name="Picture 7" descr="eq_1a7a5884e08cd3f.png"/>
          <p:cNvPicPr>
            <a:picLocks noChangeAspect="1"/>
          </p:cNvPicPr>
          <p:nvPr/>
        </p:nvPicPr>
        <p:blipFill>
          <a:blip r:embed="rId2"/>
          <a:stretch>
            <a:fillRect/>
          </a:stretch>
        </p:blipFill>
        <p:spPr>
          <a:xfrm>
            <a:off x="3516206" y="1879600"/>
            <a:ext cx="5134186" cy="762000"/>
          </a:xfrm>
          <a:prstGeom prst="rect">
            <a:avLst/>
          </a:prstGeom>
        </p:spPr>
      </p:pic>
      <p:sp>
        <p:nvSpPr>
          <p:cNvPr id="9" name="TextBox 8"/>
          <p:cNvSpPr txBox="1"/>
          <p:nvPr/>
        </p:nvSpPr>
        <p:spPr>
          <a:xfrm>
            <a:off x="876300" y="2844800"/>
            <a:ext cx="10414000" cy="357886"/>
          </a:xfrm>
          <a:prstGeom prst="rect">
            <a:avLst/>
          </a:prstGeom>
          <a:noFill/>
        </p:spPr>
        <p:txBody>
          <a:bodyPr wrap="none" lIns="0" rIns="0" tIns="0" bIns="0">
            <a:spAutoFit/>
          </a:bodyPr>
          <a:lstStyle/>
          <a:p>
            <a:pPr algn="ctr">
              <a:lnSpc>
                <a:spcPts val="2318"/>
              </a:lnSpc>
              <a:spcBef>
                <a:spcPts val="0"/>
              </a:spcBef>
              <a:spcAft>
                <a:spcPts val="0"/>
              </a:spcAft>
              <a:defRPr sz="1900" b="0">
                <a:solidFill>
                  <a:srgbClr val="617487"/>
                </a:solidFill>
                <a:latin typeface="DejaVu Sans"/>
              </a:defRPr>
            </a:pPr>
            <a:r>
              <a:t>d remaining bits; Trem available DL time; fixed channel and catalog.</a:t>
            </a:r>
          </a:p>
        </p:txBody>
      </p:sp>
      <p:pic>
        <p:nvPicPr>
          <p:cNvPr id="10" name="Picture 9" descr="eq_bb7252b94d8f0cd.png"/>
          <p:cNvPicPr>
            <a:picLocks noChangeAspect="1"/>
          </p:cNvPicPr>
          <p:nvPr/>
        </p:nvPicPr>
        <p:blipFill>
          <a:blip r:embed="rId3"/>
          <a:stretch>
            <a:fillRect/>
          </a:stretch>
        </p:blipFill>
        <p:spPr>
          <a:xfrm>
            <a:off x="3980740" y="3543300"/>
            <a:ext cx="4255918" cy="571500"/>
          </a:xfrm>
          <a:prstGeom prst="rect">
            <a:avLst/>
          </a:prstGeom>
        </p:spPr>
      </p:pic>
      <p:pic>
        <p:nvPicPr>
          <p:cNvPr id="11" name="Picture 10" descr="eq_e8d8211c91834be.png"/>
          <p:cNvPicPr>
            <a:picLocks noChangeAspect="1"/>
          </p:cNvPicPr>
          <p:nvPr/>
        </p:nvPicPr>
        <p:blipFill>
          <a:blip r:embed="rId4"/>
          <a:stretch>
            <a:fillRect/>
          </a:stretch>
        </p:blipFill>
        <p:spPr>
          <a:xfrm>
            <a:off x="2493010" y="4445000"/>
            <a:ext cx="7218680" cy="622300"/>
          </a:xfrm>
          <a:prstGeom prst="rect">
            <a:avLst/>
          </a:prstGeom>
        </p:spPr>
      </p:pic>
      <p:sp>
        <p:nvSpPr>
          <p:cNvPr id="12" name="TextBox 11"/>
          <p:cNvSpPr txBox="1"/>
          <p:nvPr/>
        </p:nvSpPr>
        <p:spPr>
          <a:xfrm>
            <a:off x="558800" y="6553200"/>
            <a:ext cx="10604500" cy="215900"/>
          </a:xfrm>
          <a:prstGeom prst="rect">
            <a:avLst/>
          </a:prstGeom>
          <a:noFill/>
        </p:spPr>
        <p:txBody>
          <a:bodyPr wrap="none" lIns="0" tIns="0">
            <a:spAutoFit/>
          </a:bodyPr>
          <a:lstStyle/>
          <a:p>
            <a:pPr>
              <a:defRPr sz="900">
                <a:solidFill>
                  <a:srgbClr val="617487"/>
                </a:solidFill>
                <a:latin typeface="DejaVu Sans"/>
              </a:defRPr>
            </a:pPr>
            <a:r>
              <a:t>Appendix D.D · eq:joint_service_feasibility · eq:joint_power_cap</a:t>
            </a:r>
          </a:p>
        </p:txBody>
      </p:sp>
      <p:sp>
        <p:nvSpPr>
          <p:cNvPr id="13" name="TextBox 12"/>
          <p:cNvSpPr txBox="1"/>
          <p:nvPr/>
        </p:nvSpPr>
        <p:spPr>
          <a:xfrm>
            <a:off x="11239500" y="6553200"/>
            <a:ext cx="825500" cy="215900"/>
          </a:xfrm>
          <a:prstGeom prst="rect">
            <a:avLst/>
          </a:prstGeom>
          <a:noFill/>
        </p:spPr>
        <p:txBody>
          <a:bodyPr wrap="none" lIns="0" tIns="0">
            <a:spAutoFit/>
          </a:bodyPr>
          <a:lstStyle/>
          <a:p>
            <a:pPr>
              <a:defRPr sz="900">
                <a:solidFill>
                  <a:srgbClr val="617487"/>
                </a:solidFill>
                <a:latin typeface="DejaVu Sans"/>
              </a:defRPr>
            </a:pPr>
            <a:r>
              <a:t>27 / 30</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58800" y="304800"/>
            <a:ext cx="10795000" cy="264922"/>
          </a:xfrm>
          <a:prstGeom prst="rect">
            <a:avLst/>
          </a:prstGeom>
          <a:noFill/>
        </p:spPr>
        <p:txBody>
          <a:bodyPr wrap="none" lIns="0" rIns="0" tIns="0" bIns="0">
            <a:spAutoFit/>
          </a:bodyPr>
          <a:lstStyle/>
          <a:p>
            <a:pPr>
              <a:lnSpc>
                <a:spcPts val="1586"/>
              </a:lnSpc>
              <a:spcBef>
                <a:spcPts val="0"/>
              </a:spcBef>
              <a:spcAft>
                <a:spcPts val="0"/>
              </a:spcAft>
              <a:defRPr sz="1300" b="1">
                <a:solidFill>
                  <a:srgbClr val="087F8C"/>
                </a:solidFill>
                <a:latin typeface="DejaVu Sans"/>
              </a:defRPr>
            </a:pPr>
            <a:r>
              <a:t>BACKUP · NETWORK INTERFACE</a:t>
            </a:r>
          </a:p>
        </p:txBody>
      </p:sp>
      <p:sp>
        <p:nvSpPr>
          <p:cNvPr id="4" name="TextBox 3"/>
          <p:cNvSpPr txBox="1"/>
          <p:nvPr/>
        </p:nvSpPr>
        <p:spPr>
          <a:xfrm>
            <a:off x="558800" y="673100"/>
            <a:ext cx="11150600" cy="414917"/>
          </a:xfrm>
          <a:prstGeom prst="rect">
            <a:avLst/>
          </a:prstGeom>
          <a:noFill/>
        </p:spPr>
        <p:txBody>
          <a:bodyPr wrap="none" lIns="0" rIns="0" tIns="0" bIns="0">
            <a:spAutoFit/>
          </a:bodyPr>
          <a:lstStyle/>
          <a:p>
            <a:pPr>
              <a:lnSpc>
                <a:spcPts val="2767"/>
              </a:lnSpc>
              <a:spcBef>
                <a:spcPts val="0"/>
              </a:spcBef>
              <a:spcAft>
                <a:spcPts val="0"/>
              </a:spcAft>
              <a:defRPr sz="2268" b="1">
                <a:solidFill>
                  <a:srgbClr val="152C46"/>
                </a:solidFill>
                <a:latin typeface="DejaVu Sans"/>
              </a:defRPr>
            </a:pPr>
            <a:r>
              <a:t>A network extension needs local budgets and an external reserve</a:t>
            </a:r>
          </a:p>
        </p:txBody>
      </p:sp>
      <p:sp>
        <p:nvSpPr>
          <p:cNvPr id="5" name="Rectangle 4"/>
          <p:cNvSpPr/>
          <p:nvPr/>
        </p:nvSpPr>
        <p:spPr>
          <a:xfrm>
            <a:off x="558800" y="1320800"/>
            <a:ext cx="698500" cy="50800"/>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58800" y="5765800"/>
            <a:ext cx="11074400" cy="584200"/>
          </a:xfrm>
          <a:prstGeom prst="roundRect">
            <a:avLst>
              <a:gd name="adj" fmla="val 8000"/>
            </a:avLst>
          </a:prstGeom>
          <a:solidFill>
            <a:srgbClr val="E5F3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62000" y="5905500"/>
            <a:ext cx="10693400" cy="590296"/>
          </a:xfrm>
          <a:prstGeom prst="rect">
            <a:avLst/>
          </a:prstGeom>
          <a:noFill/>
        </p:spPr>
        <p:txBody>
          <a:bodyPr wrap="none" lIns="0" rIns="0" tIns="0" bIns="0">
            <a:spAutoFit/>
          </a:bodyPr>
          <a:lstStyle/>
          <a:p>
            <a:pPr>
              <a:lnSpc>
                <a:spcPts val="2074"/>
              </a:lnSpc>
              <a:spcBef>
                <a:spcPts val="0"/>
              </a:spcBef>
              <a:spcAft>
                <a:spcPts val="0"/>
              </a:spcAft>
              <a:defRPr sz="1700" b="1">
                <a:solidFill>
                  <a:srgbClr val="152C46"/>
                </a:solidFill>
                <a:latin typeface="DejaVu Sans"/>
              </a:defRPr>
            </a:pPr>
            <a:r>
              <a:t>Independent data streams add average powers; failure events need not be</a:t>
            </a:r>
          </a:p>
          <a:p>
            <a:pPr>
              <a:lnSpc>
                <a:spcPts val="2074"/>
              </a:lnSpc>
              <a:spcBef>
                <a:spcPts val="0"/>
              </a:spcBef>
              <a:spcAft>
                <a:spcPts val="0"/>
              </a:spcAft>
              <a:defRPr sz="1700" b="1">
                <a:solidFill>
                  <a:srgbClr val="152C46"/>
                </a:solidFill>
                <a:latin typeface="DejaVu Sans"/>
              </a:defRPr>
            </a:pPr>
            <a:r>
              <a:t>independent.</a:t>
            </a:r>
          </a:p>
        </p:txBody>
      </p:sp>
      <p:sp>
        <p:nvSpPr>
          <p:cNvPr id="8" name="Rounded Rectangle 7"/>
          <p:cNvSpPr/>
          <p:nvPr/>
        </p:nvSpPr>
        <p:spPr>
          <a:xfrm>
            <a:off x="558800" y="1765300"/>
            <a:ext cx="3479800" cy="1270000"/>
          </a:xfrm>
          <a:prstGeom prst="roundRect">
            <a:avLst>
              <a:gd name="adj" fmla="val 8000"/>
            </a:avLst>
          </a:prstGeom>
          <a:solidFill>
            <a:srgbClr val="E5F3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87400" y="1981200"/>
            <a:ext cx="3022600" cy="388874"/>
          </a:xfrm>
          <a:prstGeom prst="rect">
            <a:avLst/>
          </a:prstGeom>
          <a:noFill/>
        </p:spPr>
        <p:txBody>
          <a:bodyPr wrap="none" lIns="0" rIns="0" tIns="0" bIns="0">
            <a:spAutoFit/>
          </a:bodyPr>
          <a:lstStyle/>
          <a:p>
            <a:pPr>
              <a:lnSpc>
                <a:spcPts val="2562"/>
              </a:lnSpc>
              <a:spcBef>
                <a:spcPts val="0"/>
              </a:spcBef>
              <a:spcAft>
                <a:spcPts val="0"/>
              </a:spcAft>
              <a:defRPr sz="2100" b="1">
                <a:solidFill>
                  <a:srgbClr val="087F8C"/>
                </a:solidFill>
                <a:latin typeface="DejaVu Sans"/>
              </a:defRPr>
            </a:pPr>
            <a:r>
              <a:t>Sector 1</a:t>
            </a:r>
          </a:p>
        </p:txBody>
      </p:sp>
      <p:sp>
        <p:nvSpPr>
          <p:cNvPr id="10" name="TextBox 9"/>
          <p:cNvSpPr txBox="1"/>
          <p:nvPr/>
        </p:nvSpPr>
        <p:spPr>
          <a:xfrm>
            <a:off x="787400" y="2451100"/>
            <a:ext cx="3022600" cy="621284"/>
          </a:xfrm>
          <a:prstGeom prst="rect">
            <a:avLst/>
          </a:prstGeom>
          <a:noFill/>
        </p:spPr>
        <p:txBody>
          <a:bodyPr wrap="none" lIns="0" rIns="0" tIns="0" bIns="0">
            <a:spAutoFit/>
          </a:bodyPr>
          <a:lstStyle/>
          <a:p>
            <a:pPr>
              <a:lnSpc>
                <a:spcPts val="2196"/>
              </a:lnSpc>
              <a:spcBef>
                <a:spcPts val="0"/>
              </a:spcBef>
              <a:spcAft>
                <a:spcPts val="0"/>
              </a:spcAft>
              <a:defRPr sz="1800" b="0">
                <a:solidFill>
                  <a:srgbClr val="263A50"/>
                </a:solidFill>
                <a:latin typeface="DejaVu Sans"/>
              </a:defRPr>
            </a:pPr>
            <a:r>
              <a:t>Local amplitude/risk</a:t>
            </a:r>
          </a:p>
          <a:p>
            <a:pPr>
              <a:lnSpc>
                <a:spcPts val="2196"/>
              </a:lnSpc>
              <a:spcBef>
                <a:spcPts val="0"/>
              </a:spcBef>
              <a:spcAft>
                <a:spcPts val="0"/>
              </a:spcAft>
              <a:defRPr sz="1800" b="0">
                <a:solidFill>
                  <a:srgbClr val="263A50"/>
                </a:solidFill>
                <a:latin typeface="DejaVu Sans"/>
              </a:defRPr>
            </a:pPr>
            <a:r>
              <a:t>budgets</a:t>
            </a:r>
          </a:p>
        </p:txBody>
      </p:sp>
      <p:sp>
        <p:nvSpPr>
          <p:cNvPr id="11" name="Rounded Rectangle 10"/>
          <p:cNvSpPr/>
          <p:nvPr/>
        </p:nvSpPr>
        <p:spPr>
          <a:xfrm>
            <a:off x="4356100" y="1765300"/>
            <a:ext cx="3479800" cy="1270000"/>
          </a:xfrm>
          <a:prstGeom prst="roundRect">
            <a:avLst>
              <a:gd name="adj" fmla="val 8000"/>
            </a:avLst>
          </a:prstGeom>
          <a:solidFill>
            <a:srgbClr val="E5F3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84700" y="1981200"/>
            <a:ext cx="3022600" cy="388874"/>
          </a:xfrm>
          <a:prstGeom prst="rect">
            <a:avLst/>
          </a:prstGeom>
          <a:noFill/>
        </p:spPr>
        <p:txBody>
          <a:bodyPr wrap="none" lIns="0" rIns="0" tIns="0" bIns="0">
            <a:spAutoFit/>
          </a:bodyPr>
          <a:lstStyle/>
          <a:p>
            <a:pPr>
              <a:lnSpc>
                <a:spcPts val="2562"/>
              </a:lnSpc>
              <a:spcBef>
                <a:spcPts val="0"/>
              </a:spcBef>
              <a:spcAft>
                <a:spcPts val="0"/>
              </a:spcAft>
              <a:defRPr sz="2100" b="1">
                <a:solidFill>
                  <a:srgbClr val="087F8C"/>
                </a:solidFill>
                <a:latin typeface="DejaVu Sans"/>
              </a:defRPr>
            </a:pPr>
            <a:r>
              <a:t>Sector 2</a:t>
            </a:r>
          </a:p>
        </p:txBody>
      </p:sp>
      <p:sp>
        <p:nvSpPr>
          <p:cNvPr id="13" name="TextBox 12"/>
          <p:cNvSpPr txBox="1"/>
          <p:nvPr/>
        </p:nvSpPr>
        <p:spPr>
          <a:xfrm>
            <a:off x="4584700" y="2451100"/>
            <a:ext cx="3022600" cy="621284"/>
          </a:xfrm>
          <a:prstGeom prst="rect">
            <a:avLst/>
          </a:prstGeom>
          <a:noFill/>
        </p:spPr>
        <p:txBody>
          <a:bodyPr wrap="none" lIns="0" rIns="0" tIns="0" bIns="0">
            <a:spAutoFit/>
          </a:bodyPr>
          <a:lstStyle/>
          <a:p>
            <a:pPr>
              <a:lnSpc>
                <a:spcPts val="2196"/>
              </a:lnSpc>
              <a:spcBef>
                <a:spcPts val="0"/>
              </a:spcBef>
              <a:spcAft>
                <a:spcPts val="0"/>
              </a:spcAft>
              <a:defRPr sz="1800" b="0">
                <a:solidFill>
                  <a:srgbClr val="263A50"/>
                </a:solidFill>
                <a:latin typeface="DejaVu Sans"/>
              </a:defRPr>
            </a:pPr>
            <a:r>
              <a:t>Local amplitude/risk</a:t>
            </a:r>
          </a:p>
          <a:p>
            <a:pPr>
              <a:lnSpc>
                <a:spcPts val="2196"/>
              </a:lnSpc>
              <a:spcBef>
                <a:spcPts val="0"/>
              </a:spcBef>
              <a:spcAft>
                <a:spcPts val="0"/>
              </a:spcAft>
              <a:defRPr sz="1800" b="0">
                <a:solidFill>
                  <a:srgbClr val="263A50"/>
                </a:solidFill>
                <a:latin typeface="DejaVu Sans"/>
              </a:defRPr>
            </a:pPr>
            <a:r>
              <a:t>budgets</a:t>
            </a:r>
          </a:p>
        </p:txBody>
      </p:sp>
      <p:sp>
        <p:nvSpPr>
          <p:cNvPr id="14" name="Rounded Rectangle 13"/>
          <p:cNvSpPr/>
          <p:nvPr/>
        </p:nvSpPr>
        <p:spPr>
          <a:xfrm>
            <a:off x="8153400" y="1765300"/>
            <a:ext cx="3479800" cy="1270000"/>
          </a:xfrm>
          <a:prstGeom prst="roundRect">
            <a:avLst>
              <a:gd name="adj" fmla="val 8000"/>
            </a:avLst>
          </a:prstGeom>
          <a:solidFill>
            <a:srgbClr val="E5F3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382000" y="1981200"/>
            <a:ext cx="3022600" cy="388874"/>
          </a:xfrm>
          <a:prstGeom prst="rect">
            <a:avLst/>
          </a:prstGeom>
          <a:noFill/>
        </p:spPr>
        <p:txBody>
          <a:bodyPr wrap="none" lIns="0" rIns="0" tIns="0" bIns="0">
            <a:spAutoFit/>
          </a:bodyPr>
          <a:lstStyle/>
          <a:p>
            <a:pPr>
              <a:lnSpc>
                <a:spcPts val="2562"/>
              </a:lnSpc>
              <a:spcBef>
                <a:spcPts val="0"/>
              </a:spcBef>
              <a:spcAft>
                <a:spcPts val="0"/>
              </a:spcAft>
              <a:defRPr sz="2100" b="1">
                <a:solidFill>
                  <a:srgbClr val="087F8C"/>
                </a:solidFill>
                <a:latin typeface="DejaVu Sans"/>
              </a:defRPr>
            </a:pPr>
            <a:r>
              <a:t>Sector 3</a:t>
            </a:r>
          </a:p>
        </p:txBody>
      </p:sp>
      <p:sp>
        <p:nvSpPr>
          <p:cNvPr id="16" name="TextBox 15"/>
          <p:cNvSpPr txBox="1"/>
          <p:nvPr/>
        </p:nvSpPr>
        <p:spPr>
          <a:xfrm>
            <a:off x="8382000" y="2451100"/>
            <a:ext cx="3022600" cy="621284"/>
          </a:xfrm>
          <a:prstGeom prst="rect">
            <a:avLst/>
          </a:prstGeom>
          <a:noFill/>
        </p:spPr>
        <p:txBody>
          <a:bodyPr wrap="none" lIns="0" rIns="0" tIns="0" bIns="0">
            <a:spAutoFit/>
          </a:bodyPr>
          <a:lstStyle/>
          <a:p>
            <a:pPr>
              <a:lnSpc>
                <a:spcPts val="2196"/>
              </a:lnSpc>
              <a:spcBef>
                <a:spcPts val="0"/>
              </a:spcBef>
              <a:spcAft>
                <a:spcPts val="0"/>
              </a:spcAft>
              <a:defRPr sz="1800" b="0">
                <a:solidFill>
                  <a:srgbClr val="263A50"/>
                </a:solidFill>
                <a:latin typeface="DejaVu Sans"/>
              </a:defRPr>
            </a:pPr>
            <a:r>
              <a:t>Local amplitude/risk</a:t>
            </a:r>
          </a:p>
          <a:p>
            <a:pPr>
              <a:lnSpc>
                <a:spcPts val="2196"/>
              </a:lnSpc>
              <a:spcBef>
                <a:spcPts val="0"/>
              </a:spcBef>
              <a:spcAft>
                <a:spcPts val="0"/>
              </a:spcAft>
              <a:defRPr sz="1800" b="0">
                <a:solidFill>
                  <a:srgbClr val="263A50"/>
                </a:solidFill>
                <a:latin typeface="DejaVu Sans"/>
              </a:defRPr>
            </a:pPr>
            <a:r>
              <a:t>budgets</a:t>
            </a:r>
          </a:p>
        </p:txBody>
      </p:sp>
      <p:pic>
        <p:nvPicPr>
          <p:cNvPr id="17" name="Picture 16" descr="eq_ee46fbb13541765.png"/>
          <p:cNvPicPr>
            <a:picLocks noChangeAspect="1"/>
          </p:cNvPicPr>
          <p:nvPr/>
        </p:nvPicPr>
        <p:blipFill>
          <a:blip r:embed="rId2"/>
          <a:stretch>
            <a:fillRect/>
          </a:stretch>
        </p:blipFill>
        <p:spPr>
          <a:xfrm>
            <a:off x="4186889" y="3606800"/>
            <a:ext cx="3818220" cy="622300"/>
          </a:xfrm>
          <a:prstGeom prst="rect">
            <a:avLst/>
          </a:prstGeom>
        </p:spPr>
      </p:pic>
      <p:pic>
        <p:nvPicPr>
          <p:cNvPr id="18" name="Picture 17" descr="eq_0466db6e58d765d.png"/>
          <p:cNvPicPr>
            <a:picLocks noChangeAspect="1"/>
          </p:cNvPicPr>
          <p:nvPr/>
        </p:nvPicPr>
        <p:blipFill>
          <a:blip r:embed="rId3"/>
          <a:stretch>
            <a:fillRect/>
          </a:stretch>
        </p:blipFill>
        <p:spPr>
          <a:xfrm>
            <a:off x="4284498" y="4521200"/>
            <a:ext cx="3661103" cy="558800"/>
          </a:xfrm>
          <a:prstGeom prst="rect">
            <a:avLst/>
          </a:prstGeom>
        </p:spPr>
      </p:pic>
      <p:sp>
        <p:nvSpPr>
          <p:cNvPr id="19" name="TextBox 18"/>
          <p:cNvSpPr txBox="1"/>
          <p:nvPr/>
        </p:nvSpPr>
        <p:spPr>
          <a:xfrm>
            <a:off x="558800" y="6553200"/>
            <a:ext cx="10604500" cy="215900"/>
          </a:xfrm>
          <a:prstGeom prst="rect">
            <a:avLst/>
          </a:prstGeom>
          <a:noFill/>
        </p:spPr>
        <p:txBody>
          <a:bodyPr wrap="none" lIns="0" tIns="0">
            <a:spAutoFit/>
          </a:bodyPr>
          <a:lstStyle/>
          <a:p>
            <a:pPr>
              <a:defRPr sz="900">
                <a:solidFill>
                  <a:srgbClr val="617487"/>
                </a:solidFill>
                <a:latin typeface="DejaVu Sans"/>
              </a:defRPr>
            </a:pPr>
            <a:r>
              <a:t>Appendix D.E · eq:joint_network_allocation · eq:joint_external_budget</a:t>
            </a:r>
          </a:p>
        </p:txBody>
      </p:sp>
      <p:sp>
        <p:nvSpPr>
          <p:cNvPr id="20" name="TextBox 19"/>
          <p:cNvSpPr txBox="1"/>
          <p:nvPr/>
        </p:nvSpPr>
        <p:spPr>
          <a:xfrm>
            <a:off x="11239500" y="6553200"/>
            <a:ext cx="825500" cy="215900"/>
          </a:xfrm>
          <a:prstGeom prst="rect">
            <a:avLst/>
          </a:prstGeom>
          <a:noFill/>
        </p:spPr>
        <p:txBody>
          <a:bodyPr wrap="none" lIns="0" tIns="0">
            <a:spAutoFit/>
          </a:bodyPr>
          <a:lstStyle/>
          <a:p>
            <a:pPr>
              <a:defRPr sz="900">
                <a:solidFill>
                  <a:srgbClr val="617487"/>
                </a:solidFill>
                <a:latin typeface="DejaVu Sans"/>
              </a:defRPr>
            </a:pPr>
            <a:r>
              <a:t>28 / 30</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58800" y="304800"/>
            <a:ext cx="10795000" cy="264922"/>
          </a:xfrm>
          <a:prstGeom prst="rect">
            <a:avLst/>
          </a:prstGeom>
          <a:noFill/>
        </p:spPr>
        <p:txBody>
          <a:bodyPr wrap="none" lIns="0" rIns="0" tIns="0" bIns="0">
            <a:spAutoFit/>
          </a:bodyPr>
          <a:lstStyle/>
          <a:p>
            <a:pPr>
              <a:lnSpc>
                <a:spcPts val="1586"/>
              </a:lnSpc>
              <a:spcBef>
                <a:spcPts val="0"/>
              </a:spcBef>
              <a:spcAft>
                <a:spcPts val="0"/>
              </a:spcAft>
              <a:defRPr sz="1300" b="1">
                <a:solidFill>
                  <a:srgbClr val="087F8C"/>
                </a:solidFill>
                <a:latin typeface="DejaVu Sans"/>
              </a:defRPr>
            </a:pPr>
            <a:r>
              <a:t>BACKUP · STATISTICAL INTERPRETATION</a:t>
            </a:r>
          </a:p>
        </p:txBody>
      </p:sp>
      <p:sp>
        <p:nvSpPr>
          <p:cNvPr id="4" name="TextBox 3"/>
          <p:cNvSpPr txBox="1"/>
          <p:nvPr/>
        </p:nvSpPr>
        <p:spPr>
          <a:xfrm>
            <a:off x="558800" y="673100"/>
            <a:ext cx="11150600" cy="454038"/>
          </a:xfrm>
          <a:prstGeom prst="rect">
            <a:avLst/>
          </a:prstGeom>
          <a:noFill/>
        </p:spPr>
        <p:txBody>
          <a:bodyPr wrap="none" lIns="0" rIns="0" tIns="0" bIns="0">
            <a:spAutoFit/>
          </a:bodyPr>
          <a:lstStyle/>
          <a:p>
            <a:pPr>
              <a:lnSpc>
                <a:spcPts val="3075"/>
              </a:lnSpc>
              <a:spcBef>
                <a:spcPts val="0"/>
              </a:spcBef>
              <a:spcAft>
                <a:spcPts val="0"/>
              </a:spcAft>
              <a:defRPr sz="2520" b="1">
                <a:solidFill>
                  <a:srgbClr val="152C46"/>
                </a:solidFill>
                <a:latin typeface="DejaVu Sans"/>
              </a:defRPr>
            </a:pPr>
            <a:r>
              <a:t>A target, an estimate and a confidence bound are different</a:t>
            </a:r>
          </a:p>
        </p:txBody>
      </p:sp>
      <p:sp>
        <p:nvSpPr>
          <p:cNvPr id="5" name="Rectangle 4"/>
          <p:cNvSpPr/>
          <p:nvPr/>
        </p:nvSpPr>
        <p:spPr>
          <a:xfrm>
            <a:off x="558800" y="1320800"/>
            <a:ext cx="698500" cy="50800"/>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58800" y="1803400"/>
            <a:ext cx="5334000" cy="3175000"/>
          </a:xfrm>
          <a:prstGeom prst="roundRect">
            <a:avLst>
              <a:gd name="adj" fmla="val 8000"/>
            </a:avLst>
          </a:prstGeom>
          <a:solidFill>
            <a:srgbClr val="EF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87400" y="2019300"/>
            <a:ext cx="4876800" cy="388874"/>
          </a:xfrm>
          <a:prstGeom prst="rect">
            <a:avLst/>
          </a:prstGeom>
          <a:noFill/>
        </p:spPr>
        <p:txBody>
          <a:bodyPr wrap="none" lIns="0" rIns="0" tIns="0" bIns="0">
            <a:spAutoFit/>
          </a:bodyPr>
          <a:lstStyle/>
          <a:p>
            <a:pPr>
              <a:lnSpc>
                <a:spcPts val="2562"/>
              </a:lnSpc>
              <a:spcBef>
                <a:spcPts val="0"/>
              </a:spcBef>
              <a:spcAft>
                <a:spcPts val="0"/>
              </a:spcAft>
              <a:defRPr sz="2100" b="1">
                <a:solidFill>
                  <a:srgbClr val="087F8C"/>
                </a:solidFill>
                <a:latin typeface="DejaVu Sans"/>
              </a:defRPr>
            </a:pPr>
            <a:r>
              <a:t>E4 scene miscoverage</a:t>
            </a:r>
          </a:p>
        </p:txBody>
      </p:sp>
      <p:sp>
        <p:nvSpPr>
          <p:cNvPr id="8" name="TextBox 7"/>
          <p:cNvSpPr txBox="1"/>
          <p:nvPr/>
        </p:nvSpPr>
        <p:spPr>
          <a:xfrm>
            <a:off x="787400" y="2489200"/>
            <a:ext cx="4876800" cy="1736852"/>
          </a:xfrm>
          <a:prstGeom prst="rect">
            <a:avLst/>
          </a:prstGeom>
          <a:noFill/>
        </p:spPr>
        <p:txBody>
          <a:bodyPr wrap="none" lIns="0" rIns="0" tIns="0" bIns="0">
            <a:spAutoFit/>
          </a:bodyPr>
          <a:lstStyle/>
          <a:p>
            <a:pPr>
              <a:lnSpc>
                <a:spcPts val="2196"/>
              </a:lnSpc>
              <a:spcBef>
                <a:spcPts val="0"/>
              </a:spcBef>
              <a:spcAft>
                <a:spcPts val="0"/>
              </a:spcAft>
              <a:defRPr sz="1800" b="0">
                <a:solidFill>
                  <a:srgbClr val="263A50"/>
                </a:solidFill>
                <a:latin typeface="DejaVu Sans"/>
              </a:defRPr>
            </a:pPr>
            <a:r>
              <a:t>Target: 10%</a:t>
            </a:r>
          </a:p>
          <a:p>
            <a:pPr>
              <a:lnSpc>
                <a:spcPts val="2196"/>
              </a:lnSpc>
              <a:spcBef>
                <a:spcPts val="0"/>
              </a:spcBef>
              <a:spcAft>
                <a:spcPts val="0"/>
              </a:spcAft>
              <a:defRPr sz="1800" b="0">
                <a:solidFill>
                  <a:srgbClr val="263A50"/>
                </a:solidFill>
                <a:latin typeface="DejaVu Sans"/>
              </a:defRPr>
            </a:pPr>
            <a:r>
              <a:t>Observed: 13 / 128 = 10.16%</a:t>
            </a:r>
          </a:p>
          <a:p>
            <a:pPr>
              <a:lnSpc>
                <a:spcPts val="2196"/>
              </a:lnSpc>
              <a:spcBef>
                <a:spcPts val="0"/>
              </a:spcBef>
              <a:spcAft>
                <a:spcPts val="0"/>
              </a:spcAft>
              <a:defRPr sz="1800" b="0">
                <a:solidFill>
                  <a:srgbClr val="263A50"/>
                </a:solidFill>
                <a:latin typeface="DejaVu Sans"/>
              </a:defRPr>
            </a:pPr>
            <a:r>
              <a:t>95% interval: 5.52%–16.74%</a:t>
            </a:r>
          </a:p>
          <a:p>
            <a:pPr>
              <a:lnSpc>
                <a:spcPts val="2196"/>
              </a:lnSpc>
              <a:spcBef>
                <a:spcPts val="0"/>
              </a:spcBef>
              <a:spcAft>
                <a:spcPts val="0"/>
              </a:spcAft>
              <a:defRPr sz="1800" b="0">
                <a:solidFill>
                  <a:srgbClr val="263A50"/>
                </a:solidFill>
                <a:latin typeface="DejaVu Sans"/>
              </a:defRPr>
            </a:pPr>
          </a:p>
          <a:p>
            <a:pPr>
              <a:lnSpc>
                <a:spcPts val="2196"/>
              </a:lnSpc>
              <a:spcBef>
                <a:spcPts val="0"/>
              </a:spcBef>
              <a:spcAft>
                <a:spcPts val="0"/>
              </a:spcAft>
              <a:defRPr sz="1800" b="0">
                <a:solidFill>
                  <a:srgbClr val="263A50"/>
                </a:solidFill>
                <a:latin typeface="DejaVu Sans"/>
              </a:defRPr>
            </a:pPr>
            <a:r>
              <a:t>Compatible with target; not proof of a</a:t>
            </a:r>
          </a:p>
          <a:p>
            <a:pPr>
              <a:lnSpc>
                <a:spcPts val="2196"/>
              </a:lnSpc>
              <a:spcBef>
                <a:spcPts val="0"/>
              </a:spcBef>
              <a:spcAft>
                <a:spcPts val="0"/>
              </a:spcAft>
              <a:defRPr sz="1800" b="0">
                <a:solidFill>
                  <a:srgbClr val="263A50"/>
                </a:solidFill>
                <a:latin typeface="DejaVu Sans"/>
              </a:defRPr>
            </a:pPr>
            <a:r>
              <a:t>≤10% physical risk.</a:t>
            </a:r>
          </a:p>
        </p:txBody>
      </p:sp>
      <p:sp>
        <p:nvSpPr>
          <p:cNvPr id="9" name="Rounded Rectangle 8"/>
          <p:cNvSpPr/>
          <p:nvPr/>
        </p:nvSpPr>
        <p:spPr>
          <a:xfrm>
            <a:off x="6273800" y="1803400"/>
            <a:ext cx="5359400" cy="3175000"/>
          </a:xfrm>
          <a:prstGeom prst="roundRect">
            <a:avLst>
              <a:gd name="adj" fmla="val 8000"/>
            </a:avLst>
          </a:prstGeom>
          <a:solidFill>
            <a:srgbClr val="E5F3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02400" y="2019300"/>
            <a:ext cx="4902200" cy="388874"/>
          </a:xfrm>
          <a:prstGeom prst="rect">
            <a:avLst/>
          </a:prstGeom>
          <a:noFill/>
        </p:spPr>
        <p:txBody>
          <a:bodyPr wrap="none" lIns="0" rIns="0" tIns="0" bIns="0">
            <a:spAutoFit/>
          </a:bodyPr>
          <a:lstStyle/>
          <a:p>
            <a:pPr>
              <a:lnSpc>
                <a:spcPts val="2562"/>
              </a:lnSpc>
              <a:spcBef>
                <a:spcPts val="0"/>
              </a:spcBef>
              <a:spcAft>
                <a:spcPts val="0"/>
              </a:spcAft>
              <a:defRPr sz="2100" b="1">
                <a:solidFill>
                  <a:srgbClr val="087F8C"/>
                </a:solidFill>
                <a:latin typeface="DejaVu Sans"/>
              </a:defRPr>
            </a:pPr>
            <a:r>
              <a:t>E7: J at Γ = −15 dB</a:t>
            </a:r>
          </a:p>
        </p:txBody>
      </p:sp>
      <p:sp>
        <p:nvSpPr>
          <p:cNvPr id="11" name="TextBox 10"/>
          <p:cNvSpPr txBox="1"/>
          <p:nvPr/>
        </p:nvSpPr>
        <p:spPr>
          <a:xfrm>
            <a:off x="6502400" y="2489200"/>
            <a:ext cx="4902200" cy="1736852"/>
          </a:xfrm>
          <a:prstGeom prst="rect">
            <a:avLst/>
          </a:prstGeom>
          <a:noFill/>
        </p:spPr>
        <p:txBody>
          <a:bodyPr wrap="none" lIns="0" rIns="0" tIns="0" bIns="0">
            <a:spAutoFit/>
          </a:bodyPr>
          <a:lstStyle/>
          <a:p>
            <a:pPr>
              <a:lnSpc>
                <a:spcPts val="2196"/>
              </a:lnSpc>
              <a:spcBef>
                <a:spcPts val="0"/>
              </a:spcBef>
              <a:spcAft>
                <a:spcPts val="0"/>
              </a:spcAft>
              <a:defRPr sz="1800" b="0">
                <a:solidFill>
                  <a:srgbClr val="263A50"/>
                </a:solidFill>
                <a:latin typeface="DejaVu Sans"/>
              </a:defRPr>
            </a:pPr>
            <a:r>
              <a:t>Model risk bound: 8%</a:t>
            </a:r>
          </a:p>
          <a:p>
            <a:pPr>
              <a:lnSpc>
                <a:spcPts val="2196"/>
              </a:lnSpc>
              <a:spcBef>
                <a:spcPts val="0"/>
              </a:spcBef>
              <a:spcAft>
                <a:spcPts val="0"/>
              </a:spcAft>
              <a:defRPr sz="1800" b="0">
                <a:solidFill>
                  <a:srgbClr val="263A50"/>
                </a:solidFill>
                <a:latin typeface="DejaVu Sans"/>
              </a:defRPr>
            </a:pPr>
            <a:r>
              <a:t>Observed exposure: 8.19%</a:t>
            </a:r>
          </a:p>
          <a:p>
            <a:pPr>
              <a:lnSpc>
                <a:spcPts val="2196"/>
              </a:lnSpc>
              <a:spcBef>
                <a:spcPts val="0"/>
              </a:spcBef>
              <a:spcAft>
                <a:spcPts val="0"/>
              </a:spcAft>
              <a:defRPr sz="1800" b="0">
                <a:solidFill>
                  <a:srgbClr val="263A50"/>
                </a:solidFill>
                <a:latin typeface="DejaVu Sans"/>
              </a:defRPr>
            </a:pPr>
            <a:r>
              <a:t>95% bootstrap: 6.67%–9.75%</a:t>
            </a:r>
          </a:p>
          <a:p>
            <a:pPr>
              <a:lnSpc>
                <a:spcPts val="2196"/>
              </a:lnSpc>
              <a:spcBef>
                <a:spcPts val="0"/>
              </a:spcBef>
              <a:spcAft>
                <a:spcPts val="0"/>
              </a:spcAft>
              <a:defRPr sz="1800" b="0">
                <a:solidFill>
                  <a:srgbClr val="263A50"/>
                </a:solidFill>
                <a:latin typeface="DejaVu Sans"/>
              </a:defRPr>
            </a:pPr>
          </a:p>
          <a:p>
            <a:pPr>
              <a:lnSpc>
                <a:spcPts val="2196"/>
              </a:lnSpc>
              <a:spcBef>
                <a:spcPts val="0"/>
              </a:spcBef>
              <a:spcAft>
                <a:spcPts val="0"/>
              </a:spcAft>
              <a:defRPr sz="1800" b="0">
                <a:solidFill>
                  <a:srgbClr val="263A50"/>
                </a:solidFill>
                <a:latin typeface="DejaVu Sans"/>
              </a:defRPr>
            </a:pPr>
            <a:r>
              <a:t>400 complete trajectories; ticks are not</a:t>
            </a:r>
          </a:p>
          <a:p>
            <a:pPr>
              <a:lnSpc>
                <a:spcPts val="2196"/>
              </a:lnSpc>
              <a:spcBef>
                <a:spcPts val="0"/>
              </a:spcBef>
              <a:spcAft>
                <a:spcPts val="0"/>
              </a:spcAft>
              <a:defRPr sz="1800" b="0">
                <a:solidFill>
                  <a:srgbClr val="263A50"/>
                </a:solidFill>
                <a:latin typeface="DejaVu Sans"/>
              </a:defRPr>
            </a:pPr>
            <a:r>
              <a:t>independent samples.</a:t>
            </a:r>
          </a:p>
        </p:txBody>
      </p:sp>
      <p:sp>
        <p:nvSpPr>
          <p:cNvPr id="12" name="TextBox 11"/>
          <p:cNvSpPr txBox="1"/>
          <p:nvPr/>
        </p:nvSpPr>
        <p:spPr>
          <a:xfrm>
            <a:off x="685800" y="5346700"/>
            <a:ext cx="10807700" cy="946657"/>
          </a:xfrm>
          <a:prstGeom prst="rect">
            <a:avLst/>
          </a:prstGeom>
          <a:noFill/>
        </p:spPr>
        <p:txBody>
          <a:bodyPr wrap="none" lIns="0" rIns="0" tIns="0" bIns="0">
            <a:spAutoFit/>
          </a:bodyPr>
          <a:lstStyle/>
          <a:p>
            <a:pPr>
              <a:lnSpc>
                <a:spcPts val="2318"/>
              </a:lnSpc>
              <a:spcBef>
                <a:spcPts val="0"/>
              </a:spcBef>
              <a:spcAft>
                <a:spcPts val="0"/>
              </a:spcAft>
              <a:defRPr sz="1900" b="1">
                <a:solidFill>
                  <a:srgbClr val="BC4B51"/>
                </a:solidFill>
                <a:latin typeface="DejaVu Sans"/>
              </a:defRPr>
            </a:pPr>
            <a:r>
              <a:t>Split and resample whole scenes / trajectories. Keep missed and silent</a:t>
            </a:r>
          </a:p>
          <a:p>
            <a:pPr>
              <a:lnSpc>
                <a:spcPts val="2318"/>
              </a:lnSpc>
              <a:spcBef>
                <a:spcPts val="0"/>
              </a:spcBef>
              <a:spcAft>
                <a:spcPts val="0"/>
              </a:spcAft>
              <a:defRPr sz="1900" b="1">
                <a:solidFill>
                  <a:srgbClr val="BC4B51"/>
                </a:solidFill>
                <a:latin typeface="DejaVu Sans"/>
              </a:defRPr>
            </a:pPr>
            <a:r>
              <a:t>receivers.</a:t>
            </a:r>
          </a:p>
          <a:p>
            <a:pPr>
              <a:lnSpc>
                <a:spcPts val="2318"/>
              </a:lnSpc>
              <a:spcBef>
                <a:spcPts val="0"/>
              </a:spcBef>
              <a:spcAft>
                <a:spcPts val="0"/>
              </a:spcAft>
              <a:defRPr sz="1900" b="1">
                <a:solidFill>
                  <a:srgbClr val="BC4B51"/>
                </a:solidFill>
                <a:latin typeface="DejaVu Sans"/>
              </a:defRPr>
            </a:pPr>
            <a:r>
              <a:t>Zero observed events do not establish zero risk.</a:t>
            </a:r>
          </a:p>
        </p:txBody>
      </p:sp>
      <p:sp>
        <p:nvSpPr>
          <p:cNvPr id="13" name="TextBox 12"/>
          <p:cNvSpPr txBox="1"/>
          <p:nvPr/>
        </p:nvSpPr>
        <p:spPr>
          <a:xfrm>
            <a:off x="558800" y="6553200"/>
            <a:ext cx="10604500" cy="215900"/>
          </a:xfrm>
          <a:prstGeom prst="rect">
            <a:avLst/>
          </a:prstGeom>
          <a:noFill/>
        </p:spPr>
        <p:txBody>
          <a:bodyPr wrap="none" lIns="0" tIns="0">
            <a:spAutoFit/>
          </a:bodyPr>
          <a:lstStyle/>
          <a:p>
            <a:pPr>
              <a:defRPr sz="900">
                <a:solidFill>
                  <a:srgbClr val="617487"/>
                </a:solidFill>
                <a:latin typeface="DejaVu Sans"/>
              </a:defRPr>
            </a:pPr>
            <a:r>
              <a:t>E4/scene_coverage.csv · E7/strategy_summary.csv</a:t>
            </a:r>
          </a:p>
        </p:txBody>
      </p:sp>
      <p:sp>
        <p:nvSpPr>
          <p:cNvPr id="14" name="TextBox 13"/>
          <p:cNvSpPr txBox="1"/>
          <p:nvPr/>
        </p:nvSpPr>
        <p:spPr>
          <a:xfrm>
            <a:off x="11239500" y="6553200"/>
            <a:ext cx="825500" cy="215900"/>
          </a:xfrm>
          <a:prstGeom prst="rect">
            <a:avLst/>
          </a:prstGeom>
          <a:noFill/>
        </p:spPr>
        <p:txBody>
          <a:bodyPr wrap="none" lIns="0" tIns="0">
            <a:spAutoFit/>
          </a:bodyPr>
          <a:lstStyle/>
          <a:p>
            <a:pPr>
              <a:defRPr sz="900">
                <a:solidFill>
                  <a:srgbClr val="617487"/>
                </a:solidFill>
                <a:latin typeface="DejaVu Sans"/>
              </a:defRPr>
            </a:pPr>
            <a:r>
              <a:t>29 / 30</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58800" y="304800"/>
            <a:ext cx="10795000" cy="264922"/>
          </a:xfrm>
          <a:prstGeom prst="rect">
            <a:avLst/>
          </a:prstGeom>
          <a:noFill/>
        </p:spPr>
        <p:txBody>
          <a:bodyPr wrap="none" lIns="0" rIns="0" tIns="0" bIns="0">
            <a:spAutoFit/>
          </a:bodyPr>
          <a:lstStyle/>
          <a:p>
            <a:pPr>
              <a:lnSpc>
                <a:spcPts val="1586"/>
              </a:lnSpc>
              <a:spcBef>
                <a:spcPts val="0"/>
              </a:spcBef>
              <a:spcAft>
                <a:spcPts val="0"/>
              </a:spcAft>
              <a:defRPr sz="1300" b="1">
                <a:solidFill>
                  <a:srgbClr val="087F8C"/>
                </a:solidFill>
                <a:latin typeface="DejaVu Sans"/>
              </a:defRPr>
            </a:pPr>
            <a:r>
              <a:t>BACKUP · REFERENCE</a:t>
            </a:r>
          </a:p>
        </p:txBody>
      </p:sp>
      <p:sp>
        <p:nvSpPr>
          <p:cNvPr id="4" name="TextBox 3"/>
          <p:cNvSpPr txBox="1"/>
          <p:nvPr/>
        </p:nvSpPr>
        <p:spPr>
          <a:xfrm>
            <a:off x="558800" y="673100"/>
            <a:ext cx="11150600" cy="528320"/>
          </a:xfrm>
          <a:prstGeom prst="rect">
            <a:avLst/>
          </a:prstGeom>
          <a:noFill/>
        </p:spPr>
        <p:txBody>
          <a:bodyPr wrap="none" lIns="0" rIns="0" tIns="0" bIns="0">
            <a:spAutoFit/>
          </a:bodyPr>
          <a:lstStyle/>
          <a:p>
            <a:pPr>
              <a:lnSpc>
                <a:spcPts val="3660"/>
              </a:lnSpc>
              <a:spcBef>
                <a:spcPts val="0"/>
              </a:spcBef>
              <a:spcAft>
                <a:spcPts val="0"/>
              </a:spcAft>
              <a:defRPr sz="3000" b="1">
                <a:solidFill>
                  <a:srgbClr val="152C46"/>
                </a:solidFill>
                <a:latin typeface="DejaVu Sans"/>
              </a:defRPr>
            </a:pPr>
            <a:r>
              <a:t>Notation and source map</a:t>
            </a:r>
          </a:p>
        </p:txBody>
      </p:sp>
      <p:sp>
        <p:nvSpPr>
          <p:cNvPr id="5" name="Rectangle 4"/>
          <p:cNvSpPr/>
          <p:nvPr/>
        </p:nvSpPr>
        <p:spPr>
          <a:xfrm>
            <a:off x="558800" y="1320800"/>
            <a:ext cx="698500" cy="50800"/>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58800" y="1727200"/>
            <a:ext cx="11074400" cy="558800"/>
          </a:xfrm>
          <a:prstGeom prst="roundRect">
            <a:avLst>
              <a:gd name="adj" fmla="val 8000"/>
            </a:avLst>
          </a:prstGeom>
          <a:solidFill>
            <a:srgbClr val="EF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11200" y="1879600"/>
            <a:ext cx="3238500" cy="311404"/>
          </a:xfrm>
          <a:prstGeom prst="rect">
            <a:avLst/>
          </a:prstGeom>
          <a:noFill/>
        </p:spPr>
        <p:txBody>
          <a:bodyPr wrap="none" lIns="0" rIns="0" tIns="0" bIns="0">
            <a:spAutoFit/>
          </a:bodyPr>
          <a:lstStyle/>
          <a:p>
            <a:pPr>
              <a:lnSpc>
                <a:spcPts val="1952"/>
              </a:lnSpc>
              <a:spcBef>
                <a:spcPts val="0"/>
              </a:spcBef>
              <a:spcAft>
                <a:spcPts val="0"/>
              </a:spcAft>
              <a:defRPr sz="1600" b="1">
                <a:solidFill>
                  <a:srgbClr val="087F8C"/>
                </a:solidFill>
                <a:latin typeface="DejaVu Sans"/>
              </a:defRPr>
            </a:pPr>
            <a:r>
              <a:t>v = √p w</a:t>
            </a:r>
          </a:p>
        </p:txBody>
      </p:sp>
      <p:sp>
        <p:nvSpPr>
          <p:cNvPr id="8" name="TextBox 7"/>
          <p:cNvSpPr txBox="1"/>
          <p:nvPr/>
        </p:nvSpPr>
        <p:spPr>
          <a:xfrm>
            <a:off x="3962400" y="1879600"/>
            <a:ext cx="7493000" cy="311404"/>
          </a:xfrm>
          <a:prstGeom prst="rect">
            <a:avLst/>
          </a:prstGeom>
          <a:noFill/>
        </p:spPr>
        <p:txBody>
          <a:bodyPr wrap="none" lIns="0" rIns="0" tIns="0" bIns="0">
            <a:spAutoFit/>
          </a:bodyPr>
          <a:lstStyle/>
          <a:p>
            <a:pPr>
              <a:lnSpc>
                <a:spcPts val="1952"/>
              </a:lnSpc>
              <a:spcBef>
                <a:spcPts val="0"/>
              </a:spcBef>
              <a:spcAft>
                <a:spcPts val="0"/>
              </a:spcAft>
              <a:defRPr sz="1600" b="0">
                <a:solidFill>
                  <a:srgbClr val="263A50"/>
                </a:solidFill>
                <a:latin typeface="DejaVu Sans"/>
              </a:defRPr>
            </a:pPr>
            <a:r>
              <a:t>Power-weighted transmit beam; actual power = Pmax p</a:t>
            </a:r>
          </a:p>
        </p:txBody>
      </p:sp>
      <p:sp>
        <p:nvSpPr>
          <p:cNvPr id="9" name="Rounded Rectangle 8"/>
          <p:cNvSpPr/>
          <p:nvPr/>
        </p:nvSpPr>
        <p:spPr>
          <a:xfrm>
            <a:off x="558800" y="2336800"/>
            <a:ext cx="11074400" cy="55880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11200" y="2489200"/>
            <a:ext cx="3238500" cy="311404"/>
          </a:xfrm>
          <a:prstGeom prst="rect">
            <a:avLst/>
          </a:prstGeom>
          <a:noFill/>
        </p:spPr>
        <p:txBody>
          <a:bodyPr wrap="none" lIns="0" rIns="0" tIns="0" bIns="0">
            <a:spAutoFit/>
          </a:bodyPr>
          <a:lstStyle/>
          <a:p>
            <a:pPr>
              <a:lnSpc>
                <a:spcPts val="1952"/>
              </a:lnSpc>
              <a:spcBef>
                <a:spcPts val="0"/>
              </a:spcBef>
              <a:spcAft>
                <a:spcPts val="0"/>
              </a:spcAft>
              <a:defRPr sz="1600" b="1">
                <a:solidFill>
                  <a:srgbClr val="087F8C"/>
                </a:solidFill>
                <a:latin typeface="DejaVu Sans"/>
              </a:defRPr>
            </a:pPr>
            <a:r>
              <a:t>Aᵣ, Cᵣ, ρᵣ</a:t>
            </a:r>
          </a:p>
        </p:txBody>
      </p:sp>
      <p:sp>
        <p:nvSpPr>
          <p:cNvPr id="11" name="TextBox 10"/>
          <p:cNvSpPr txBox="1"/>
          <p:nvPr/>
        </p:nvSpPr>
        <p:spPr>
          <a:xfrm>
            <a:off x="3962400" y="2489200"/>
            <a:ext cx="7493000" cy="311404"/>
          </a:xfrm>
          <a:prstGeom prst="rect">
            <a:avLst/>
          </a:prstGeom>
          <a:noFill/>
        </p:spPr>
        <p:txBody>
          <a:bodyPr wrap="none" lIns="0" rIns="0" tIns="0" bIns="0">
            <a:spAutoFit/>
          </a:bodyPr>
          <a:lstStyle/>
          <a:p>
            <a:pPr>
              <a:lnSpc>
                <a:spcPts val="1952"/>
              </a:lnSpc>
              <a:spcBef>
                <a:spcPts val="0"/>
              </a:spcBef>
              <a:spcAft>
                <a:spcPts val="0"/>
              </a:spcAft>
              <a:defRPr sz="1600" b="0">
                <a:solidFill>
                  <a:srgbClr val="263A50"/>
                </a:solidFill>
                <a:latin typeface="DejaVu Sans"/>
              </a:defRPr>
            </a:pPr>
            <a:r>
              <a:t>DL path responses, coefficient bound, residual radius</a:t>
            </a:r>
          </a:p>
        </p:txBody>
      </p:sp>
      <p:sp>
        <p:nvSpPr>
          <p:cNvPr id="12" name="Rounded Rectangle 11"/>
          <p:cNvSpPr/>
          <p:nvPr/>
        </p:nvSpPr>
        <p:spPr>
          <a:xfrm>
            <a:off x="558800" y="2946400"/>
            <a:ext cx="11074400" cy="558800"/>
          </a:xfrm>
          <a:prstGeom prst="roundRect">
            <a:avLst>
              <a:gd name="adj" fmla="val 8000"/>
            </a:avLst>
          </a:prstGeom>
          <a:solidFill>
            <a:srgbClr val="EF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11200" y="3098800"/>
            <a:ext cx="3238500" cy="311404"/>
          </a:xfrm>
          <a:prstGeom prst="rect">
            <a:avLst/>
          </a:prstGeom>
          <a:noFill/>
        </p:spPr>
        <p:txBody>
          <a:bodyPr wrap="none" lIns="0" rIns="0" tIns="0" bIns="0">
            <a:spAutoFit/>
          </a:bodyPr>
          <a:lstStyle/>
          <a:p>
            <a:pPr>
              <a:lnSpc>
                <a:spcPts val="1952"/>
              </a:lnSpc>
              <a:spcBef>
                <a:spcPts val="0"/>
              </a:spcBef>
              <a:spcAft>
                <a:spcPts val="0"/>
              </a:spcAft>
              <a:defRPr sz="1600" b="1">
                <a:solidFill>
                  <a:srgbClr val="087F8C"/>
                </a:solidFill>
                <a:latin typeface="DejaVu Sans"/>
              </a:defRPr>
            </a:pPr>
            <a:r>
              <a:t>Γ / δNTN</a:t>
            </a:r>
          </a:p>
        </p:txBody>
      </p:sp>
      <p:sp>
        <p:nvSpPr>
          <p:cNvPr id="14" name="TextBox 13"/>
          <p:cNvSpPr txBox="1"/>
          <p:nvPr/>
        </p:nvSpPr>
        <p:spPr>
          <a:xfrm>
            <a:off x="3962400" y="3098800"/>
            <a:ext cx="7493000" cy="311404"/>
          </a:xfrm>
          <a:prstGeom prst="rect">
            <a:avLst/>
          </a:prstGeom>
          <a:noFill/>
        </p:spPr>
        <p:txBody>
          <a:bodyPr wrap="none" lIns="0" rIns="0" tIns="0" bIns="0">
            <a:spAutoFit/>
          </a:bodyPr>
          <a:lstStyle/>
          <a:p>
            <a:pPr>
              <a:lnSpc>
                <a:spcPts val="1952"/>
              </a:lnSpc>
              <a:spcBef>
                <a:spcPts val="0"/>
              </a:spcBef>
              <a:spcAft>
                <a:spcPts val="0"/>
              </a:spcAft>
              <a:defRPr sz="1600" b="0">
                <a:solidFill>
                  <a:srgbClr val="263A50"/>
                </a:solidFill>
                <a:latin typeface="DejaVu Sans"/>
              </a:defRPr>
            </a:pPr>
            <a:r>
              <a:t>INR magnitude limit / active-time exceedance budget</a:t>
            </a:r>
          </a:p>
        </p:txBody>
      </p:sp>
      <p:sp>
        <p:nvSpPr>
          <p:cNvPr id="15" name="Rounded Rectangle 14"/>
          <p:cNvSpPr/>
          <p:nvPr/>
        </p:nvSpPr>
        <p:spPr>
          <a:xfrm>
            <a:off x="558800" y="3556000"/>
            <a:ext cx="11074400" cy="55880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11200" y="3708400"/>
            <a:ext cx="3238500" cy="311404"/>
          </a:xfrm>
          <a:prstGeom prst="rect">
            <a:avLst/>
          </a:prstGeom>
          <a:noFill/>
        </p:spPr>
        <p:txBody>
          <a:bodyPr wrap="none" lIns="0" rIns="0" tIns="0" bIns="0">
            <a:spAutoFit/>
          </a:bodyPr>
          <a:lstStyle/>
          <a:p>
            <a:pPr>
              <a:lnSpc>
                <a:spcPts val="1952"/>
              </a:lnSpc>
              <a:spcBef>
                <a:spcPts val="0"/>
              </a:spcBef>
              <a:spcAft>
                <a:spcPts val="0"/>
              </a:spcAft>
              <a:defRPr sz="1600" b="1">
                <a:solidFill>
                  <a:srgbClr val="087F8C"/>
                </a:solidFill>
                <a:latin typeface="DejaVu Sans"/>
              </a:defRPr>
            </a:pPr>
            <a:r>
              <a:t>L / δTN</a:t>
            </a:r>
          </a:p>
        </p:txBody>
      </p:sp>
      <p:sp>
        <p:nvSpPr>
          <p:cNvPr id="17" name="TextBox 16"/>
          <p:cNvSpPr txBox="1"/>
          <p:nvPr/>
        </p:nvSpPr>
        <p:spPr>
          <a:xfrm>
            <a:off x="3962400" y="3708400"/>
            <a:ext cx="7493000" cy="311404"/>
          </a:xfrm>
          <a:prstGeom prst="rect">
            <a:avLst/>
          </a:prstGeom>
          <a:noFill/>
        </p:spPr>
        <p:txBody>
          <a:bodyPr wrap="none" lIns="0" rIns="0" tIns="0" bIns="0">
            <a:spAutoFit/>
          </a:bodyPr>
          <a:lstStyle/>
          <a:p>
            <a:pPr>
              <a:lnSpc>
                <a:spcPts val="1952"/>
              </a:lnSpc>
              <a:spcBef>
                <a:spcPts val="0"/>
              </a:spcBef>
              <a:spcAft>
                <a:spcPts val="0"/>
              </a:spcAft>
              <a:defRPr sz="1600" b="0">
                <a:solidFill>
                  <a:srgbClr val="263A50"/>
                </a:solidFill>
                <a:latin typeface="DejaVu Sans"/>
              </a:defRPr>
            </a:pPr>
            <a:r>
              <a:t>Frozen deadline demand / service-failure budget</a:t>
            </a:r>
          </a:p>
        </p:txBody>
      </p:sp>
      <p:sp>
        <p:nvSpPr>
          <p:cNvPr id="18" name="Rounded Rectangle 17"/>
          <p:cNvSpPr/>
          <p:nvPr/>
        </p:nvSpPr>
        <p:spPr>
          <a:xfrm>
            <a:off x="558800" y="4165600"/>
            <a:ext cx="11074400" cy="558800"/>
          </a:xfrm>
          <a:prstGeom prst="roundRect">
            <a:avLst>
              <a:gd name="adj" fmla="val 8000"/>
            </a:avLst>
          </a:prstGeom>
          <a:solidFill>
            <a:srgbClr val="EF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11200" y="4318000"/>
            <a:ext cx="3238500" cy="311404"/>
          </a:xfrm>
          <a:prstGeom prst="rect">
            <a:avLst/>
          </a:prstGeom>
          <a:noFill/>
        </p:spPr>
        <p:txBody>
          <a:bodyPr wrap="none" lIns="0" rIns="0" tIns="0" bIns="0">
            <a:spAutoFit/>
          </a:bodyPr>
          <a:lstStyle/>
          <a:p>
            <a:pPr>
              <a:lnSpc>
                <a:spcPts val="1952"/>
              </a:lnSpc>
              <a:spcBef>
                <a:spcPts val="0"/>
              </a:spcBef>
              <a:spcAft>
                <a:spcPts val="0"/>
              </a:spcAft>
              <a:defRPr sz="1600" b="1">
                <a:solidFill>
                  <a:srgbClr val="087F8C"/>
                </a:solidFill>
                <a:latin typeface="DejaVu Sans"/>
              </a:defRPr>
            </a:pPr>
            <a:r>
              <a:t>η / c / d</a:t>
            </a:r>
          </a:p>
        </p:txBody>
      </p:sp>
      <p:sp>
        <p:nvSpPr>
          <p:cNvPr id="20" name="TextBox 19"/>
          <p:cNvSpPr txBox="1"/>
          <p:nvPr/>
        </p:nvSpPr>
        <p:spPr>
          <a:xfrm>
            <a:off x="3962400" y="4318000"/>
            <a:ext cx="7493000" cy="311404"/>
          </a:xfrm>
          <a:prstGeom prst="rect">
            <a:avLst/>
          </a:prstGeom>
          <a:noFill/>
        </p:spPr>
        <p:txBody>
          <a:bodyPr wrap="none" lIns="0" rIns="0" tIns="0" bIns="0">
            <a:spAutoFit/>
          </a:bodyPr>
          <a:lstStyle/>
          <a:p>
            <a:pPr>
              <a:lnSpc>
                <a:spcPts val="1952"/>
              </a:lnSpc>
              <a:spcBef>
                <a:spcPts val="0"/>
              </a:spcBef>
              <a:spcAft>
                <a:spcPts val="0"/>
              </a:spcAft>
              <a:defRPr sz="1600" b="0">
                <a:solidFill>
                  <a:srgbClr val="263A50"/>
                </a:solidFill>
                <a:latin typeface="DejaVu Sans"/>
              </a:defRPr>
            </a:pPr>
            <a:r>
              <a:t>Conditional coverage-risk bound / risk time / active time</a:t>
            </a:r>
          </a:p>
        </p:txBody>
      </p:sp>
      <p:sp>
        <p:nvSpPr>
          <p:cNvPr id="21" name="Rounded Rectangle 20"/>
          <p:cNvSpPr/>
          <p:nvPr/>
        </p:nvSpPr>
        <p:spPr>
          <a:xfrm>
            <a:off x="558800" y="4775200"/>
            <a:ext cx="11074400" cy="55880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11200" y="4927600"/>
            <a:ext cx="3238500" cy="311404"/>
          </a:xfrm>
          <a:prstGeom prst="rect">
            <a:avLst/>
          </a:prstGeom>
          <a:noFill/>
        </p:spPr>
        <p:txBody>
          <a:bodyPr wrap="none" lIns="0" rIns="0" tIns="0" bIns="0">
            <a:spAutoFit/>
          </a:bodyPr>
          <a:lstStyle/>
          <a:p>
            <a:pPr>
              <a:lnSpc>
                <a:spcPts val="1952"/>
              </a:lnSpc>
              <a:spcBef>
                <a:spcPts val="0"/>
              </a:spcBef>
              <a:spcAft>
                <a:spcPts val="0"/>
              </a:spcAft>
              <a:defRPr sz="1600" b="1">
                <a:solidFill>
                  <a:srgbClr val="087F8C"/>
                </a:solidFill>
                <a:latin typeface="DejaVu Sans"/>
              </a:defRPr>
            </a:pPr>
            <a:r>
              <a:t>S / x(S,a) / π(a|S)</a:t>
            </a:r>
          </a:p>
        </p:txBody>
      </p:sp>
      <p:sp>
        <p:nvSpPr>
          <p:cNvPr id="23" name="TextBox 22"/>
          <p:cNvSpPr txBox="1"/>
          <p:nvPr/>
        </p:nvSpPr>
        <p:spPr>
          <a:xfrm>
            <a:off x="3962400" y="4927600"/>
            <a:ext cx="7493000" cy="311404"/>
          </a:xfrm>
          <a:prstGeom prst="rect">
            <a:avLst/>
          </a:prstGeom>
          <a:noFill/>
        </p:spPr>
        <p:txBody>
          <a:bodyPr wrap="none" lIns="0" rIns="0" tIns="0" bIns="0">
            <a:spAutoFit/>
          </a:bodyPr>
          <a:lstStyle/>
          <a:p>
            <a:pPr>
              <a:lnSpc>
                <a:spcPts val="1952"/>
              </a:lnSpc>
              <a:spcBef>
                <a:spcPts val="0"/>
              </a:spcBef>
              <a:spcAft>
                <a:spcPts val="0"/>
              </a:spcAft>
              <a:defRPr sz="1600" b="0">
                <a:solidFill>
                  <a:srgbClr val="263A50"/>
                </a:solidFill>
                <a:latin typeface="DejaVu Sans"/>
              </a:defRPr>
            </a:pPr>
            <a:r>
              <a:t>Observable history state / occupation mass / action probability</a:t>
            </a:r>
          </a:p>
        </p:txBody>
      </p:sp>
      <p:sp>
        <p:nvSpPr>
          <p:cNvPr id="24" name="TextBox 23"/>
          <p:cNvSpPr txBox="1"/>
          <p:nvPr/>
        </p:nvSpPr>
        <p:spPr>
          <a:xfrm>
            <a:off x="698500" y="5600700"/>
            <a:ext cx="10795000" cy="497331"/>
          </a:xfrm>
          <a:prstGeom prst="rect">
            <a:avLst/>
          </a:prstGeom>
          <a:noFill/>
        </p:spPr>
        <p:txBody>
          <a:bodyPr wrap="none" lIns="0" rIns="0" tIns="0" bIns="0">
            <a:spAutoFit/>
          </a:bodyPr>
          <a:lstStyle/>
          <a:p>
            <a:pPr>
              <a:lnSpc>
                <a:spcPts val="1707"/>
              </a:lnSpc>
              <a:spcBef>
                <a:spcPts val="0"/>
              </a:spcBef>
              <a:spcAft>
                <a:spcPts val="0"/>
              </a:spcAft>
              <a:defRPr sz="1400" b="0">
                <a:solidFill>
                  <a:srgbClr val="617487"/>
                </a:solidFill>
                <a:latin typeface="DejaVu Sans"/>
              </a:defRPr>
            </a:pPr>
            <a:r>
              <a:t>Paper: overleaf_ntn_paper/direction.tex</a:t>
            </a:r>
          </a:p>
          <a:p>
            <a:pPr>
              <a:lnSpc>
                <a:spcPts val="1707"/>
              </a:lnSpc>
              <a:spcBef>
                <a:spcPts val="0"/>
              </a:spcBef>
              <a:spcAft>
                <a:spcPts val="0"/>
              </a:spcAft>
              <a:defRPr sz="1400" b="0">
                <a:solidFill>
                  <a:srgbClr val="617487"/>
                </a:solidFill>
                <a:latin typeface="DejaVu Sans"/>
              </a:defRPr>
            </a:pPr>
            <a:r>
              <a:t>Results: result/appendix_d_20260921_235448_775259/</a:t>
            </a:r>
          </a:p>
        </p:txBody>
      </p:sp>
      <p:sp>
        <p:nvSpPr>
          <p:cNvPr id="25" name="TextBox 24"/>
          <p:cNvSpPr txBox="1"/>
          <p:nvPr/>
        </p:nvSpPr>
        <p:spPr>
          <a:xfrm>
            <a:off x="558800" y="6553200"/>
            <a:ext cx="10604500" cy="215900"/>
          </a:xfrm>
          <a:prstGeom prst="rect">
            <a:avLst/>
          </a:prstGeom>
          <a:noFill/>
        </p:spPr>
        <p:txBody>
          <a:bodyPr wrap="none" lIns="0" tIns="0">
            <a:spAutoFit/>
          </a:bodyPr>
          <a:lstStyle/>
          <a:p>
            <a:pPr>
              <a:defRPr sz="900">
                <a:solidFill>
                  <a:srgbClr val="617487"/>
                </a:solidFill>
                <a:latin typeface="DejaVu Sans"/>
              </a:defRPr>
            </a:pPr>
            <a:r>
              <a:t>Local paper and pinned result archive; full paths and hashes in sources.json</a:t>
            </a:r>
          </a:p>
        </p:txBody>
      </p:sp>
      <p:sp>
        <p:nvSpPr>
          <p:cNvPr id="26" name="TextBox 25"/>
          <p:cNvSpPr txBox="1"/>
          <p:nvPr/>
        </p:nvSpPr>
        <p:spPr>
          <a:xfrm>
            <a:off x="11239500" y="6553200"/>
            <a:ext cx="825500" cy="215900"/>
          </a:xfrm>
          <a:prstGeom prst="rect">
            <a:avLst/>
          </a:prstGeom>
          <a:noFill/>
        </p:spPr>
        <p:txBody>
          <a:bodyPr wrap="none" lIns="0" tIns="0">
            <a:spAutoFit/>
          </a:bodyPr>
          <a:lstStyle/>
          <a:p>
            <a:pPr>
              <a:defRPr sz="900">
                <a:solidFill>
                  <a:srgbClr val="617487"/>
                </a:solidFill>
                <a:latin typeface="DejaVu Sans"/>
              </a:defRPr>
            </a:pPr>
            <a:r>
              <a:t>30 / 30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Appendix D — Service-Constrained Joint Sensing and Robust Transmission</dc:title>
  <dc:subject>English explanatory slides, with theory, diagrams, empirical results and speaker notes</dc:subject>
  <dc:creator>NTN / TN Coexistence Research</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